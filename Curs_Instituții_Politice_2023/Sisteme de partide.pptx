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istian Pirvulescu" initials="CP" lastIdx="1" clrIdx="0">
    <p:extLst>
      <p:ext uri="{19B8F6BF-5375-455C-9EA6-DF929625EA0E}">
        <p15:presenceInfo xmlns:p15="http://schemas.microsoft.com/office/powerpoint/2012/main" userId="10068a4cd3180f9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 mediu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8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048AA21-78A4-6772-59FC-F8D72257B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6B9ABD5-4059-D752-2AA7-AD48597AB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CAE2178-A839-6ECA-E83A-7204F128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C5E4-B8BE-4F5B-ACCC-0D1133622093}" type="datetimeFigureOut">
              <a:rPr lang="ro-RO" smtClean="0"/>
              <a:t>16.05.2022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BED377A-1F76-C7B0-1490-F402D4EC5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E2425E42-A936-03F8-5A82-8F04FD2C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D9F71-CE10-4FEF-A1B4-CA5D6BB565C5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6875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1BCC451-4092-5BD7-93C7-2AFBF4217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B105095-13DE-51F5-A80B-47A072F2D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44278CA-18C5-1BD6-5467-3510FF0FC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C5E4-B8BE-4F5B-ACCC-0D1133622093}" type="datetimeFigureOut">
              <a:rPr lang="ro-RO" smtClean="0"/>
              <a:t>16.05.2022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2E37E0B7-37A0-7879-CC6A-342B51F86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708F319D-E595-4AFC-74A1-D7C9406B0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D9F71-CE10-4FEF-A1B4-CA5D6BB565C5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61472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FE0A8F0-19E8-1916-9022-9E740FBD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CE2CE039-1735-E582-42CB-FF1C6F0BF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58A2FAE-35DF-8969-C14A-D50B36C04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C5E4-B8BE-4F5B-ACCC-0D1133622093}" type="datetimeFigureOut">
              <a:rPr lang="ro-RO" smtClean="0"/>
              <a:t>16.05.2022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D829260C-BCB7-9F90-8C42-5723E852F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73763F25-EB39-0AE5-8793-3F986D9E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D9F71-CE10-4FEF-A1B4-CA5D6BB565C5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18685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A4F522F-F647-6BC8-80BC-A936F357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79BF99E-5E0D-664D-A752-D62E11762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B6DE2061-AE4C-71E4-CA3D-EAE31F02C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CEA7600-AEF6-D8F4-94A3-F85CBDF2C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C5E4-B8BE-4F5B-ACCC-0D1133622093}" type="datetimeFigureOut">
              <a:rPr lang="ro-RO" smtClean="0"/>
              <a:t>16.05.2022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5F5C94F5-5CEE-C7D1-F1A7-644F515CA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287CF248-6D42-6C78-4BC9-729D8743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D9F71-CE10-4FEF-A1B4-CA5D6BB565C5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00021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216C6CE-7CCD-446D-01A5-A83CA0178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9C27710-ABDB-AD3E-DB5A-B184F1C3C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1105061C-A80F-7342-BEA4-0E0945477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48D624AF-A1AC-2946-DF7C-7E0CB20B9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0F97FC16-E232-097A-B536-3025920AB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609F59E0-E448-549B-523C-2BE4F4C3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C5E4-B8BE-4F5B-ACCC-0D1133622093}" type="datetimeFigureOut">
              <a:rPr lang="ro-RO" smtClean="0"/>
              <a:t>16.05.2022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5F373B0F-B17A-8B4E-211E-ABBC7064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AAA6512E-38D3-23C4-6A61-E035005D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D9F71-CE10-4FEF-A1B4-CA5D6BB565C5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53990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848D353-2FDE-A5E5-1AE5-D528091A5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DBFA804-5B9F-B8EB-EC83-578327AB9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C5E4-B8BE-4F5B-ACCC-0D1133622093}" type="datetimeFigureOut">
              <a:rPr lang="ro-RO" smtClean="0"/>
              <a:t>16.05.2022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1725BF1D-F66B-95B4-4136-26787F1C8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EE4B22E1-E17F-6B84-1691-6FF5F799B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D9F71-CE10-4FEF-A1B4-CA5D6BB565C5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019469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595E2294-EF0B-BFBE-4424-9D099F6DF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C5E4-B8BE-4F5B-ACCC-0D1133622093}" type="datetimeFigureOut">
              <a:rPr lang="ro-RO" smtClean="0"/>
              <a:t>16.05.2022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74A6718E-4B99-2337-33BA-7840BD10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838581B3-9866-574C-6F32-6AA519C9F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D9F71-CE10-4FEF-A1B4-CA5D6BB565C5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89322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B3B5C8A-034C-2EB6-F1EE-0412E88DA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47F8DBC-4DB7-09F7-8B9D-48DC4B1EE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199060BE-07D0-10CD-B42D-45BC3A7D4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4D692340-97C3-CAD5-745A-E9F8FCDE5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C5E4-B8BE-4F5B-ACCC-0D1133622093}" type="datetimeFigureOut">
              <a:rPr lang="ro-RO" smtClean="0"/>
              <a:t>16.05.2022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16ACFCCF-A47A-6680-8242-6E3BDF2D6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0DF27503-D27E-7EF2-5545-060BCA7CD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D9F71-CE10-4FEF-A1B4-CA5D6BB565C5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205016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6F577D3-D0CE-B35E-BEB5-DA219096C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05606C48-E0AA-D028-0C3F-015DFA050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9264F3BF-04FA-BB4F-64D3-C6C01B394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4D970E79-440D-EFE5-3519-2F14B3212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C5E4-B8BE-4F5B-ACCC-0D1133622093}" type="datetimeFigureOut">
              <a:rPr lang="ro-RO" smtClean="0"/>
              <a:t>16.05.2022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ACD7294-7923-762B-2B66-4E1553F6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EC168566-DFA2-7A40-A5AE-B5E746F6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D9F71-CE10-4FEF-A1B4-CA5D6BB565C5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87372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7C0A933-E17D-4CAC-2BDF-514A65AE7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5A17942B-E3BB-03A3-97CE-A36FA0FF9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52BAD2EC-B0DF-7229-2189-8909A1C23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C5E4-B8BE-4F5B-ACCC-0D1133622093}" type="datetimeFigureOut">
              <a:rPr lang="ro-RO" smtClean="0"/>
              <a:t>16.05.2022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4287D45-2B1A-C084-B0F7-E36F8D11B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E71A2C56-9400-EEA4-3935-B7ACC318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D9F71-CE10-4FEF-A1B4-CA5D6BB565C5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3986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47557573-66C5-D3F3-8CE9-4EE7980CA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A0EEFA3F-4281-257A-918F-FD84F3C35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F9FD4092-5DF7-847C-DAC5-E5057805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C5E4-B8BE-4F5B-ACCC-0D1133622093}" type="datetimeFigureOut">
              <a:rPr lang="ro-RO" smtClean="0"/>
              <a:t>16.05.2022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56279FB-883A-9375-902A-07D6875AB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48132EB-80E6-FDC5-19A5-091F0EDF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D9F71-CE10-4FEF-A1B4-CA5D6BB565C5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8636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D2B1C24C-1D3E-DBC3-91C0-5E82C8D0D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61BD39DA-CFA6-1C17-4A1E-A5A0C2B90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36C2D73-7781-235F-B584-9B24EFE54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7C5E4-B8BE-4F5B-ACCC-0D1133622093}" type="datetimeFigureOut">
              <a:rPr lang="ro-RO" smtClean="0"/>
              <a:t>16.05.2022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03F6E56-6B38-2412-EF16-29DF6C2E8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0FDB7F00-5729-2AF7-ED3E-3278C0562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D9F71-CE10-4FEF-A1B4-CA5D6BB565C5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77411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C372C55-CE7B-3579-8E2F-A8A0BA89DB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Sisteme de partide</a:t>
            </a:r>
          </a:p>
        </p:txBody>
      </p:sp>
    </p:spTree>
    <p:extLst>
      <p:ext uri="{BB962C8B-B14F-4D97-AF65-F5344CB8AC3E}">
        <p14:creationId xmlns:p14="http://schemas.microsoft.com/office/powerpoint/2010/main" val="1651420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ubstituent conținut 4">
            <a:extLst>
              <a:ext uri="{FF2B5EF4-FFF2-40B4-BE49-F238E27FC236}">
                <a16:creationId xmlns:a16="http://schemas.microsoft.com/office/drawing/2014/main" id="{6829C316-1149-5EA4-9212-9626E67C0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690688"/>
            <a:ext cx="8859915" cy="4656845"/>
          </a:xfrm>
        </p:spPr>
      </p:pic>
      <p:sp>
        <p:nvSpPr>
          <p:cNvPr id="7" name="CasetăText 6">
            <a:extLst>
              <a:ext uri="{FF2B5EF4-FFF2-40B4-BE49-F238E27FC236}">
                <a16:creationId xmlns:a16="http://schemas.microsoft.com/office/drawing/2014/main" id="{716A109A-5AE4-D532-29CF-723DD8652E2E}"/>
              </a:ext>
            </a:extLst>
          </p:cNvPr>
          <p:cNvSpPr txBox="1"/>
          <p:nvPr/>
        </p:nvSpPr>
        <p:spPr>
          <a:xfrm>
            <a:off x="484129" y="330544"/>
            <a:ext cx="112237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Forme de afiliere partidistă – Modelul Duverger</a:t>
            </a:r>
          </a:p>
        </p:txBody>
      </p:sp>
    </p:spTree>
    <p:extLst>
      <p:ext uri="{BB962C8B-B14F-4D97-AF65-F5344CB8AC3E}">
        <p14:creationId xmlns:p14="http://schemas.microsoft.com/office/powerpoint/2010/main" val="355147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89BC580-92E5-2DAA-4AAD-3C220BD4D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7195"/>
          </a:xfrm>
        </p:spPr>
        <p:txBody>
          <a:bodyPr>
            <a:normAutofit fontScale="90000"/>
          </a:bodyPr>
          <a:lstStyle/>
          <a:p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Forme de afiliere partidistă – Modelul Scarrow</a:t>
            </a:r>
          </a:p>
        </p:txBody>
      </p:sp>
      <p:pic>
        <p:nvPicPr>
          <p:cNvPr id="9" name="Substituent conținut 8">
            <a:extLst>
              <a:ext uri="{FF2B5EF4-FFF2-40B4-BE49-F238E27FC236}">
                <a16:creationId xmlns:a16="http://schemas.microsoft.com/office/drawing/2014/main" id="{8500910C-A495-87EC-5DE4-E743020676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480" y="1158240"/>
            <a:ext cx="10261600" cy="5557520"/>
          </a:xfrm>
        </p:spPr>
      </p:pic>
    </p:spTree>
    <p:extLst>
      <p:ext uri="{BB962C8B-B14F-4D97-AF65-F5344CB8AC3E}">
        <p14:creationId xmlns:p14="http://schemas.microsoft.com/office/powerpoint/2010/main" val="2698020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E28FB50-CC1B-CC01-A8F6-1F9E78FB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0498"/>
          </a:xfrm>
        </p:spPr>
        <p:txBody>
          <a:bodyPr>
            <a:normAutofit fontScale="90000"/>
          </a:bodyPr>
          <a:lstStyle/>
          <a:p>
            <a:br>
              <a:rPr lang="ro-RO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br>
              <a:rPr lang="ro-RO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o-RO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Modele de partide și caracteristicile lor</a:t>
            </a:r>
            <a:br>
              <a:rPr lang="ro-RO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o-RO" dirty="0"/>
          </a:p>
        </p:txBody>
      </p:sp>
      <p:graphicFrame>
        <p:nvGraphicFramePr>
          <p:cNvPr id="4" name="Substituent conținut 3">
            <a:extLst>
              <a:ext uri="{FF2B5EF4-FFF2-40B4-BE49-F238E27FC236}">
                <a16:creationId xmlns:a16="http://schemas.microsoft.com/office/drawing/2014/main" id="{CC0610D4-0D15-230B-78BD-8F444232B5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963198"/>
              </p:ext>
            </p:extLst>
          </p:nvPr>
        </p:nvGraphicFramePr>
        <p:xfrm>
          <a:off x="612559" y="1322773"/>
          <a:ext cx="11008311" cy="51872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0371">
                  <a:extLst>
                    <a:ext uri="{9D8B030D-6E8A-4147-A177-3AD203B41FA5}">
                      <a16:colId xmlns:a16="http://schemas.microsoft.com/office/drawing/2014/main" val="3361002812"/>
                    </a:ext>
                  </a:extLst>
                </a:gridCol>
                <a:gridCol w="2280989">
                  <a:extLst>
                    <a:ext uri="{9D8B030D-6E8A-4147-A177-3AD203B41FA5}">
                      <a16:colId xmlns:a16="http://schemas.microsoft.com/office/drawing/2014/main" val="4249889336"/>
                    </a:ext>
                  </a:extLst>
                </a:gridCol>
                <a:gridCol w="2098677">
                  <a:extLst>
                    <a:ext uri="{9D8B030D-6E8A-4147-A177-3AD203B41FA5}">
                      <a16:colId xmlns:a16="http://schemas.microsoft.com/office/drawing/2014/main" val="2133646984"/>
                    </a:ext>
                  </a:extLst>
                </a:gridCol>
                <a:gridCol w="2189137">
                  <a:extLst>
                    <a:ext uri="{9D8B030D-6E8A-4147-A177-3AD203B41FA5}">
                      <a16:colId xmlns:a16="http://schemas.microsoft.com/office/drawing/2014/main" val="3071437339"/>
                    </a:ext>
                  </a:extLst>
                </a:gridCol>
                <a:gridCol w="2189137">
                  <a:extLst>
                    <a:ext uri="{9D8B030D-6E8A-4147-A177-3AD203B41FA5}">
                      <a16:colId xmlns:a16="http://schemas.microsoft.com/office/drawing/2014/main" val="3403276038"/>
                    </a:ext>
                  </a:extLst>
                </a:gridCol>
              </a:tblGrid>
              <a:tr h="164188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     Tip de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          partide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 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 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 </a:t>
                      </a:r>
                    </a:p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Caracteristici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Partide de cadre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Partide de masă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Partide catch-all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Partide cartel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extLst>
                  <a:ext uri="{0D108BD9-81ED-4DB2-BD59-A6C34878D82A}">
                    <a16:rowId xmlns:a16="http://schemas.microsoft.com/office/drawing/2014/main" val="1830610242"/>
                  </a:ext>
                </a:extLst>
              </a:tr>
              <a:tr h="34788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Perioada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Secolul al XIX-lea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1880-1960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1945 -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1970 -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extLst>
                  <a:ext uri="{0D108BD9-81ED-4DB2-BD59-A6C34878D82A}">
                    <a16:rowId xmlns:a16="http://schemas.microsoft.com/office/drawing/2014/main" val="4028281515"/>
                  </a:ext>
                </a:extLst>
              </a:tr>
              <a:tr h="53291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Grad de includere socio-politică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Sufragiu cenzitar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Sufragiu universal progresiv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Sufragiu universal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Sufragiu universal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extLst>
                  <a:ext uri="{0D108BD9-81ED-4DB2-BD59-A6C34878D82A}">
                    <a16:rowId xmlns:a16="http://schemas.microsoft.com/office/drawing/2014/main" val="832035769"/>
                  </a:ext>
                </a:extLst>
              </a:tr>
              <a:tr h="71795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Nivel de redistribuție a resurselor publice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Foarte restrâns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Relativ restrâns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Puțin restrâns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Relativ difuz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extLst>
                  <a:ext uri="{0D108BD9-81ED-4DB2-BD59-A6C34878D82A}">
                    <a16:rowId xmlns:a16="http://schemas.microsoft.com/office/drawing/2014/main" val="3602737193"/>
                  </a:ext>
                </a:extLst>
              </a:tr>
              <a:tr h="53291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Obiective principale de politici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Distribuția privilegiilor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Transformare socială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Ameliorarea nivelului de trai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Politica ca profesie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extLst>
                  <a:ext uri="{0D108BD9-81ED-4DB2-BD59-A6C34878D82A}">
                    <a16:rowId xmlns:a16="http://schemas.microsoft.com/office/drawing/2014/main" val="2594757287"/>
                  </a:ext>
                </a:extLst>
              </a:tr>
              <a:tr h="53291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Baza competiției partidiste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Statutul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Reprezentarea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Eficacitatea politicilor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Managementul și eficacitatea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extLst>
                  <a:ext uri="{0D108BD9-81ED-4DB2-BD59-A6C34878D82A}">
                    <a16:rowId xmlns:a16="http://schemas.microsoft.com/office/drawing/2014/main" val="1014504437"/>
                  </a:ext>
                </a:extLst>
              </a:tr>
              <a:tr h="34788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Competiția politică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Controlată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Mobilizarea electorală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Competiție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Restrânsă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extLst>
                  <a:ext uri="{0D108BD9-81ED-4DB2-BD59-A6C34878D82A}">
                    <a16:rowId xmlns:a16="http://schemas.microsoft.com/office/drawing/2014/main" val="3942343712"/>
                  </a:ext>
                </a:extLst>
              </a:tr>
              <a:tr h="53291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Resursele financiare ale partidelor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Contracte personale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Contribuții ale membrilor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Contribuții diverse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o-RO" sz="1100" dirty="0">
                          <a:effectLst/>
                          <a:latin typeface="Arial Black" panose="020B0A04020102020204" pitchFamily="34" charset="0"/>
                        </a:rPr>
                        <a:t>Subsidii de stat</a:t>
                      </a:r>
                      <a:endParaRPr lang="ro-RO" sz="1100" b="1" dirty="0">
                        <a:solidFill>
                          <a:srgbClr val="000000"/>
                        </a:solidFill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</a:endParaRPr>
                    </a:p>
                  </a:txBody>
                  <a:tcPr marL="41774" marR="41774" marT="0" marB="0"/>
                </a:tc>
                <a:extLst>
                  <a:ext uri="{0D108BD9-81ED-4DB2-BD59-A6C34878D82A}">
                    <a16:rowId xmlns:a16="http://schemas.microsoft.com/office/drawing/2014/main" val="1621549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907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CAA77F2-9755-0095-DCFC-2BBE79E77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lang="ro-RO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ipartidismul</a:t>
            </a:r>
            <a:endParaRPr lang="ro-RO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301D3D6-3F66-7FD3-00B8-72F0EA7D2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o-RO" dirty="0"/>
              <a:t>Sistemul de partide în care un singur partid politic este relevant electoral și poate forma singur guvernul.</a:t>
            </a:r>
          </a:p>
          <a:p>
            <a:pPr marL="0" indent="0">
              <a:buNone/>
            </a:pPr>
            <a:r>
              <a:rPr lang="ro-RO" dirty="0"/>
              <a:t>Tipuri de unipartidism:</a:t>
            </a:r>
          </a:p>
          <a:p>
            <a:pPr lvl="1"/>
            <a:r>
              <a:rPr lang="ro-RO" dirty="0"/>
              <a:t>Unipartidism în sisteme politice competitive</a:t>
            </a:r>
          </a:p>
          <a:p>
            <a:pPr lvl="1"/>
            <a:endParaRPr lang="ro-RO" dirty="0"/>
          </a:p>
          <a:p>
            <a:pPr lvl="1"/>
            <a:r>
              <a:rPr lang="ro-RO" dirty="0"/>
              <a:t>Unipartidism în sisteme politice necompetitive</a:t>
            </a:r>
          </a:p>
          <a:p>
            <a:pPr lvl="2"/>
            <a:r>
              <a:rPr lang="ro-RO" dirty="0"/>
              <a:t>Unipartidism autoritar</a:t>
            </a:r>
          </a:p>
          <a:p>
            <a:pPr lvl="2"/>
            <a:r>
              <a:rPr lang="ro-RO" dirty="0"/>
              <a:t>Unipartidism totalitar</a:t>
            </a:r>
          </a:p>
          <a:p>
            <a:pPr lvl="3"/>
            <a:r>
              <a:rPr lang="ro-RO" dirty="0"/>
              <a:t>Cu partid unic – URSS, România</a:t>
            </a:r>
          </a:p>
          <a:p>
            <a:pPr lvl="3"/>
            <a:r>
              <a:rPr lang="ro-RO" dirty="0"/>
              <a:t>Cu partide remorcă – Polonia, Bulgaria</a:t>
            </a:r>
          </a:p>
          <a:p>
            <a:pPr lvl="2"/>
            <a:endParaRPr lang="ro-RO" dirty="0"/>
          </a:p>
          <a:p>
            <a:pPr lvl="2"/>
            <a:endParaRPr lang="ro-RO" dirty="0"/>
          </a:p>
          <a:p>
            <a:pPr lvl="1"/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32755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9D0D607-6316-FB74-981F-15EB0A32E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Bipartidismul</a:t>
            </a:r>
            <a:endParaRPr lang="ro-RO" b="1" dirty="0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7596AD9-7C99-1A18-8C3B-A43EAF9D6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 dirty="0"/>
              <a:t>În cadrul regimurilor democratice, bipartidismul este o variantă particulară a multipartidismului în care: </a:t>
            </a:r>
          </a:p>
          <a:p>
            <a:pPr lvl="1" algn="just"/>
            <a:r>
              <a:rPr lang="ro-RO" dirty="0"/>
              <a:t>Două partide obțin în mod regulat și alternativ </a:t>
            </a:r>
            <a:r>
              <a:rPr lang="ro-RO" i="1" dirty="0"/>
              <a:t>majorități absolute </a:t>
            </a:r>
            <a:r>
              <a:rPr lang="ro-RO" dirty="0"/>
              <a:t>în Parlament, ceea ce le permite să guverneze și să se succedă la formarea guvernului - </a:t>
            </a:r>
            <a:r>
              <a:rPr lang="ro-RO" b="1" i="1" dirty="0"/>
              <a:t>bipartidism perfect</a:t>
            </a:r>
            <a:r>
              <a:rPr lang="ro-RO" dirty="0"/>
              <a:t>;   </a:t>
            </a:r>
          </a:p>
          <a:p>
            <a:pPr lvl="1" algn="just"/>
            <a:r>
              <a:rPr lang="ro-RO" dirty="0"/>
              <a:t>Două partide obțin în mod regulat și alternativ </a:t>
            </a:r>
            <a:r>
              <a:rPr lang="ro-RO" i="1" dirty="0"/>
              <a:t>majoritatea relativă </a:t>
            </a:r>
            <a:r>
              <a:rPr lang="ro-RO" dirty="0"/>
              <a:t>a voturilor și majoritatea absolută a locurilor, ajungând astfel la guvernare – bipartidism imperfect</a:t>
            </a:r>
          </a:p>
          <a:p>
            <a:pPr lvl="1"/>
            <a:endParaRPr lang="ro-RO" dirty="0"/>
          </a:p>
          <a:p>
            <a:pPr lvl="1"/>
            <a:r>
              <a:rPr lang="ro-RO" dirty="0"/>
              <a:t>Sistemul de vot în alegerile legislative și prezidențiale (în special votul majoritar absolut) contribuie puternic la o bipolarizare a exprimării votului politic.     </a:t>
            </a:r>
          </a:p>
          <a:p>
            <a:pPr lvl="1" algn="just"/>
            <a:r>
              <a:rPr lang="ro-RO" dirty="0"/>
              <a:t>„Votul util” imune majorității alegătorilor să acorde votul candidatului susceptibil de a le reprezenta cel mai bine punctul de vedere, dar și considerat că ar avea cele mai mari șanse de a câștiga în fața celorlalți candidați din cursă.</a:t>
            </a:r>
          </a:p>
        </p:txBody>
      </p:sp>
    </p:spTree>
    <p:extLst>
      <p:ext uri="{BB962C8B-B14F-4D97-AF65-F5344CB8AC3E}">
        <p14:creationId xmlns:p14="http://schemas.microsoft.com/office/powerpoint/2010/main" val="2293312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C24C5B5-B144-C248-7A41-3E2E225A3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Tipuri de bipartidism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BBF7AD0-9A66-E22A-DBEB-2ACE7694D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o-RO" b="1" dirty="0"/>
              <a:t>Bipartidism perfect absolut </a:t>
            </a:r>
            <a:r>
              <a:rPr lang="ro-RO" dirty="0"/>
              <a:t>– două partide politice obțin cel puțin 90% din voturi și peste 95% din mandate – cazul american</a:t>
            </a:r>
          </a:p>
          <a:p>
            <a:pPr algn="just"/>
            <a:r>
              <a:rPr lang="ro-RO" b="1" dirty="0"/>
              <a:t>Bipartidism perfect relativ </a:t>
            </a:r>
            <a:r>
              <a:rPr lang="ro-RO" dirty="0"/>
              <a:t>– două partide politice obțin cel puțin 70% din voturi și peste 80% din mandate, unul formând guvernul – cazul britanic</a:t>
            </a:r>
          </a:p>
          <a:p>
            <a:pPr algn="just"/>
            <a:r>
              <a:rPr lang="ro-RO" b="1" dirty="0"/>
              <a:t>Bipartidism imperfect bipolarizat –</a:t>
            </a:r>
            <a:r>
              <a:rPr lang="ro-RO" dirty="0"/>
              <a:t> două partide obțin împreună cel puțin 70% din voturi și 80% din mandate, guvern fiind format în jurul partidului pivot, favorizat de sistemul electoral absolut – cazul francez </a:t>
            </a:r>
          </a:p>
          <a:p>
            <a:pPr algn="just"/>
            <a:r>
              <a:rPr lang="ro-RO" b="1" dirty="0"/>
              <a:t>Bipartidismul imperfect cu două partide și jumătate</a:t>
            </a:r>
            <a:r>
              <a:rPr lang="ro-RO" dirty="0"/>
              <a:t> – două partide obțin minium 70% din voturi și 80% din mandate, dar sistemul electoral proporțional împiedică formarea majorității absolute, guvernul formându-se prin coalizarea primului partid cu cel de-al treilea, mult mai mic, dar esențial în vederea obținerii majorității – cazul german</a:t>
            </a:r>
          </a:p>
          <a:p>
            <a:pPr algn="just"/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081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57C0D47-672E-A26A-BEBA-33FC69FD2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Multipartidism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A9B9BCD-91CE-FF21-6C3E-311D20953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ro-RO" dirty="0"/>
              <a:t>Un sistem de partide în mai mult de două partide relevante electoral participe la alegeri și la guvernare. </a:t>
            </a:r>
          </a:p>
          <a:p>
            <a:pPr lvl="1" algn="just"/>
            <a:r>
              <a:rPr lang="ro-RO" b="1" i="1" dirty="0"/>
              <a:t>Multipartidism moderat </a:t>
            </a:r>
            <a:r>
              <a:rPr lang="ro-RO" dirty="0"/>
              <a:t>- fragmentare partizană medie, polarizare ideologică medie, competiție politică orientată spre centru – </a:t>
            </a:r>
            <a:r>
              <a:rPr lang="ro-RO"/>
              <a:t>cazul portughez;</a:t>
            </a:r>
            <a:endParaRPr lang="ro-RO" dirty="0"/>
          </a:p>
          <a:p>
            <a:pPr lvl="1" algn="just"/>
            <a:r>
              <a:rPr lang="ro-RO" b="1" i="1" dirty="0"/>
              <a:t>Multipartidism polarizat </a:t>
            </a:r>
            <a:r>
              <a:rPr lang="ro-RO" dirty="0"/>
              <a:t>- fragmentare partizană puternică, polarizare ideologică puternică, competiție politică centrifugă și influența electorală și politică a unor partide extremiste – cazul olandez;</a:t>
            </a:r>
          </a:p>
          <a:p>
            <a:pPr lvl="1" algn="just"/>
            <a:r>
              <a:rPr lang="ro-RO" b="1" i="1" dirty="0"/>
              <a:t>Multipartidism segmentat </a:t>
            </a:r>
            <a:r>
              <a:rPr lang="ro-RO" dirty="0"/>
              <a:t>- puternică fragmentare partizană, cel puțin două subculturi subzistă în cadrul societății -  cazul belgian;</a:t>
            </a:r>
          </a:p>
          <a:p>
            <a:pPr lvl="1" algn="just"/>
            <a:r>
              <a:rPr lang="ro-RO" b="1" i="1" dirty="0"/>
              <a:t>Multipartidism cu partid dominant </a:t>
            </a:r>
            <a:r>
              <a:rPr lang="ro-RO" i="1" dirty="0"/>
              <a:t>-</a:t>
            </a:r>
            <a:r>
              <a:rPr lang="ro-RO" dirty="0"/>
              <a:t> principalul partid politic se distanțează la cel puțin 5% de următorul clasat, și obține între 25% și 35% din voturi și cel puțin 30% din mandate – cazul italian în prima republică;</a:t>
            </a:r>
          </a:p>
          <a:p>
            <a:pPr lvl="1" algn="just"/>
            <a:r>
              <a:rPr lang="ro-RO" b="1" i="1" dirty="0"/>
              <a:t>Multipartidism cu partid predominant </a:t>
            </a:r>
            <a:r>
              <a:rPr lang="ro-RO" dirty="0"/>
              <a:t>- principalul partid politic se distanțează la cel puțin 15% de următorul clasat, și obține între 35% și 45% din voturi și cel puțin 40% din mandate, dar niciodată 50% - cazul romanesc în 2000 și 2016.</a:t>
            </a:r>
          </a:p>
          <a:p>
            <a:pPr lvl="1"/>
            <a:endParaRPr lang="ro-RO" dirty="0"/>
          </a:p>
          <a:p>
            <a:pPr lvl="1"/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38424337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639</Words>
  <Application>Microsoft Office PowerPoint</Application>
  <PresentationFormat>Ecran lat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Times New Roman</vt:lpstr>
      <vt:lpstr>Temă Office</vt:lpstr>
      <vt:lpstr>Sisteme de partide</vt:lpstr>
      <vt:lpstr>Prezentare PowerPoint</vt:lpstr>
      <vt:lpstr>Forme de afiliere partidistă – Modelul Scarrow</vt:lpstr>
      <vt:lpstr>  Modele de partide și caracteristicile lor </vt:lpstr>
      <vt:lpstr>Unipartidismul</vt:lpstr>
      <vt:lpstr>Bipartidismul</vt:lpstr>
      <vt:lpstr>Tipuri de bipartidism</vt:lpstr>
      <vt:lpstr>Multipartidism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Sisteme de partide</dc:title>
  <dc:creator>Cristian Pirvulescu</dc:creator>
  <cp:lastModifiedBy>Cristian Pirvulescu</cp:lastModifiedBy>
  <cp:revision>27</cp:revision>
  <dcterms:created xsi:type="dcterms:W3CDTF">2022-05-16T10:20:10Z</dcterms:created>
  <dcterms:modified xsi:type="dcterms:W3CDTF">2022-05-16T14:00:39Z</dcterms:modified>
</cp:coreProperties>
</file>