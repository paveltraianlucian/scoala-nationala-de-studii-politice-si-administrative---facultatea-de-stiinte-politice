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58" r:id="rId5"/>
    <p:sldId id="260" r:id="rId6"/>
    <p:sldId id="275" r:id="rId7"/>
    <p:sldId id="276" r:id="rId8"/>
    <p:sldId id="277" r:id="rId9"/>
    <p:sldId id="263" r:id="rId10"/>
    <p:sldId id="259" r:id="rId11"/>
    <p:sldId id="278" r:id="rId12"/>
    <p:sldId id="279" r:id="rId13"/>
    <p:sldId id="267" r:id="rId14"/>
    <p:sldId id="281" r:id="rId15"/>
    <p:sldId id="282" r:id="rId16"/>
    <p:sldId id="283" r:id="rId17"/>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5E4501D-DE60-408B-8A48-75B5BFB65745}"/>
              </a:ext>
            </a:extLst>
          </p:cNvPr>
          <p:cNvSpPr>
            <a:spLocks noGrp="1"/>
          </p:cNvSpPr>
          <p:nvPr>
            <p:ph type="ctrTitle"/>
          </p:nvPr>
        </p:nvSpPr>
        <p:spPr>
          <a:xfrm>
            <a:off x="1524000" y="1122363"/>
            <a:ext cx="9144000" cy="2387600"/>
          </a:xfrm>
        </p:spPr>
        <p:txBody>
          <a:bodyPr anchor="b"/>
          <a:lstStyle>
            <a:lvl1pPr algn="ctr">
              <a:defRPr sz="6000"/>
            </a:lvl1pPr>
          </a:lstStyle>
          <a:p>
            <a:r>
              <a:rPr lang="ro-RO"/>
              <a:t>Faceți clic pentru a edita stilul de titlu coordonator</a:t>
            </a:r>
          </a:p>
        </p:txBody>
      </p:sp>
      <p:sp>
        <p:nvSpPr>
          <p:cNvPr id="3" name="Subtitlu 2">
            <a:extLst>
              <a:ext uri="{FF2B5EF4-FFF2-40B4-BE49-F238E27FC236}">
                <a16:creationId xmlns:a16="http://schemas.microsoft.com/office/drawing/2014/main" id="{908EEA72-CA46-463A-AB2B-D2C23FE914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Faceți clic pentru a edita stilul de subtitlu coordonator</a:t>
            </a:r>
          </a:p>
        </p:txBody>
      </p:sp>
      <p:sp>
        <p:nvSpPr>
          <p:cNvPr id="4" name="Substituent dată 3">
            <a:extLst>
              <a:ext uri="{FF2B5EF4-FFF2-40B4-BE49-F238E27FC236}">
                <a16:creationId xmlns:a16="http://schemas.microsoft.com/office/drawing/2014/main" id="{12F754D4-C148-4551-B1EF-F689F9FCE0D3}"/>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5" name="Substituent subsol 4">
            <a:extLst>
              <a:ext uri="{FF2B5EF4-FFF2-40B4-BE49-F238E27FC236}">
                <a16:creationId xmlns:a16="http://schemas.microsoft.com/office/drawing/2014/main" id="{22B2154D-07E7-48D1-9D33-FEE4868A1EBD}"/>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39D7149A-A923-4BB4-8768-7E00450C8EE5}"/>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416497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68E8E9D-DE66-4EE5-B2C3-625B814678A6}"/>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CD678382-2371-433D-A257-4E612C2AED0C}"/>
              </a:ext>
            </a:extLst>
          </p:cNvPr>
          <p:cNvSpPr>
            <a:spLocks noGrp="1"/>
          </p:cNvSpPr>
          <p:nvPr>
            <p:ph idx="1"/>
          </p:nvPr>
        </p:nvSpPr>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7E51C516-051E-42DA-AEA7-A415BCA58484}"/>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5" name="Substituent subsol 4">
            <a:extLst>
              <a:ext uri="{FF2B5EF4-FFF2-40B4-BE49-F238E27FC236}">
                <a16:creationId xmlns:a16="http://schemas.microsoft.com/office/drawing/2014/main" id="{4A3E2354-08AF-41F7-8BB0-35DD13D17021}"/>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566984B7-B8A3-4164-8E53-082B95739C00}"/>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3044303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3BEB2E2-D14E-45D0-BEE1-7C5C457620A6}"/>
              </a:ext>
            </a:extLst>
          </p:cNvPr>
          <p:cNvSpPr>
            <a:spLocks noGrp="1"/>
          </p:cNvSpPr>
          <p:nvPr>
            <p:ph type="title"/>
          </p:nvPr>
        </p:nvSpPr>
        <p:spPr>
          <a:xfrm>
            <a:off x="831850" y="1709738"/>
            <a:ext cx="10515600" cy="2852737"/>
          </a:xfrm>
        </p:spPr>
        <p:txBody>
          <a:bodyPr anchor="b"/>
          <a:lstStyle>
            <a:lvl1pPr>
              <a:defRPr sz="6000"/>
            </a:lvl1pPr>
          </a:lstStyle>
          <a:p>
            <a:r>
              <a:rPr lang="ro-RO"/>
              <a:t>Faceți clic pentru a edita stilul de titlu coordonator</a:t>
            </a:r>
          </a:p>
        </p:txBody>
      </p:sp>
      <p:sp>
        <p:nvSpPr>
          <p:cNvPr id="3" name="Substituent text 2">
            <a:extLst>
              <a:ext uri="{FF2B5EF4-FFF2-40B4-BE49-F238E27FC236}">
                <a16:creationId xmlns:a16="http://schemas.microsoft.com/office/drawing/2014/main" id="{15653832-48BB-4F24-82B2-8439909369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o-RO"/>
              <a:t>Faceţi clic pentru a edita Master stiluri text</a:t>
            </a:r>
          </a:p>
        </p:txBody>
      </p:sp>
      <p:sp>
        <p:nvSpPr>
          <p:cNvPr id="4" name="Substituent dată 3">
            <a:extLst>
              <a:ext uri="{FF2B5EF4-FFF2-40B4-BE49-F238E27FC236}">
                <a16:creationId xmlns:a16="http://schemas.microsoft.com/office/drawing/2014/main" id="{A8179E24-E69E-4188-A1DF-4854C80F56E3}"/>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5" name="Substituent subsol 4">
            <a:extLst>
              <a:ext uri="{FF2B5EF4-FFF2-40B4-BE49-F238E27FC236}">
                <a16:creationId xmlns:a16="http://schemas.microsoft.com/office/drawing/2014/main" id="{BB627E92-DC11-4CCD-BEFF-40F90A3C52F2}"/>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8C44EC55-5462-46A8-B11B-F4FAED802E1C}"/>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2298465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5030F2BD-61F5-45B9-A993-EA01AEDE78CF}"/>
              </a:ext>
            </a:extLst>
          </p:cNvPr>
          <p:cNvSpPr>
            <a:spLocks noGrp="1"/>
          </p:cNvSpPr>
          <p:nvPr>
            <p:ph type="title"/>
          </p:nvPr>
        </p:nvSpPr>
        <p:spPr/>
        <p:txBody>
          <a:body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E3F57C78-FD60-404A-BDBC-5E51A18CE94C}"/>
              </a:ext>
            </a:extLst>
          </p:cNvPr>
          <p:cNvSpPr>
            <a:spLocks noGrp="1"/>
          </p:cNvSpPr>
          <p:nvPr>
            <p:ph sz="half" idx="1"/>
          </p:nvPr>
        </p:nvSpPr>
        <p:spPr>
          <a:xfrm>
            <a:off x="838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conținut 3">
            <a:extLst>
              <a:ext uri="{FF2B5EF4-FFF2-40B4-BE49-F238E27FC236}">
                <a16:creationId xmlns:a16="http://schemas.microsoft.com/office/drawing/2014/main" id="{3CDBA8BB-8B71-4627-ADBD-6BABE25C4C09}"/>
              </a:ext>
            </a:extLst>
          </p:cNvPr>
          <p:cNvSpPr>
            <a:spLocks noGrp="1"/>
          </p:cNvSpPr>
          <p:nvPr>
            <p:ph sz="half" idx="2"/>
          </p:nvPr>
        </p:nvSpPr>
        <p:spPr>
          <a:xfrm>
            <a:off x="6172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dată 4">
            <a:extLst>
              <a:ext uri="{FF2B5EF4-FFF2-40B4-BE49-F238E27FC236}">
                <a16:creationId xmlns:a16="http://schemas.microsoft.com/office/drawing/2014/main" id="{C84CA03A-3957-4F4C-80B8-011EDD64FF47}"/>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6" name="Substituent subsol 5">
            <a:extLst>
              <a:ext uri="{FF2B5EF4-FFF2-40B4-BE49-F238E27FC236}">
                <a16:creationId xmlns:a16="http://schemas.microsoft.com/office/drawing/2014/main" id="{AA089244-BB9C-47FC-A751-3698D1F24E07}"/>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320D87A8-140E-4183-9C94-E56156785B70}"/>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1343946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D77F1B8A-AE77-4101-9664-DFD05E076E64}"/>
              </a:ext>
            </a:extLst>
          </p:cNvPr>
          <p:cNvSpPr>
            <a:spLocks noGrp="1"/>
          </p:cNvSpPr>
          <p:nvPr>
            <p:ph type="title"/>
          </p:nvPr>
        </p:nvSpPr>
        <p:spPr>
          <a:xfrm>
            <a:off x="839788" y="365125"/>
            <a:ext cx="10515600" cy="1325563"/>
          </a:xfrm>
        </p:spPr>
        <p:txBody>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8357B2DE-AADA-49D3-8B68-075F5CFFFE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4" name="Substituent conținut 3">
            <a:extLst>
              <a:ext uri="{FF2B5EF4-FFF2-40B4-BE49-F238E27FC236}">
                <a16:creationId xmlns:a16="http://schemas.microsoft.com/office/drawing/2014/main" id="{6F7282AE-060C-4861-BB83-5FA2981EFE6A}"/>
              </a:ext>
            </a:extLst>
          </p:cNvPr>
          <p:cNvSpPr>
            <a:spLocks noGrp="1"/>
          </p:cNvSpPr>
          <p:nvPr>
            <p:ph sz="half" idx="2"/>
          </p:nvPr>
        </p:nvSpPr>
        <p:spPr>
          <a:xfrm>
            <a:off x="839788" y="2505075"/>
            <a:ext cx="5157787"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5" name="Substituent text 4">
            <a:extLst>
              <a:ext uri="{FF2B5EF4-FFF2-40B4-BE49-F238E27FC236}">
                <a16:creationId xmlns:a16="http://schemas.microsoft.com/office/drawing/2014/main" id="{88EB7BEE-B4E7-4BD3-94AF-8FA3E69711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6" name="Substituent conținut 5">
            <a:extLst>
              <a:ext uri="{FF2B5EF4-FFF2-40B4-BE49-F238E27FC236}">
                <a16:creationId xmlns:a16="http://schemas.microsoft.com/office/drawing/2014/main" id="{16BE005E-868A-430F-8C92-87BB9C91EF3B}"/>
              </a:ext>
            </a:extLst>
          </p:cNvPr>
          <p:cNvSpPr>
            <a:spLocks noGrp="1"/>
          </p:cNvSpPr>
          <p:nvPr>
            <p:ph sz="quarter" idx="4"/>
          </p:nvPr>
        </p:nvSpPr>
        <p:spPr>
          <a:xfrm>
            <a:off x="6172200" y="2505075"/>
            <a:ext cx="5183188"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7" name="Substituent dată 6">
            <a:extLst>
              <a:ext uri="{FF2B5EF4-FFF2-40B4-BE49-F238E27FC236}">
                <a16:creationId xmlns:a16="http://schemas.microsoft.com/office/drawing/2014/main" id="{768C3280-E5B0-4831-B3E0-C314495D1051}"/>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8" name="Substituent subsol 7">
            <a:extLst>
              <a:ext uri="{FF2B5EF4-FFF2-40B4-BE49-F238E27FC236}">
                <a16:creationId xmlns:a16="http://schemas.microsoft.com/office/drawing/2014/main" id="{B1793913-6843-4340-B66E-D24AFB378312}"/>
              </a:ext>
            </a:extLst>
          </p:cNvPr>
          <p:cNvSpPr>
            <a:spLocks noGrp="1"/>
          </p:cNvSpPr>
          <p:nvPr>
            <p:ph type="ftr" sz="quarter" idx="11"/>
          </p:nvPr>
        </p:nvSpPr>
        <p:spPr/>
        <p:txBody>
          <a:bodyPr/>
          <a:lstStyle/>
          <a:p>
            <a:endParaRPr lang="ro-RO"/>
          </a:p>
        </p:txBody>
      </p:sp>
      <p:sp>
        <p:nvSpPr>
          <p:cNvPr id="9" name="Substituent număr diapozitiv 8">
            <a:extLst>
              <a:ext uri="{FF2B5EF4-FFF2-40B4-BE49-F238E27FC236}">
                <a16:creationId xmlns:a16="http://schemas.microsoft.com/office/drawing/2014/main" id="{A3A56C11-268A-4ED3-B3E5-5FFB1F8E331C}"/>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3397089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0541667-BB35-4D23-85BB-C59CC17845B0}"/>
              </a:ext>
            </a:extLst>
          </p:cNvPr>
          <p:cNvSpPr>
            <a:spLocks noGrp="1"/>
          </p:cNvSpPr>
          <p:nvPr>
            <p:ph type="title"/>
          </p:nvPr>
        </p:nvSpPr>
        <p:spPr/>
        <p:txBody>
          <a:bodyPr/>
          <a:lstStyle/>
          <a:p>
            <a:r>
              <a:rPr lang="ro-RO"/>
              <a:t>Faceți clic pentru a edita stilul de titlu coordonator</a:t>
            </a:r>
          </a:p>
        </p:txBody>
      </p:sp>
      <p:sp>
        <p:nvSpPr>
          <p:cNvPr id="3" name="Substituent dată 2">
            <a:extLst>
              <a:ext uri="{FF2B5EF4-FFF2-40B4-BE49-F238E27FC236}">
                <a16:creationId xmlns:a16="http://schemas.microsoft.com/office/drawing/2014/main" id="{4B2CA465-CDD8-4FA4-BC45-96052E94D396}"/>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4" name="Substituent subsol 3">
            <a:extLst>
              <a:ext uri="{FF2B5EF4-FFF2-40B4-BE49-F238E27FC236}">
                <a16:creationId xmlns:a16="http://schemas.microsoft.com/office/drawing/2014/main" id="{CCF48BB2-46D6-4EE8-A626-B5F6F4E0C59E}"/>
              </a:ext>
            </a:extLst>
          </p:cNvPr>
          <p:cNvSpPr>
            <a:spLocks noGrp="1"/>
          </p:cNvSpPr>
          <p:nvPr>
            <p:ph type="ftr" sz="quarter" idx="11"/>
          </p:nvPr>
        </p:nvSpPr>
        <p:spPr/>
        <p:txBody>
          <a:bodyPr/>
          <a:lstStyle/>
          <a:p>
            <a:endParaRPr lang="ro-RO"/>
          </a:p>
        </p:txBody>
      </p:sp>
      <p:sp>
        <p:nvSpPr>
          <p:cNvPr id="5" name="Substituent număr diapozitiv 4">
            <a:extLst>
              <a:ext uri="{FF2B5EF4-FFF2-40B4-BE49-F238E27FC236}">
                <a16:creationId xmlns:a16="http://schemas.microsoft.com/office/drawing/2014/main" id="{6451B3C1-EDF8-4B5D-8C45-3C67DFA99269}"/>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1001023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a:extLst>
              <a:ext uri="{FF2B5EF4-FFF2-40B4-BE49-F238E27FC236}">
                <a16:creationId xmlns:a16="http://schemas.microsoft.com/office/drawing/2014/main" id="{757BFEB0-02B5-4229-ACC7-5E07B87CAD6C}"/>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3" name="Substituent subsol 2">
            <a:extLst>
              <a:ext uri="{FF2B5EF4-FFF2-40B4-BE49-F238E27FC236}">
                <a16:creationId xmlns:a16="http://schemas.microsoft.com/office/drawing/2014/main" id="{E901AE01-B631-41BE-B1E9-B7C1D0346AD6}"/>
              </a:ext>
            </a:extLst>
          </p:cNvPr>
          <p:cNvSpPr>
            <a:spLocks noGrp="1"/>
          </p:cNvSpPr>
          <p:nvPr>
            <p:ph type="ftr" sz="quarter" idx="11"/>
          </p:nvPr>
        </p:nvSpPr>
        <p:spPr/>
        <p:txBody>
          <a:bodyPr/>
          <a:lstStyle/>
          <a:p>
            <a:endParaRPr lang="ro-RO"/>
          </a:p>
        </p:txBody>
      </p:sp>
      <p:sp>
        <p:nvSpPr>
          <p:cNvPr id="4" name="Substituent număr diapozitiv 3">
            <a:extLst>
              <a:ext uri="{FF2B5EF4-FFF2-40B4-BE49-F238E27FC236}">
                <a16:creationId xmlns:a16="http://schemas.microsoft.com/office/drawing/2014/main" id="{B238B437-1B2E-428A-8EDD-FAD051C868EA}"/>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1374861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F6C0524F-86BE-4CDB-A443-57E25B1DC53D}"/>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conținut 2">
            <a:extLst>
              <a:ext uri="{FF2B5EF4-FFF2-40B4-BE49-F238E27FC236}">
                <a16:creationId xmlns:a16="http://schemas.microsoft.com/office/drawing/2014/main" id="{21B90740-8A90-4A77-A804-05671D3AFD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text 3">
            <a:extLst>
              <a:ext uri="{FF2B5EF4-FFF2-40B4-BE49-F238E27FC236}">
                <a16:creationId xmlns:a16="http://schemas.microsoft.com/office/drawing/2014/main" id="{796DEDF0-E225-4439-96DE-747B58408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A6550E71-8D9E-4BB9-A67F-15C6DB4ABA2F}"/>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6" name="Substituent subsol 5">
            <a:extLst>
              <a:ext uri="{FF2B5EF4-FFF2-40B4-BE49-F238E27FC236}">
                <a16:creationId xmlns:a16="http://schemas.microsoft.com/office/drawing/2014/main" id="{08F3C5B0-209A-46CC-9465-AC9320AEEA1C}"/>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995292C8-EBD0-4583-9161-49E87BEA664D}"/>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1188750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8E20574-89C1-474E-B053-39FAD1DC208B}"/>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p>
        </p:txBody>
      </p:sp>
      <p:sp>
        <p:nvSpPr>
          <p:cNvPr id="3" name="Substituent imagine 2">
            <a:extLst>
              <a:ext uri="{FF2B5EF4-FFF2-40B4-BE49-F238E27FC236}">
                <a16:creationId xmlns:a16="http://schemas.microsoft.com/office/drawing/2014/main" id="{CDD83ADB-8BDD-4F76-8F72-CCB5CEC2A8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Substituent text 3">
            <a:extLst>
              <a:ext uri="{FF2B5EF4-FFF2-40B4-BE49-F238E27FC236}">
                <a16:creationId xmlns:a16="http://schemas.microsoft.com/office/drawing/2014/main" id="{7554F55F-3FFB-45C7-9401-0E557339A0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3A961887-249D-4D8C-80C8-C9BE25AA1D2A}"/>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6" name="Substituent subsol 5">
            <a:extLst>
              <a:ext uri="{FF2B5EF4-FFF2-40B4-BE49-F238E27FC236}">
                <a16:creationId xmlns:a16="http://schemas.microsoft.com/office/drawing/2014/main" id="{A15B9A43-52FE-4022-90E9-CA3C34B67C5C}"/>
              </a:ext>
            </a:extLst>
          </p:cNvPr>
          <p:cNvSpPr>
            <a:spLocks noGrp="1"/>
          </p:cNvSpPr>
          <p:nvPr>
            <p:ph type="ftr" sz="quarter" idx="11"/>
          </p:nvPr>
        </p:nvSpPr>
        <p:spPr/>
        <p:txBody>
          <a:bodyPr/>
          <a:lstStyle/>
          <a:p>
            <a:endParaRPr lang="ro-RO"/>
          </a:p>
        </p:txBody>
      </p:sp>
      <p:sp>
        <p:nvSpPr>
          <p:cNvPr id="7" name="Substituent număr diapozitiv 6">
            <a:extLst>
              <a:ext uri="{FF2B5EF4-FFF2-40B4-BE49-F238E27FC236}">
                <a16:creationId xmlns:a16="http://schemas.microsoft.com/office/drawing/2014/main" id="{A572152A-BFA1-43DD-9159-3D4224465C60}"/>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3972323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D5C1352-757E-4877-94C6-D073922B2A12}"/>
              </a:ext>
            </a:extLst>
          </p:cNvPr>
          <p:cNvSpPr>
            <a:spLocks noGrp="1"/>
          </p:cNvSpPr>
          <p:nvPr>
            <p:ph type="title"/>
          </p:nvPr>
        </p:nvSpPr>
        <p:spPr/>
        <p:txBody>
          <a:bodyPr/>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3E951623-818E-4D4E-9A73-5D2A3BD5FD4E}"/>
              </a:ext>
            </a:extLst>
          </p:cNvPr>
          <p:cNvSpPr>
            <a:spLocks noGrp="1"/>
          </p:cNvSpPr>
          <p:nvPr>
            <p:ph type="body" orient="vert" idx="1"/>
          </p:nvPr>
        </p:nvSpPr>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B20D2FBE-F284-4A6F-B34A-CF257F9FDF17}"/>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5" name="Substituent subsol 4">
            <a:extLst>
              <a:ext uri="{FF2B5EF4-FFF2-40B4-BE49-F238E27FC236}">
                <a16:creationId xmlns:a16="http://schemas.microsoft.com/office/drawing/2014/main" id="{623BC2A6-AB47-45E2-AAC7-DB59E57EDB5C}"/>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CF463724-27FB-4AE5-9425-EFB149635418}"/>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1632015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a:extLst>
              <a:ext uri="{FF2B5EF4-FFF2-40B4-BE49-F238E27FC236}">
                <a16:creationId xmlns:a16="http://schemas.microsoft.com/office/drawing/2014/main" id="{DDA343A1-B4D7-4A50-B348-09E1A3E1FC90}"/>
              </a:ext>
            </a:extLst>
          </p:cNvPr>
          <p:cNvSpPr>
            <a:spLocks noGrp="1"/>
          </p:cNvSpPr>
          <p:nvPr>
            <p:ph type="title" orient="vert"/>
          </p:nvPr>
        </p:nvSpPr>
        <p:spPr>
          <a:xfrm>
            <a:off x="8724900" y="365125"/>
            <a:ext cx="2628900" cy="5811838"/>
          </a:xfrm>
        </p:spPr>
        <p:txBody>
          <a:bodyPr vert="eaVert"/>
          <a:lstStyle/>
          <a:p>
            <a:r>
              <a:rPr lang="ro-RO"/>
              <a:t>Faceți clic pentru a edita stilul de titlu coordonator</a:t>
            </a:r>
          </a:p>
        </p:txBody>
      </p:sp>
      <p:sp>
        <p:nvSpPr>
          <p:cNvPr id="3" name="Substituent text vertical 2">
            <a:extLst>
              <a:ext uri="{FF2B5EF4-FFF2-40B4-BE49-F238E27FC236}">
                <a16:creationId xmlns:a16="http://schemas.microsoft.com/office/drawing/2014/main" id="{1456A3FE-5683-4508-97EE-3D30B92CFB16}"/>
              </a:ext>
            </a:extLst>
          </p:cNvPr>
          <p:cNvSpPr>
            <a:spLocks noGrp="1"/>
          </p:cNvSpPr>
          <p:nvPr>
            <p:ph type="body" orient="vert" idx="1"/>
          </p:nvPr>
        </p:nvSpPr>
        <p:spPr>
          <a:xfrm>
            <a:off x="838200" y="365125"/>
            <a:ext cx="7734300" cy="5811838"/>
          </a:xfrm>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702C335B-197A-46B0-8890-C86E653EE383}"/>
              </a:ext>
            </a:extLst>
          </p:cNvPr>
          <p:cNvSpPr>
            <a:spLocks noGrp="1"/>
          </p:cNvSpPr>
          <p:nvPr>
            <p:ph type="dt" sz="half" idx="10"/>
          </p:nvPr>
        </p:nvSpPr>
        <p:spPr/>
        <p:txBody>
          <a:bodyPr/>
          <a:lstStyle/>
          <a:p>
            <a:fld id="{56EB1E99-4AC8-40F8-B94C-2018559D47CB}" type="datetimeFigureOut">
              <a:rPr lang="ro-RO" smtClean="0"/>
              <a:t>16.03.2020</a:t>
            </a:fld>
            <a:endParaRPr lang="ro-RO"/>
          </a:p>
        </p:txBody>
      </p:sp>
      <p:sp>
        <p:nvSpPr>
          <p:cNvPr id="5" name="Substituent subsol 4">
            <a:extLst>
              <a:ext uri="{FF2B5EF4-FFF2-40B4-BE49-F238E27FC236}">
                <a16:creationId xmlns:a16="http://schemas.microsoft.com/office/drawing/2014/main" id="{6660CD40-FE52-4697-BFEE-C5D30C0F4BFE}"/>
              </a:ext>
            </a:extLst>
          </p:cNvPr>
          <p:cNvSpPr>
            <a:spLocks noGrp="1"/>
          </p:cNvSpPr>
          <p:nvPr>
            <p:ph type="ftr" sz="quarter" idx="11"/>
          </p:nvPr>
        </p:nvSpPr>
        <p:spPr/>
        <p:txBody>
          <a:bodyPr/>
          <a:lstStyle/>
          <a:p>
            <a:endParaRPr lang="ro-RO"/>
          </a:p>
        </p:txBody>
      </p:sp>
      <p:sp>
        <p:nvSpPr>
          <p:cNvPr id="6" name="Substituent număr diapozitiv 5">
            <a:extLst>
              <a:ext uri="{FF2B5EF4-FFF2-40B4-BE49-F238E27FC236}">
                <a16:creationId xmlns:a16="http://schemas.microsoft.com/office/drawing/2014/main" id="{4D221F15-5579-4C1B-AA3C-993550C13737}"/>
              </a:ext>
            </a:extLst>
          </p:cNvPr>
          <p:cNvSpPr>
            <a:spLocks noGrp="1"/>
          </p:cNvSpPr>
          <p:nvPr>
            <p:ph type="sldNum" sz="quarter" idx="12"/>
          </p:nvPr>
        </p:nvSpPr>
        <p:spPr/>
        <p:txBody>
          <a:bodyPr/>
          <a:lstStyle/>
          <a:p>
            <a:fld id="{B72CABC2-5F5E-47B5-AE72-A739EE1B6EBF}" type="slidenum">
              <a:rPr lang="ro-RO" smtClean="0"/>
              <a:t>‹#›</a:t>
            </a:fld>
            <a:endParaRPr lang="ro-RO"/>
          </a:p>
        </p:txBody>
      </p:sp>
    </p:spTree>
    <p:extLst>
      <p:ext uri="{BB962C8B-B14F-4D97-AF65-F5344CB8AC3E}">
        <p14:creationId xmlns:p14="http://schemas.microsoft.com/office/powerpoint/2010/main" val="1465986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8484DE7F-F85A-42E0-9B09-A4C36F8980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o-RO"/>
              <a:t>Faceți clic pentru a edita stilul de titlu coordonator</a:t>
            </a:r>
          </a:p>
        </p:txBody>
      </p:sp>
      <p:sp>
        <p:nvSpPr>
          <p:cNvPr id="3" name="Substituent text 2">
            <a:extLst>
              <a:ext uri="{FF2B5EF4-FFF2-40B4-BE49-F238E27FC236}">
                <a16:creationId xmlns:a16="http://schemas.microsoft.com/office/drawing/2014/main" id="{D7020C89-58FF-4AAA-968A-5319E6BC34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4" name="Substituent dată 3">
            <a:extLst>
              <a:ext uri="{FF2B5EF4-FFF2-40B4-BE49-F238E27FC236}">
                <a16:creationId xmlns:a16="http://schemas.microsoft.com/office/drawing/2014/main" id="{EE57B7BD-9C74-42BD-A235-A99794ADCA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EB1E99-4AC8-40F8-B94C-2018559D47CB}" type="datetimeFigureOut">
              <a:rPr lang="ro-RO" smtClean="0"/>
              <a:t>16.03.2020</a:t>
            </a:fld>
            <a:endParaRPr lang="ro-RO"/>
          </a:p>
        </p:txBody>
      </p:sp>
      <p:sp>
        <p:nvSpPr>
          <p:cNvPr id="5" name="Substituent subsol 4">
            <a:extLst>
              <a:ext uri="{FF2B5EF4-FFF2-40B4-BE49-F238E27FC236}">
                <a16:creationId xmlns:a16="http://schemas.microsoft.com/office/drawing/2014/main" id="{D3ABF0C0-BF46-4634-9962-0D698A74CF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ubstituent număr diapozitiv 5">
            <a:extLst>
              <a:ext uri="{FF2B5EF4-FFF2-40B4-BE49-F238E27FC236}">
                <a16:creationId xmlns:a16="http://schemas.microsoft.com/office/drawing/2014/main" id="{7944835D-D716-43B3-931A-9E4C5CD100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2CABC2-5F5E-47B5-AE72-A739EE1B6EBF}" type="slidenum">
              <a:rPr lang="ro-RO" smtClean="0"/>
              <a:t>‹#›</a:t>
            </a:fld>
            <a:endParaRPr lang="ro-RO"/>
          </a:p>
        </p:txBody>
      </p:sp>
    </p:spTree>
    <p:extLst>
      <p:ext uri="{BB962C8B-B14F-4D97-AF65-F5344CB8AC3E}">
        <p14:creationId xmlns:p14="http://schemas.microsoft.com/office/powerpoint/2010/main" val="673788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2A0A7445-21EB-466A-8D9A-FCE4339608E9}"/>
              </a:ext>
            </a:extLst>
          </p:cNvPr>
          <p:cNvSpPr>
            <a:spLocks noGrp="1"/>
          </p:cNvSpPr>
          <p:nvPr>
            <p:ph type="ctrTitle"/>
          </p:nvPr>
        </p:nvSpPr>
        <p:spPr/>
        <p:txBody>
          <a:bodyPr/>
          <a:lstStyle/>
          <a:p>
            <a:endParaRPr lang="ro-RO"/>
          </a:p>
        </p:txBody>
      </p:sp>
      <p:sp>
        <p:nvSpPr>
          <p:cNvPr id="3" name="Subtitlu 2">
            <a:extLst>
              <a:ext uri="{FF2B5EF4-FFF2-40B4-BE49-F238E27FC236}">
                <a16:creationId xmlns:a16="http://schemas.microsoft.com/office/drawing/2014/main" id="{A89AA966-B2DF-4A79-A7AF-CA848D527A39}"/>
              </a:ext>
            </a:extLst>
          </p:cNvPr>
          <p:cNvSpPr>
            <a:spLocks noGrp="1"/>
          </p:cNvSpPr>
          <p:nvPr>
            <p:ph type="subTitle" idx="1"/>
          </p:nvPr>
        </p:nvSpPr>
        <p:spPr/>
        <p:txBody>
          <a:bodyPr/>
          <a:lstStyle/>
          <a:p>
            <a:endParaRPr lang="ro-RO"/>
          </a:p>
        </p:txBody>
      </p:sp>
    </p:spTree>
    <p:extLst>
      <p:ext uri="{BB962C8B-B14F-4D97-AF65-F5344CB8AC3E}">
        <p14:creationId xmlns:p14="http://schemas.microsoft.com/office/powerpoint/2010/main" val="2341503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lstStyle/>
          <a:p>
            <a:r>
              <a:rPr lang="ro-RO" b="1" dirty="0">
                <a:latin typeface="Times New Roman" panose="02020603050405020304" pitchFamily="18" charset="0"/>
                <a:cs typeface="Times New Roman" panose="02020603050405020304" pitchFamily="18" charset="0"/>
              </a:rPr>
              <a:t>Regimuri și </a:t>
            </a:r>
            <a:r>
              <a:rPr lang="ro-RO" b="1">
                <a:latin typeface="Times New Roman" panose="02020603050405020304" pitchFamily="18" charset="0"/>
                <a:cs typeface="Times New Roman" panose="02020603050405020304" pitchFamily="18" charset="0"/>
              </a:rPr>
              <a:t>sisteme politice 1</a:t>
            </a:r>
            <a:endParaRPr lang="ro-RO"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163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703512" y="274638"/>
            <a:ext cx="8964488" cy="1143000"/>
          </a:xfrm>
        </p:spPr>
        <p:txBody>
          <a:bodyPr>
            <a:normAutofit fontScale="90000"/>
          </a:bodyPr>
          <a:lstStyle/>
          <a:p>
            <a:r>
              <a:rPr lang="ro-RO" b="1" dirty="0">
                <a:latin typeface="Times New Roman" panose="02020603050405020304" pitchFamily="18" charset="0"/>
                <a:cs typeface="Times New Roman" panose="02020603050405020304" pitchFamily="18" charset="0"/>
              </a:rPr>
              <a:t>Perspectiva juridică regimurile politice</a:t>
            </a:r>
          </a:p>
        </p:txBody>
      </p:sp>
      <p:sp>
        <p:nvSpPr>
          <p:cNvPr id="3" name="Substituent conținut 2"/>
          <p:cNvSpPr>
            <a:spLocks noGrp="1"/>
          </p:cNvSpPr>
          <p:nvPr>
            <p:ph idx="1"/>
          </p:nvPr>
        </p:nvSpPr>
        <p:spPr>
          <a:xfrm>
            <a:off x="1524000" y="1600201"/>
            <a:ext cx="9144000" cy="4525963"/>
          </a:xfrm>
        </p:spPr>
        <p:txBody>
          <a:bodyPr>
            <a:normAutofit/>
          </a:bodyPr>
          <a:lstStyle/>
          <a:p>
            <a:pPr algn="just"/>
            <a:endParaRPr lang="ro-RO" sz="2400" dirty="0">
              <a:latin typeface="Times New Roman" panose="02020603050405020304" pitchFamily="18" charset="0"/>
              <a:cs typeface="Times New Roman" panose="02020603050405020304" pitchFamily="18" charset="0"/>
            </a:endParaRPr>
          </a:p>
          <a:p>
            <a:pPr algn="just"/>
            <a:r>
              <a:rPr lang="vi-VN" sz="2400" dirty="0">
                <a:latin typeface="Times New Roman" panose="02020603050405020304" pitchFamily="18" charset="0"/>
                <a:cs typeface="Times New Roman" panose="02020603050405020304" pitchFamily="18" charset="0"/>
              </a:rPr>
              <a:t>Regimul politic se referă la </a:t>
            </a:r>
            <a:r>
              <a:rPr lang="vi-VN" sz="2400" b="1" i="1" dirty="0">
                <a:latin typeface="Times New Roman" panose="02020603050405020304" pitchFamily="18" charset="0"/>
                <a:cs typeface="Times New Roman" panose="02020603050405020304" pitchFamily="18" charset="0"/>
              </a:rPr>
              <a:t>organizarea puterilor </a:t>
            </a:r>
            <a:r>
              <a:rPr lang="vi-VN" sz="2400" dirty="0">
                <a:latin typeface="Times New Roman" panose="02020603050405020304" pitchFamily="18" charset="0"/>
                <a:cs typeface="Times New Roman" panose="02020603050405020304" pitchFamily="18" charset="0"/>
              </a:rPr>
              <a:t>și </a:t>
            </a:r>
            <a:r>
              <a:rPr lang="vi-VN" sz="2400" b="1" i="1" dirty="0">
                <a:latin typeface="Times New Roman" panose="02020603050405020304" pitchFamily="18" charset="0"/>
                <a:cs typeface="Times New Roman" panose="02020603050405020304" pitchFamily="18" charset="0"/>
              </a:rPr>
              <a:t>exercitarea acestora</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în cadrul unei entități politice date</a:t>
            </a:r>
            <a:r>
              <a:rPr lang="ro-RO" sz="2400" dirty="0">
                <a:latin typeface="Times New Roman" panose="02020603050405020304" pitchFamily="18" charset="0"/>
                <a:cs typeface="Times New Roman" panose="02020603050405020304" pitchFamily="18" charset="0"/>
              </a:rPr>
              <a:t>.</a:t>
            </a:r>
          </a:p>
          <a:p>
            <a:pPr algn="just"/>
            <a:endParaRPr lang="ro-RO" sz="2400" dirty="0">
              <a:latin typeface="Times New Roman" panose="02020603050405020304" pitchFamily="18" charset="0"/>
              <a:cs typeface="Times New Roman" panose="02020603050405020304" pitchFamily="18" charset="0"/>
            </a:endParaRPr>
          </a:p>
          <a:p>
            <a:pPr algn="just"/>
            <a:r>
              <a:rPr lang="ro-RO" sz="2400" dirty="0">
                <a:latin typeface="Times New Roman" panose="02020603050405020304" pitchFamily="18" charset="0"/>
                <a:cs typeface="Times New Roman" panose="02020603050405020304" pitchFamily="18" charset="0"/>
              </a:rPr>
              <a:t>T</a:t>
            </a:r>
            <a:r>
              <a:rPr lang="vi-VN" sz="2400" dirty="0">
                <a:latin typeface="Times New Roman" panose="02020603050405020304" pitchFamily="18" charset="0"/>
                <a:cs typeface="Times New Roman" panose="02020603050405020304" pitchFamily="18" charset="0"/>
              </a:rPr>
              <a:t>ermenul se referă la </a:t>
            </a:r>
            <a:r>
              <a:rPr lang="vi-VN" sz="2400" b="1" i="1" dirty="0">
                <a:latin typeface="Times New Roman" panose="02020603050405020304" pitchFamily="18" charset="0"/>
                <a:cs typeface="Times New Roman" panose="02020603050405020304" pitchFamily="18" charset="0"/>
              </a:rPr>
              <a:t>forma instituțională a puterii</a:t>
            </a:r>
            <a:r>
              <a:rPr lang="vi-VN" sz="2400" dirty="0">
                <a:latin typeface="Times New Roman" panose="02020603050405020304" pitchFamily="18" charset="0"/>
                <a:cs typeface="Times New Roman" panose="02020603050405020304" pitchFamily="18" charset="0"/>
              </a:rPr>
              <a:t>, dar și la practica care rezultă din această formă instituțională. </a:t>
            </a:r>
            <a:r>
              <a:rPr lang="ro-RO" sz="2400" dirty="0">
                <a:latin typeface="Times New Roman" panose="02020603050405020304" pitchFamily="18" charset="0"/>
                <a:cs typeface="Times New Roman" panose="02020603050405020304" pitchFamily="18" charset="0"/>
              </a:rPr>
              <a:t>Aceasta nu poate fi redusă la</a:t>
            </a:r>
            <a:r>
              <a:rPr lang="vi-VN" sz="2400" b="1" i="1" dirty="0">
                <a:latin typeface="Times New Roman" panose="02020603050405020304" pitchFamily="18" charset="0"/>
                <a:cs typeface="Times New Roman" panose="02020603050405020304" pitchFamily="18" charset="0"/>
              </a:rPr>
              <a:t> </a:t>
            </a:r>
            <a:r>
              <a:rPr lang="ro-RO" sz="2400" b="1" i="1" dirty="0">
                <a:latin typeface="Times New Roman" panose="02020603050405020304" pitchFamily="18" charset="0"/>
                <a:cs typeface="Times New Roman" panose="02020603050405020304" pitchFamily="18" charset="0"/>
              </a:rPr>
              <a:t>analiza relațiilor </a:t>
            </a:r>
            <a:r>
              <a:rPr lang="vi-VN" sz="2400" b="1" i="1" dirty="0">
                <a:latin typeface="Times New Roman" panose="02020603050405020304" pitchFamily="18" charset="0"/>
                <a:cs typeface="Times New Roman" panose="02020603050405020304" pitchFamily="18" charset="0"/>
              </a:rPr>
              <a:t>constituțional</a:t>
            </a:r>
            <a:r>
              <a:rPr lang="ro-RO" sz="2400" b="1" i="1" dirty="0">
                <a:latin typeface="Times New Roman" panose="02020603050405020304" pitchFamily="18" charset="0"/>
                <a:cs typeface="Times New Roman" panose="02020603050405020304" pitchFamily="18" charset="0"/>
              </a:rPr>
              <a:t>e</a:t>
            </a:r>
            <a:r>
              <a:rPr lang="vi-VN" sz="2400" b="1" i="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a:t>
            </a:r>
            <a:r>
              <a:rPr lang="ro-RO" sz="2400" dirty="0">
                <a:latin typeface="Times New Roman" panose="02020603050405020304" pitchFamily="18" charset="0"/>
                <a:cs typeface="Times New Roman" panose="02020603050405020304" pitchFamily="18" charset="0"/>
              </a:rPr>
              <a:t>a</a:t>
            </a:r>
            <a:r>
              <a:rPr lang="vi-VN" sz="2400" dirty="0">
                <a:latin typeface="Times New Roman" panose="02020603050405020304" pitchFamily="18" charset="0"/>
                <a:cs typeface="Times New Roman" panose="02020603050405020304" pitchFamily="18" charset="0"/>
              </a:rPr>
              <a:t>naliza structurile formale ale unui stat), dar nu trebuie confundat </a:t>
            </a:r>
            <a:r>
              <a:rPr lang="ro-RO" sz="2400" dirty="0">
                <a:latin typeface="Times New Roman" panose="02020603050405020304" pitchFamily="18" charset="0"/>
                <a:cs typeface="Times New Roman" panose="02020603050405020304" pitchFamily="18" charset="0"/>
              </a:rPr>
              <a:t>nici </a:t>
            </a:r>
            <a:r>
              <a:rPr lang="vi-VN" sz="2400" dirty="0">
                <a:latin typeface="Times New Roman" panose="02020603050405020304" pitchFamily="18" charset="0"/>
                <a:cs typeface="Times New Roman" panose="02020603050405020304" pitchFamily="18" charset="0"/>
              </a:rPr>
              <a:t>cu studiul </a:t>
            </a:r>
            <a:r>
              <a:rPr lang="vi-VN" sz="2400" b="1" i="1" dirty="0">
                <a:latin typeface="Times New Roman" panose="02020603050405020304" pitchFamily="18" charset="0"/>
                <a:cs typeface="Times New Roman" panose="02020603050405020304" pitchFamily="18" charset="0"/>
              </a:rPr>
              <a:t>sistemelor politice</a:t>
            </a:r>
            <a:r>
              <a:rPr lang="vi-VN" sz="2400" i="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(modul de organizare a unui stat).</a:t>
            </a:r>
            <a:endParaRPr lang="ro-RO"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8278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271464" y="-243408"/>
            <a:ext cx="9793088" cy="1143000"/>
          </a:xfrm>
        </p:spPr>
        <p:txBody>
          <a:bodyPr>
            <a:normAutofit/>
          </a:bodyPr>
          <a:lstStyle/>
          <a:p>
            <a:r>
              <a:rPr lang="ro-RO" sz="4000" b="1" dirty="0">
                <a:latin typeface="Times New Roman" panose="02020603050405020304" pitchFamily="18" charset="0"/>
                <a:cs typeface="Times New Roman" panose="02020603050405020304" pitchFamily="18" charset="0"/>
              </a:rPr>
              <a:t>Definiția generală a regimurilor politice</a:t>
            </a:r>
          </a:p>
        </p:txBody>
      </p:sp>
      <p:sp>
        <p:nvSpPr>
          <p:cNvPr id="3" name="Substituent conținut 2"/>
          <p:cNvSpPr>
            <a:spLocks noGrp="1"/>
          </p:cNvSpPr>
          <p:nvPr>
            <p:ph idx="1"/>
          </p:nvPr>
        </p:nvSpPr>
        <p:spPr>
          <a:xfrm>
            <a:off x="1631504" y="836712"/>
            <a:ext cx="8856984" cy="5832648"/>
          </a:xfrm>
        </p:spPr>
        <p:txBody>
          <a:bodyPr>
            <a:noAutofit/>
          </a:bodyPr>
          <a:lstStyle/>
          <a:p>
            <a:pPr marL="0" indent="0" algn="just">
              <a:buNone/>
            </a:pPr>
            <a:r>
              <a:rPr lang="ro-RO" sz="2000" b="1" dirty="0">
                <a:latin typeface="Times New Roman" panose="02020603050405020304" pitchFamily="18" charset="0"/>
                <a:cs typeface="Times New Roman" panose="02020603050405020304" pitchFamily="18" charset="0"/>
              </a:rPr>
              <a:t>Maurice Duverger</a:t>
            </a:r>
          </a:p>
          <a:p>
            <a:pPr marL="0" indent="0" algn="just">
              <a:buNone/>
            </a:pPr>
            <a:r>
              <a:rPr lang="vi-VN" sz="2000" dirty="0">
                <a:latin typeface="Times New Roman" panose="02020603050405020304" pitchFamily="18" charset="0"/>
                <a:cs typeface="Times New Roman" panose="02020603050405020304" pitchFamily="18" charset="0"/>
              </a:rPr>
              <a:t>"La baza fiecărui regim politic </a:t>
            </a:r>
            <a:r>
              <a:rPr lang="ro-RO" sz="2000" dirty="0">
                <a:latin typeface="Times New Roman" panose="02020603050405020304" pitchFamily="18" charset="0"/>
                <a:cs typeface="Times New Roman" panose="02020603050405020304" pitchFamily="18" charset="0"/>
              </a:rPr>
              <a:t>s</a:t>
            </a:r>
            <a:r>
              <a:rPr lang="vi-VN" sz="2000" dirty="0">
                <a:latin typeface="Times New Roman" panose="02020603050405020304" pitchFamily="18" charset="0"/>
                <a:cs typeface="Times New Roman" panose="02020603050405020304" pitchFamily="18" charset="0"/>
              </a:rPr>
              <a:t>e</a:t>
            </a:r>
            <a:r>
              <a:rPr lang="ro-RO" sz="2000" dirty="0">
                <a:latin typeface="Times New Roman" panose="02020603050405020304" pitchFamily="18" charset="0"/>
                <a:cs typeface="Times New Roman" panose="02020603050405020304" pitchFamily="18" charset="0"/>
              </a:rPr>
              <a:t> află </a:t>
            </a:r>
            <a:r>
              <a:rPr lang="vi-VN" sz="2000" dirty="0">
                <a:latin typeface="Times New Roman" panose="02020603050405020304" pitchFamily="18" charset="0"/>
                <a:cs typeface="Times New Roman" panose="02020603050405020304" pitchFamily="18" charset="0"/>
              </a:rPr>
              <a:t>fenomenul esențial al autorității, al puterii, al distincției dintre conducători și </a:t>
            </a:r>
            <a:r>
              <a:rPr lang="ro-RO" sz="2000" dirty="0">
                <a:latin typeface="Times New Roman" panose="02020603050405020304" pitchFamily="18" charset="0"/>
                <a:cs typeface="Times New Roman" panose="02020603050405020304" pitchFamily="18" charset="0"/>
              </a:rPr>
              <a:t>conduși.</a:t>
            </a:r>
            <a:r>
              <a:rPr lang="vi-VN" sz="2000" dirty="0">
                <a:latin typeface="Times New Roman" panose="02020603050405020304" pitchFamily="18" charset="0"/>
                <a:cs typeface="Times New Roman" panose="02020603050405020304" pitchFamily="18" charset="0"/>
              </a:rPr>
              <a:t>"</a:t>
            </a:r>
          </a:p>
          <a:p>
            <a:pPr marL="0" indent="0" algn="just">
              <a:buNone/>
            </a:pPr>
            <a:r>
              <a:rPr lang="vi-VN" sz="2000" dirty="0">
                <a:latin typeface="Times New Roman" panose="02020603050405020304" pitchFamily="18" charset="0"/>
                <a:cs typeface="Times New Roman" panose="02020603050405020304" pitchFamily="18" charset="0"/>
              </a:rPr>
              <a:t>"Orice regim politic poate fi definit ca un set de răspunsuri la patru </a:t>
            </a:r>
            <a:r>
              <a:rPr lang="ro-RO" sz="2000" dirty="0">
                <a:latin typeface="Times New Roman" panose="02020603050405020304" pitchFamily="18" charset="0"/>
                <a:cs typeface="Times New Roman" panose="02020603050405020304" pitchFamily="18" charset="0"/>
              </a:rPr>
              <a:t>probleme</a:t>
            </a:r>
            <a:r>
              <a:rPr lang="vi-VN" sz="2000" dirty="0">
                <a:latin typeface="Times New Roman" panose="02020603050405020304" pitchFamily="18" charset="0"/>
                <a:cs typeface="Times New Roman" panose="02020603050405020304" pitchFamily="18" charset="0"/>
              </a:rPr>
              <a:t> principale de probleme":</a:t>
            </a:r>
            <a:endParaRPr lang="ro-RO" sz="2000" dirty="0">
              <a:latin typeface="Times New Roman" panose="02020603050405020304" pitchFamily="18" charset="0"/>
              <a:cs typeface="Times New Roman" panose="02020603050405020304" pitchFamily="18" charset="0"/>
            </a:endParaRPr>
          </a:p>
          <a:p>
            <a:pPr marL="514350" indent="-514350" algn="just">
              <a:buAutoNum type="arabicPeriod"/>
            </a:pPr>
            <a:r>
              <a:rPr lang="vi-VN" sz="2000" b="1" dirty="0">
                <a:latin typeface="Times New Roman" panose="02020603050405020304" pitchFamily="18" charset="0"/>
                <a:cs typeface="Times New Roman" panose="02020603050405020304" pitchFamily="18" charset="0"/>
              </a:rPr>
              <a:t>Autoritatea </a:t>
            </a:r>
            <a:r>
              <a:rPr lang="ro-RO" sz="2000" b="1" dirty="0">
                <a:latin typeface="Times New Roman" panose="02020603050405020304" pitchFamily="18" charset="0"/>
                <a:cs typeface="Times New Roman" panose="02020603050405020304" pitchFamily="18" charset="0"/>
              </a:rPr>
              <a:t>guvernanților </a:t>
            </a:r>
            <a:r>
              <a:rPr lang="vi-VN" sz="2000" b="1" dirty="0">
                <a:latin typeface="Times New Roman" panose="02020603050405020304" pitchFamily="18" charset="0"/>
                <a:cs typeface="Times New Roman" panose="02020603050405020304" pitchFamily="18" charset="0"/>
              </a:rPr>
              <a:t>și drepturile și îndatoririle cetățenilor</a:t>
            </a:r>
            <a:r>
              <a:rPr lang="vi-VN" sz="2000" dirty="0">
                <a:latin typeface="Times New Roman" panose="02020603050405020304" pitchFamily="18" charset="0"/>
                <a:cs typeface="Times New Roman" panose="02020603050405020304" pitchFamily="18" charset="0"/>
              </a:rPr>
              <a:t>: </a:t>
            </a:r>
            <a:endParaRPr lang="ro-RO" sz="2000" dirty="0">
              <a:latin typeface="Times New Roman" panose="02020603050405020304" pitchFamily="18" charset="0"/>
              <a:cs typeface="Times New Roman" panose="02020603050405020304" pitchFamily="18" charset="0"/>
            </a:endParaRPr>
          </a:p>
          <a:p>
            <a:pPr marL="0" indent="0" algn="just">
              <a:buNone/>
            </a:pPr>
            <a:r>
              <a:rPr lang="vi-VN" sz="2000" dirty="0">
                <a:latin typeface="Times New Roman" panose="02020603050405020304" pitchFamily="18" charset="0"/>
                <a:cs typeface="Times New Roman" panose="02020603050405020304" pitchFamily="18" charset="0"/>
              </a:rPr>
              <a:t>Care sunt fundamentele puterii politice care definesc valorile fundamentale ale regimului?</a:t>
            </a:r>
          </a:p>
          <a:p>
            <a:pPr marL="0" indent="0" algn="just">
              <a:buNone/>
            </a:pPr>
            <a:r>
              <a:rPr lang="ro-RO" sz="2000" b="1" dirty="0">
                <a:latin typeface="Times New Roman" panose="02020603050405020304" pitchFamily="18" charset="0"/>
                <a:cs typeface="Times New Roman" panose="02020603050405020304" pitchFamily="18" charset="0"/>
              </a:rPr>
              <a:t>2. </a:t>
            </a:r>
            <a:r>
              <a:rPr lang="vi-VN" sz="2000" b="1" dirty="0">
                <a:latin typeface="Times New Roman" panose="02020603050405020304" pitchFamily="18" charset="0"/>
                <a:cs typeface="Times New Roman" panose="02020603050405020304" pitchFamily="18" charset="0"/>
              </a:rPr>
              <a:t>Alegerea conducătorilor și a reprezentanților cetățenilor</a:t>
            </a:r>
            <a:r>
              <a:rPr lang="vi-VN" sz="2000" dirty="0">
                <a:latin typeface="Times New Roman" panose="02020603050405020304" pitchFamily="18" charset="0"/>
                <a:cs typeface="Times New Roman" panose="02020603050405020304" pitchFamily="18" charset="0"/>
              </a:rPr>
              <a:t>: </a:t>
            </a:r>
            <a:endParaRPr lang="ro-RO" sz="2000" dirty="0">
              <a:latin typeface="Times New Roman" panose="02020603050405020304" pitchFamily="18" charset="0"/>
              <a:cs typeface="Times New Roman" panose="02020603050405020304" pitchFamily="18" charset="0"/>
            </a:endParaRPr>
          </a:p>
          <a:p>
            <a:pPr marL="0" indent="0" algn="just">
              <a:buNone/>
            </a:pPr>
            <a:r>
              <a:rPr lang="ro-RO" sz="2000" dirty="0">
                <a:latin typeface="Times New Roman" panose="02020603050405020304" pitchFamily="18" charset="0"/>
                <a:cs typeface="Times New Roman" panose="02020603050405020304" pitchFamily="18" charset="0"/>
              </a:rPr>
              <a:t>Cine s</a:t>
            </a:r>
            <a:r>
              <a:rPr lang="vi-VN" sz="2000" dirty="0">
                <a:latin typeface="Times New Roman" panose="02020603050405020304" pitchFamily="18" charset="0"/>
                <a:cs typeface="Times New Roman" panose="02020603050405020304" pitchFamily="18" charset="0"/>
              </a:rPr>
              <a:t>unt </a:t>
            </a:r>
            <a:r>
              <a:rPr lang="ro-RO" sz="2000" dirty="0">
                <a:latin typeface="Times New Roman" panose="02020603050405020304" pitchFamily="18" charset="0"/>
                <a:cs typeface="Times New Roman" panose="02020603050405020304" pitchFamily="18" charset="0"/>
              </a:rPr>
              <a:t>și cum acționează </a:t>
            </a:r>
            <a:r>
              <a:rPr lang="vi-VN" sz="2000" dirty="0">
                <a:latin typeface="Times New Roman" panose="02020603050405020304" pitchFamily="18" charset="0"/>
                <a:cs typeface="Times New Roman" panose="02020603050405020304" pitchFamily="18" charset="0"/>
              </a:rPr>
              <a:t>oamenii cărora le-a fost încredințată puterea de a guverna o comunitate?</a:t>
            </a:r>
          </a:p>
          <a:p>
            <a:pPr marL="0" indent="0" algn="just">
              <a:buNone/>
            </a:pPr>
            <a:r>
              <a:rPr lang="ro-RO" sz="2000" b="1" dirty="0">
                <a:latin typeface="Times New Roman" panose="02020603050405020304" pitchFamily="18" charset="0"/>
                <a:cs typeface="Times New Roman" panose="02020603050405020304" pitchFamily="18" charset="0"/>
              </a:rPr>
              <a:t>3. </a:t>
            </a:r>
            <a:r>
              <a:rPr lang="vi-VN" sz="2000" b="1" dirty="0">
                <a:latin typeface="Times New Roman" panose="02020603050405020304" pitchFamily="18" charset="0"/>
                <a:cs typeface="Times New Roman" panose="02020603050405020304" pitchFamily="18" charset="0"/>
              </a:rPr>
              <a:t>Structuri guvernamentale</a:t>
            </a:r>
            <a:endParaRPr lang="ro-RO" sz="2000" b="1" dirty="0">
              <a:latin typeface="Times New Roman" panose="02020603050405020304" pitchFamily="18" charset="0"/>
              <a:cs typeface="Times New Roman" panose="02020603050405020304" pitchFamily="18" charset="0"/>
            </a:endParaRPr>
          </a:p>
          <a:p>
            <a:pPr marL="0" indent="0" algn="just">
              <a:buNone/>
            </a:pPr>
            <a:r>
              <a:rPr lang="ro-RO" sz="2000" dirty="0">
                <a:latin typeface="Times New Roman" panose="02020603050405020304" pitchFamily="18" charset="0"/>
                <a:cs typeface="Times New Roman" panose="02020603050405020304" pitchFamily="18" charset="0"/>
              </a:rPr>
              <a:t>C</a:t>
            </a:r>
            <a:r>
              <a:rPr lang="vi-VN" sz="2000" dirty="0">
                <a:latin typeface="Times New Roman" panose="02020603050405020304" pitchFamily="18" charset="0"/>
                <a:cs typeface="Times New Roman" panose="02020603050405020304" pitchFamily="18" charset="0"/>
              </a:rPr>
              <a:t>are sunt formele lor de organizare și c</a:t>
            </a:r>
            <a:r>
              <a:rPr lang="ro-RO" sz="2000" dirty="0">
                <a:latin typeface="Times New Roman" panose="02020603050405020304" pitchFamily="18" charset="0"/>
                <a:cs typeface="Times New Roman" panose="02020603050405020304" pitchFamily="18" charset="0"/>
              </a:rPr>
              <a:t>ar</a:t>
            </a:r>
            <a:r>
              <a:rPr lang="vi-VN" sz="2000" dirty="0">
                <a:latin typeface="Times New Roman" panose="02020603050405020304" pitchFamily="18" charset="0"/>
                <a:cs typeface="Times New Roman" panose="02020603050405020304" pitchFamily="18" charset="0"/>
              </a:rPr>
              <a:t>e </a:t>
            </a:r>
            <a:r>
              <a:rPr lang="ro-RO" sz="2000" dirty="0">
                <a:latin typeface="Times New Roman" panose="02020603050405020304" pitchFamily="18" charset="0"/>
                <a:cs typeface="Times New Roman" panose="02020603050405020304" pitchFamily="18" charset="0"/>
              </a:rPr>
              <a:t>sunt </a:t>
            </a:r>
            <a:r>
              <a:rPr lang="vi-VN" sz="2000" dirty="0">
                <a:latin typeface="Times New Roman" panose="02020603050405020304" pitchFamily="18" charset="0"/>
                <a:cs typeface="Times New Roman" panose="02020603050405020304" pitchFamily="18" charset="0"/>
              </a:rPr>
              <a:t>relații </a:t>
            </a:r>
            <a:r>
              <a:rPr lang="ro-RO" sz="2000" dirty="0">
                <a:latin typeface="Times New Roman" panose="02020603050405020304" pitchFamily="18" charset="0"/>
                <a:cs typeface="Times New Roman" panose="02020603050405020304" pitchFamily="18" charset="0"/>
              </a:rPr>
              <a:t>dintre ele</a:t>
            </a:r>
            <a:r>
              <a:rPr lang="vi-VN" sz="2000" dirty="0">
                <a:latin typeface="Times New Roman" panose="02020603050405020304" pitchFamily="18" charset="0"/>
                <a:cs typeface="Times New Roman" panose="02020603050405020304" pitchFamily="18" charset="0"/>
              </a:rPr>
              <a:t>?</a:t>
            </a:r>
          </a:p>
          <a:p>
            <a:pPr marL="0" indent="0" algn="just">
              <a:buNone/>
            </a:pPr>
            <a:r>
              <a:rPr lang="ro-RO" sz="2000" b="1" dirty="0">
                <a:latin typeface="Times New Roman" panose="02020603050405020304" pitchFamily="18" charset="0"/>
                <a:cs typeface="Times New Roman" panose="02020603050405020304" pitchFamily="18" charset="0"/>
              </a:rPr>
              <a:t>4. </a:t>
            </a:r>
            <a:r>
              <a:rPr lang="vi-VN" sz="2000" b="1" dirty="0">
                <a:latin typeface="Times New Roman" panose="02020603050405020304" pitchFamily="18" charset="0"/>
                <a:cs typeface="Times New Roman" panose="02020603050405020304" pitchFamily="18" charset="0"/>
              </a:rPr>
              <a:t>Evaluarea, controlul și limitarea conducătorilor</a:t>
            </a:r>
            <a:endParaRPr lang="ro-RO" sz="2000" dirty="0">
              <a:latin typeface="Times New Roman" panose="02020603050405020304" pitchFamily="18" charset="0"/>
              <a:cs typeface="Times New Roman" panose="02020603050405020304" pitchFamily="18" charset="0"/>
            </a:endParaRPr>
          </a:p>
          <a:p>
            <a:pPr marL="0" indent="0" algn="just">
              <a:buNone/>
            </a:pPr>
            <a:r>
              <a:rPr lang="vi-VN" sz="2000" dirty="0">
                <a:latin typeface="Times New Roman" panose="02020603050405020304" pitchFamily="18" charset="0"/>
                <a:cs typeface="Times New Roman" panose="02020603050405020304" pitchFamily="18" charset="0"/>
              </a:rPr>
              <a:t>Cum se articulează drepturile și îndatoririle conducătorilor și ale cetățenilor? Cum se garantează </a:t>
            </a:r>
            <a:r>
              <a:rPr lang="ro-RO" sz="2000" dirty="0">
                <a:latin typeface="Times New Roman" panose="02020603050405020304" pitchFamily="18" charset="0"/>
                <a:cs typeface="Times New Roman" panose="02020603050405020304" pitchFamily="18" charset="0"/>
              </a:rPr>
              <a:t>acestea </a:t>
            </a:r>
            <a:r>
              <a:rPr lang="vi-VN" sz="2000" dirty="0">
                <a:latin typeface="Times New Roman" panose="02020603050405020304" pitchFamily="18" charset="0"/>
                <a:cs typeface="Times New Roman" panose="02020603050405020304" pitchFamily="18" charset="0"/>
              </a:rPr>
              <a:t>reciproc? Cum s</a:t>
            </a:r>
            <a:r>
              <a:rPr lang="ro-RO" sz="2000" dirty="0">
                <a:latin typeface="Times New Roman" panose="02020603050405020304" pitchFamily="18" charset="0"/>
                <a:cs typeface="Times New Roman" panose="02020603050405020304" pitchFamily="18" charset="0"/>
              </a:rPr>
              <a:t>e</a:t>
            </a:r>
            <a:r>
              <a:rPr lang="vi-VN" sz="2000" dirty="0">
                <a:latin typeface="Times New Roman" panose="02020603050405020304" pitchFamily="18" charset="0"/>
                <a:cs typeface="Times New Roman" panose="02020603050405020304" pitchFamily="18" charset="0"/>
              </a:rPr>
              <a:t> reglementez</a:t>
            </a:r>
            <a:r>
              <a:rPr lang="ro-RO" sz="2000" dirty="0">
                <a:latin typeface="Times New Roman" panose="02020603050405020304" pitchFamily="18" charset="0"/>
                <a:cs typeface="Times New Roman" panose="02020603050405020304" pitchFamily="18" charset="0"/>
              </a:rPr>
              <a:t>ă</a:t>
            </a:r>
            <a:r>
              <a:rPr lang="vi-VN" sz="2000" dirty="0">
                <a:latin typeface="Times New Roman" panose="02020603050405020304" pitchFamily="18" charset="0"/>
                <a:cs typeface="Times New Roman" panose="02020603050405020304" pitchFamily="18" charset="0"/>
              </a:rPr>
              <a:t> respectarea responsabilitățilorși a domeniilor de libertate?</a:t>
            </a:r>
            <a:endParaRPr lang="ro-RO"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4540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524000" y="0"/>
            <a:ext cx="9144000" cy="692696"/>
          </a:xfrm>
        </p:spPr>
        <p:txBody>
          <a:bodyPr>
            <a:normAutofit fontScale="90000"/>
          </a:bodyPr>
          <a:lstStyle/>
          <a:p>
            <a:r>
              <a:rPr lang="ro-RO" b="1" dirty="0">
                <a:latin typeface="Times New Roman" panose="02020603050405020304" pitchFamily="18" charset="0"/>
                <a:cs typeface="Times New Roman" panose="02020603050405020304" pitchFamily="18" charset="0"/>
              </a:rPr>
              <a:t>Tipologii ale regimurilor politice</a:t>
            </a:r>
          </a:p>
        </p:txBody>
      </p:sp>
      <p:sp>
        <p:nvSpPr>
          <p:cNvPr id="3" name="Substituent conținut 2"/>
          <p:cNvSpPr>
            <a:spLocks noGrp="1"/>
          </p:cNvSpPr>
          <p:nvPr>
            <p:ph idx="1"/>
          </p:nvPr>
        </p:nvSpPr>
        <p:spPr>
          <a:xfrm>
            <a:off x="1524000" y="764704"/>
            <a:ext cx="8964488" cy="5688632"/>
          </a:xfrm>
        </p:spPr>
        <p:txBody>
          <a:bodyPr>
            <a:noAutofit/>
          </a:bodyPr>
          <a:lstStyle/>
          <a:p>
            <a:pPr marL="0" indent="0">
              <a:buNone/>
            </a:pPr>
            <a:r>
              <a:rPr lang="vi-VN" sz="2400" b="1" dirty="0">
                <a:latin typeface="Times New Roman" panose="02020603050405020304" pitchFamily="18" charset="0"/>
                <a:cs typeface="Times New Roman" panose="02020603050405020304" pitchFamily="18" charset="0"/>
              </a:rPr>
              <a:t>Regimul totalitar</a:t>
            </a:r>
          </a:p>
          <a:p>
            <a:pPr marL="0" indent="0" algn="just">
              <a:buNone/>
            </a:pPr>
            <a:r>
              <a:rPr lang="vi-VN" sz="2400" dirty="0">
                <a:latin typeface="Times New Roman" panose="02020603050405020304" pitchFamily="18" charset="0"/>
                <a:cs typeface="Times New Roman" panose="02020603050405020304" pitchFamily="18" charset="0"/>
              </a:rPr>
              <a:t>Din lucrările lui Hannah </a:t>
            </a:r>
            <a:r>
              <a:rPr lang="ro-RO"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Arendt, Carl</a:t>
            </a:r>
            <a:r>
              <a:rPr lang="ro-RO"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Friedrich și Raymond Aron putem rezuma principalele caracteristici ale acestui tip de </a:t>
            </a:r>
            <a:r>
              <a:rPr lang="ro-RO" sz="2400" dirty="0">
                <a:latin typeface="Times New Roman" panose="02020603050405020304" pitchFamily="18" charset="0"/>
                <a:cs typeface="Times New Roman" panose="02020603050405020304" pitchFamily="18" charset="0"/>
              </a:rPr>
              <a:t>regim</a:t>
            </a:r>
            <a:r>
              <a:rPr lang="vi-VN" sz="2400" dirty="0">
                <a:latin typeface="Times New Roman" panose="02020603050405020304" pitchFamily="18" charset="0"/>
                <a:cs typeface="Times New Roman" panose="02020603050405020304" pitchFamily="18" charset="0"/>
              </a:rPr>
              <a:t>:</a:t>
            </a:r>
          </a:p>
          <a:p>
            <a:pPr algn="just"/>
            <a:r>
              <a:rPr lang="vi-VN" sz="2400" dirty="0">
                <a:latin typeface="Times New Roman" panose="02020603050405020304" pitchFamily="18" charset="0"/>
                <a:cs typeface="Times New Roman" panose="02020603050405020304" pitchFamily="18" charset="0"/>
              </a:rPr>
              <a:t>existența unei </a:t>
            </a:r>
            <a:r>
              <a:rPr lang="vi-VN" sz="2400" b="1" i="1" dirty="0">
                <a:latin typeface="Times New Roman" panose="02020603050405020304" pitchFamily="18" charset="0"/>
                <a:cs typeface="Times New Roman" panose="02020603050405020304" pitchFamily="18" charset="0"/>
              </a:rPr>
              <a:t>ideologii infailibile și totalizatoare</a:t>
            </a:r>
            <a:r>
              <a:rPr lang="ro-RO"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algn="just"/>
            <a:r>
              <a:rPr lang="vi-VN" sz="2400" dirty="0">
                <a:latin typeface="Times New Roman" panose="02020603050405020304" pitchFamily="18" charset="0"/>
                <a:cs typeface="Times New Roman" panose="02020603050405020304" pitchFamily="18" charset="0"/>
              </a:rPr>
              <a:t>viața politică, socială și economică este guvernată </a:t>
            </a:r>
            <a:r>
              <a:rPr lang="ro-RO" sz="2400" dirty="0">
                <a:latin typeface="Times New Roman" panose="02020603050405020304" pitchFamily="18" charset="0"/>
                <a:cs typeface="Times New Roman" panose="02020603050405020304" pitchFamily="18" charset="0"/>
              </a:rPr>
              <a:t>atât </a:t>
            </a:r>
            <a:r>
              <a:rPr lang="vi-VN" sz="2400" dirty="0">
                <a:latin typeface="Times New Roman" panose="02020603050405020304" pitchFamily="18" charset="0"/>
                <a:cs typeface="Times New Roman" panose="02020603050405020304" pitchFamily="18" charset="0"/>
              </a:rPr>
              <a:t>la </a:t>
            </a:r>
            <a:r>
              <a:rPr lang="vi-VN" sz="2400" b="1" i="1" dirty="0">
                <a:latin typeface="Times New Roman" panose="02020603050405020304" pitchFamily="18" charset="0"/>
                <a:cs typeface="Times New Roman" panose="02020603050405020304" pitchFamily="18" charset="0"/>
              </a:rPr>
              <a:t>nivel public</a:t>
            </a:r>
            <a:r>
              <a:rPr lang="ro-RO" sz="2400" b="1" i="1" dirty="0">
                <a:latin typeface="Times New Roman" panose="02020603050405020304" pitchFamily="18" charset="0"/>
                <a:cs typeface="Times New Roman" panose="02020603050405020304" pitchFamily="18" charset="0"/>
              </a:rPr>
              <a:t> cât și privat</a:t>
            </a:r>
            <a:r>
              <a:rPr lang="ro-RO"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algn="just"/>
            <a:r>
              <a:rPr lang="vi-VN" sz="2400" b="1" i="1" dirty="0">
                <a:latin typeface="Times New Roman" panose="02020603050405020304" pitchFamily="18" charset="0"/>
                <a:cs typeface="Times New Roman" panose="02020603050405020304" pitchFamily="18" charset="0"/>
              </a:rPr>
              <a:t>existența unui singur partid </a:t>
            </a:r>
            <a:r>
              <a:rPr lang="vi-VN" sz="2400" dirty="0">
                <a:latin typeface="Times New Roman" panose="02020603050405020304" pitchFamily="18" charset="0"/>
                <a:cs typeface="Times New Roman" panose="02020603050405020304" pitchFamily="18" charset="0"/>
              </a:rPr>
              <a:t>(stat</a:t>
            </a:r>
            <a:r>
              <a:rPr lang="ro-RO" sz="2400" dirty="0">
                <a:latin typeface="Times New Roman" panose="02020603050405020304" pitchFamily="18" charset="0"/>
                <a:cs typeface="Times New Roman" panose="02020603050405020304" pitchFamily="18" charset="0"/>
              </a:rPr>
              <a:t>ul</a:t>
            </a:r>
            <a:r>
              <a:rPr lang="vi-VN" sz="2400" dirty="0">
                <a:latin typeface="Times New Roman" panose="02020603050405020304" pitchFamily="18" charset="0"/>
                <a:cs typeface="Times New Roman" panose="02020603050405020304" pitchFamily="18" charset="0"/>
              </a:rPr>
              <a:t>-partid) care are monopolul </a:t>
            </a:r>
            <a:endParaRPr lang="ro-RO" sz="2400" dirty="0">
              <a:latin typeface="Times New Roman" panose="02020603050405020304" pitchFamily="18" charset="0"/>
              <a:cs typeface="Times New Roman" panose="02020603050405020304" pitchFamily="18" charset="0"/>
            </a:endParaRPr>
          </a:p>
          <a:p>
            <a:pPr marL="0" indent="0" algn="just">
              <a:buNone/>
            </a:pPr>
            <a:r>
              <a:rPr lang="vi-VN" sz="2400" dirty="0">
                <a:latin typeface="Times New Roman" panose="02020603050405020304" pitchFamily="18" charset="0"/>
                <a:cs typeface="Times New Roman" panose="02020603050405020304" pitchFamily="18" charset="0"/>
              </a:rPr>
              <a:t>mijloacelor interne </a:t>
            </a:r>
            <a:r>
              <a:rPr lang="ro-RO" sz="2400" dirty="0">
                <a:latin typeface="Times New Roman" panose="02020603050405020304" pitchFamily="18" charset="0"/>
                <a:cs typeface="Times New Roman" panose="02020603050405020304" pitchFamily="18" charset="0"/>
              </a:rPr>
              <a:t>d</a:t>
            </a:r>
            <a:r>
              <a:rPr lang="vi-VN" sz="2400" dirty="0">
                <a:latin typeface="Times New Roman" panose="02020603050405020304" pitchFamily="18" charset="0"/>
                <a:cs typeface="Times New Roman" panose="02020603050405020304" pitchFamily="18" charset="0"/>
              </a:rPr>
              <a:t>e</a:t>
            </a:r>
            <a:r>
              <a:rPr lang="ro-RO"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comunicare în masă</a:t>
            </a:r>
            <a:r>
              <a:rPr lang="ro-RO"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algn="just"/>
            <a:r>
              <a:rPr lang="vi-VN" sz="2400" dirty="0">
                <a:latin typeface="Times New Roman" panose="02020603050405020304" pitchFamily="18" charset="0"/>
                <a:cs typeface="Times New Roman" panose="02020603050405020304" pitchFamily="18" charset="0"/>
              </a:rPr>
              <a:t>o represiune violentă a opoziției printr-o </a:t>
            </a:r>
            <a:r>
              <a:rPr lang="vi-VN" sz="2400" b="1" i="1" dirty="0">
                <a:latin typeface="Times New Roman" panose="02020603050405020304" pitchFamily="18" charset="0"/>
                <a:cs typeface="Times New Roman" panose="02020603050405020304" pitchFamily="18" charset="0"/>
              </a:rPr>
              <a:t>poliție secretă</a:t>
            </a:r>
            <a:r>
              <a:rPr lang="vi-VN" sz="2400" i="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scopul fiind</a:t>
            </a:r>
            <a:endParaRPr lang="ro-RO" sz="2400" dirty="0">
              <a:latin typeface="Times New Roman" panose="02020603050405020304" pitchFamily="18" charset="0"/>
              <a:cs typeface="Times New Roman" panose="02020603050405020304" pitchFamily="18" charset="0"/>
            </a:endParaRPr>
          </a:p>
          <a:p>
            <a:pPr marL="0" indent="0" algn="just">
              <a:buNone/>
            </a:pPr>
            <a:r>
              <a:rPr lang="ro-RO" sz="2400" dirty="0">
                <a:latin typeface="Times New Roman" panose="02020603050405020304" pitchFamily="18" charset="0"/>
                <a:cs typeface="Times New Roman" panose="02020603050405020304" pitchFamily="18" charset="0"/>
              </a:rPr>
              <a:t>impunerea </a:t>
            </a:r>
            <a:r>
              <a:rPr lang="vi-VN" sz="2400" dirty="0">
                <a:latin typeface="Times New Roman" panose="02020603050405020304" pitchFamily="18" charset="0"/>
                <a:cs typeface="Times New Roman" panose="02020603050405020304" pitchFamily="18" charset="0"/>
              </a:rPr>
              <a:t>Terorii</a:t>
            </a:r>
            <a:r>
              <a:rPr lang="ro-RO"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marL="0" indent="0" algn="just">
              <a:buNone/>
            </a:pPr>
            <a:r>
              <a:rPr lang="ro-RO" sz="2400" dirty="0">
                <a:latin typeface="Times New Roman" panose="02020603050405020304" pitchFamily="18" charset="0"/>
                <a:cs typeface="Times New Roman" panose="02020603050405020304" pitchFamily="18" charset="0"/>
              </a:rPr>
              <a:t>R</a:t>
            </a:r>
            <a:r>
              <a:rPr lang="vi-VN" sz="2400" dirty="0">
                <a:latin typeface="Times New Roman" panose="02020603050405020304" pitchFamily="18" charset="0"/>
                <a:cs typeface="Times New Roman" panose="02020603050405020304" pitchFamily="18" charset="0"/>
              </a:rPr>
              <a:t>egimuri fasciste, nazis</a:t>
            </a:r>
            <a:r>
              <a:rPr lang="ro-RO" sz="2400" dirty="0">
                <a:latin typeface="Times New Roman" panose="02020603050405020304" pitchFamily="18" charset="0"/>
                <a:cs typeface="Times New Roman" panose="02020603050405020304" pitchFamily="18" charset="0"/>
              </a:rPr>
              <a:t>mul </a:t>
            </a:r>
            <a:r>
              <a:rPr lang="vi-VN" sz="2400" dirty="0">
                <a:latin typeface="Times New Roman" panose="02020603050405020304" pitchFamily="18" charset="0"/>
                <a:cs typeface="Times New Roman" panose="02020603050405020304" pitchFamily="18" charset="0"/>
              </a:rPr>
              <a:t>și </a:t>
            </a:r>
            <a:r>
              <a:rPr lang="ro-RO" sz="2400" dirty="0">
                <a:latin typeface="Times New Roman" panose="02020603050405020304" pitchFamily="18" charset="0"/>
                <a:cs typeface="Times New Roman" panose="02020603050405020304" pitchFamily="18" charset="0"/>
              </a:rPr>
              <a:t>cele de tip </a:t>
            </a:r>
            <a:r>
              <a:rPr lang="vi-VN" sz="2400" dirty="0">
                <a:latin typeface="Times New Roman" panose="02020603050405020304" pitchFamily="18" charset="0"/>
                <a:cs typeface="Times New Roman" panose="02020603050405020304" pitchFamily="18" charset="0"/>
              </a:rPr>
              <a:t>sovietic pot fi considerate exemple de regimuri politice totalitare, chiar dacă Arendt consider</a:t>
            </a:r>
            <a:r>
              <a:rPr lang="ro-RO" sz="2400" dirty="0">
                <a:latin typeface="Times New Roman" panose="02020603050405020304" pitchFamily="18" charset="0"/>
                <a:cs typeface="Times New Roman" panose="02020603050405020304" pitchFamily="18" charset="0"/>
              </a:rPr>
              <a:t>a</a:t>
            </a:r>
            <a:r>
              <a:rPr lang="vi-VN" sz="2400" dirty="0">
                <a:latin typeface="Times New Roman" panose="02020603050405020304" pitchFamily="18" charset="0"/>
                <a:cs typeface="Times New Roman" panose="02020603050405020304" pitchFamily="18" charset="0"/>
              </a:rPr>
              <a:t> că Italia fascistă a lui Mussolini </a:t>
            </a:r>
            <a:r>
              <a:rPr lang="ro-RO" sz="2400" dirty="0">
                <a:latin typeface="Times New Roman" panose="02020603050405020304" pitchFamily="18" charset="0"/>
                <a:cs typeface="Times New Roman" panose="02020603050405020304" pitchFamily="18" charset="0"/>
              </a:rPr>
              <a:t>era un </a:t>
            </a:r>
            <a:r>
              <a:rPr lang="vi-VN" sz="2400" dirty="0">
                <a:latin typeface="Times New Roman" panose="02020603050405020304" pitchFamily="18" charset="0"/>
                <a:cs typeface="Times New Roman" panose="02020603050405020304" pitchFamily="18" charset="0"/>
              </a:rPr>
              <a:t>„totalitarism neterminat“</a:t>
            </a:r>
            <a:r>
              <a:rPr lang="ro-RO"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marL="0" indent="0">
              <a:buNone/>
            </a:pPr>
            <a:r>
              <a:rPr lang="vi-VN" sz="1800" dirty="0"/>
              <a:t> </a:t>
            </a:r>
          </a:p>
          <a:p>
            <a:pPr marL="0" indent="0">
              <a:buNone/>
            </a:pPr>
            <a:r>
              <a:rPr lang="vi-VN" sz="1800" dirty="0"/>
              <a:t>  </a:t>
            </a:r>
            <a:endParaRPr lang="ro-RO" sz="1800" dirty="0"/>
          </a:p>
        </p:txBody>
      </p:sp>
    </p:spTree>
    <p:extLst>
      <p:ext uri="{BB962C8B-B14F-4D97-AF65-F5344CB8AC3E}">
        <p14:creationId xmlns:p14="http://schemas.microsoft.com/office/powerpoint/2010/main" val="32526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524000" y="5816"/>
            <a:ext cx="9144000" cy="470857"/>
          </a:xfrm>
        </p:spPr>
        <p:txBody>
          <a:bodyPr>
            <a:normAutofit fontScale="90000"/>
          </a:bodyPr>
          <a:lstStyle/>
          <a:p>
            <a:r>
              <a:rPr lang="ro-RO" b="1" dirty="0">
                <a:latin typeface="Times New Roman" panose="02020603050405020304" pitchFamily="18" charset="0"/>
                <a:cs typeface="Times New Roman" panose="02020603050405020304" pitchFamily="18" charset="0"/>
              </a:rPr>
              <a:t>Tipologii ale regimurilor politice</a:t>
            </a:r>
            <a:endParaRPr lang="ro-RO" dirty="0"/>
          </a:p>
        </p:txBody>
      </p:sp>
      <p:sp>
        <p:nvSpPr>
          <p:cNvPr id="3" name="Substituent conținut 2"/>
          <p:cNvSpPr>
            <a:spLocks noGrp="1"/>
          </p:cNvSpPr>
          <p:nvPr>
            <p:ph idx="1"/>
          </p:nvPr>
        </p:nvSpPr>
        <p:spPr>
          <a:xfrm>
            <a:off x="1524000" y="548680"/>
            <a:ext cx="9115400" cy="6120680"/>
          </a:xfrm>
        </p:spPr>
        <p:txBody>
          <a:bodyPr>
            <a:normAutofit fontScale="25000" lnSpcReduction="20000"/>
          </a:bodyPr>
          <a:lstStyle/>
          <a:p>
            <a:pPr marL="0" indent="0">
              <a:buNone/>
            </a:pPr>
            <a:r>
              <a:rPr lang="vi-VN" sz="9600" b="1" dirty="0">
                <a:latin typeface="Times New Roman" panose="02020603050405020304" pitchFamily="18" charset="0"/>
                <a:cs typeface="Times New Roman" panose="02020603050405020304" pitchFamily="18" charset="0"/>
              </a:rPr>
              <a:t>Regim autoritar</a:t>
            </a:r>
          </a:p>
          <a:p>
            <a:pPr marL="0" indent="0">
              <a:buNone/>
            </a:pPr>
            <a:r>
              <a:rPr lang="vi-VN" sz="8800" dirty="0">
                <a:latin typeface="Times New Roman" panose="02020603050405020304" pitchFamily="18" charset="0"/>
                <a:cs typeface="Times New Roman" panose="02020603050405020304" pitchFamily="18" charset="0"/>
              </a:rPr>
              <a:t>În anii '60, au apărut unele regimuri, în special în Chile (dictatura) și Spania (regimul Franco), pe care nu </a:t>
            </a:r>
            <a:r>
              <a:rPr lang="ro-RO" sz="8800" dirty="0">
                <a:latin typeface="Times New Roman" panose="02020603050405020304" pitchFamily="18" charset="0"/>
                <a:cs typeface="Times New Roman" panose="02020603050405020304" pitchFamily="18" charset="0"/>
              </a:rPr>
              <a:t>puteau fi clasificate ca </a:t>
            </a:r>
            <a:r>
              <a:rPr lang="vi-VN" sz="8800" dirty="0">
                <a:latin typeface="Times New Roman" panose="02020603050405020304" pitchFamily="18" charset="0"/>
                <a:cs typeface="Times New Roman" panose="02020603050405020304" pitchFamily="18" charset="0"/>
              </a:rPr>
              <a:t>regim</a:t>
            </a:r>
            <a:r>
              <a:rPr lang="ro-RO" sz="8800" dirty="0">
                <a:latin typeface="Times New Roman" panose="02020603050405020304" pitchFamily="18" charset="0"/>
                <a:cs typeface="Times New Roman" panose="02020603050405020304" pitchFamily="18" charset="0"/>
              </a:rPr>
              <a:t>uri</a:t>
            </a:r>
            <a:r>
              <a:rPr lang="vi-VN" sz="8800" dirty="0">
                <a:latin typeface="Times New Roman" panose="02020603050405020304" pitchFamily="18" charset="0"/>
                <a:cs typeface="Times New Roman" panose="02020603050405020304" pitchFamily="18" charset="0"/>
              </a:rPr>
              <a:t> totalitar</a:t>
            </a:r>
            <a:r>
              <a:rPr lang="ro-RO" sz="8800" dirty="0">
                <a:latin typeface="Times New Roman" panose="02020603050405020304" pitchFamily="18" charset="0"/>
                <a:cs typeface="Times New Roman" panose="02020603050405020304" pitchFamily="18" charset="0"/>
              </a:rPr>
              <a:t>e, d</a:t>
            </a:r>
            <a:r>
              <a:rPr lang="vi-VN" sz="8800" dirty="0">
                <a:latin typeface="Times New Roman" panose="02020603050405020304" pitchFamily="18" charset="0"/>
                <a:cs typeface="Times New Roman" panose="02020603050405020304" pitchFamily="18" charset="0"/>
              </a:rPr>
              <a:t>ar </a:t>
            </a:r>
            <a:r>
              <a:rPr lang="ro-RO" sz="8800" dirty="0">
                <a:latin typeface="Times New Roman" panose="02020603050405020304" pitchFamily="18" charset="0"/>
                <a:cs typeface="Times New Roman" panose="02020603050405020304" pitchFamily="18" charset="0"/>
              </a:rPr>
              <a:t>nici drept </a:t>
            </a:r>
            <a:r>
              <a:rPr lang="vi-VN" sz="8800" dirty="0">
                <a:latin typeface="Times New Roman" panose="02020603050405020304" pitchFamily="18" charset="0"/>
                <a:cs typeface="Times New Roman" panose="02020603050405020304" pitchFamily="18" charset="0"/>
              </a:rPr>
              <a:t>democrații liberale. </a:t>
            </a:r>
            <a:endParaRPr lang="ro-RO" sz="8800" dirty="0">
              <a:latin typeface="Times New Roman" panose="02020603050405020304" pitchFamily="18" charset="0"/>
              <a:cs typeface="Times New Roman" panose="02020603050405020304" pitchFamily="18" charset="0"/>
            </a:endParaRPr>
          </a:p>
          <a:p>
            <a:pPr marL="0" indent="0">
              <a:buNone/>
            </a:pPr>
            <a:r>
              <a:rPr lang="ro-RO" sz="8800" dirty="0">
                <a:latin typeface="Times New Roman" panose="02020603050405020304" pitchFamily="18" charset="0"/>
                <a:cs typeface="Times New Roman" panose="02020603050405020304" pitchFamily="18" charset="0"/>
              </a:rPr>
              <a:t>În aceste condiții, ș</a:t>
            </a:r>
            <a:r>
              <a:rPr lang="vi-VN" sz="8800" dirty="0">
                <a:latin typeface="Times New Roman" panose="02020603050405020304" pitchFamily="18" charset="0"/>
                <a:cs typeface="Times New Roman" panose="02020603050405020304" pitchFamily="18" charset="0"/>
              </a:rPr>
              <a:t>tiinț</a:t>
            </a:r>
            <a:r>
              <a:rPr lang="ro-RO" sz="8800" dirty="0">
                <a:latin typeface="Times New Roman" panose="02020603050405020304" pitchFamily="18" charset="0"/>
                <a:cs typeface="Times New Roman" panose="02020603050405020304" pitchFamily="18" charset="0"/>
              </a:rPr>
              <a:t>a </a:t>
            </a:r>
            <a:r>
              <a:rPr lang="vi-VN" sz="8800" dirty="0">
                <a:latin typeface="Times New Roman" panose="02020603050405020304" pitchFamily="18" charset="0"/>
                <a:cs typeface="Times New Roman" panose="02020603050405020304" pitchFamily="18" charset="0"/>
              </a:rPr>
              <a:t>politic</a:t>
            </a:r>
            <a:r>
              <a:rPr lang="ro-RO" sz="8800" dirty="0">
                <a:latin typeface="Times New Roman" panose="02020603050405020304" pitchFamily="18" charset="0"/>
                <a:cs typeface="Times New Roman" panose="02020603050405020304" pitchFamily="18" charset="0"/>
              </a:rPr>
              <a:t>ă</a:t>
            </a:r>
            <a:r>
              <a:rPr lang="vi-VN" sz="8800" dirty="0">
                <a:latin typeface="Times New Roman" panose="02020603050405020304" pitchFamily="18" charset="0"/>
                <a:cs typeface="Times New Roman" panose="02020603050405020304" pitchFamily="18" charset="0"/>
              </a:rPr>
              <a:t> a stabilit, prin urmare, </a:t>
            </a:r>
            <a:r>
              <a:rPr lang="vi-VN" sz="8800" i="1" dirty="0">
                <a:latin typeface="Times New Roman" panose="02020603050405020304" pitchFamily="18" charset="0"/>
                <a:cs typeface="Times New Roman" panose="02020603050405020304" pitchFamily="18" charset="0"/>
              </a:rPr>
              <a:t>o categorie intermediară.</a:t>
            </a:r>
          </a:p>
          <a:p>
            <a:pPr marL="0" indent="0">
              <a:buNone/>
            </a:pPr>
            <a:r>
              <a:rPr lang="vi-VN" sz="8800" dirty="0">
                <a:latin typeface="Times New Roman" panose="02020603050405020304" pitchFamily="18" charset="0"/>
                <a:cs typeface="Times New Roman" panose="02020603050405020304" pitchFamily="18" charset="0"/>
              </a:rPr>
              <a:t>Diferențele cu regimurile totalitare sunt:</a:t>
            </a:r>
          </a:p>
          <a:p>
            <a:r>
              <a:rPr lang="vi-VN" sz="8800" dirty="0">
                <a:latin typeface="Times New Roman" panose="02020603050405020304" pitchFamily="18" charset="0"/>
                <a:cs typeface="Times New Roman" panose="02020603050405020304" pitchFamily="18" charset="0"/>
              </a:rPr>
              <a:t> absența ideologiei totalitare </a:t>
            </a:r>
            <a:r>
              <a:rPr lang="ro-RO" sz="8800" dirty="0">
                <a:latin typeface="Times New Roman" panose="02020603050405020304" pitchFamily="18" charset="0"/>
                <a:cs typeface="Times New Roman" panose="02020603050405020304" pitchFamily="18" charset="0"/>
              </a:rPr>
              <a:t>;</a:t>
            </a:r>
          </a:p>
          <a:p>
            <a:r>
              <a:rPr lang="vi-VN" sz="8800" dirty="0">
                <a:latin typeface="Times New Roman" panose="02020603050405020304" pitchFamily="18" charset="0"/>
                <a:cs typeface="Times New Roman" panose="02020603050405020304" pitchFamily="18" charset="0"/>
              </a:rPr>
              <a:t> </a:t>
            </a:r>
            <a:r>
              <a:rPr lang="ro-RO" sz="8800" dirty="0">
                <a:latin typeface="Times New Roman" panose="02020603050405020304" pitchFamily="18" charset="0"/>
                <a:cs typeface="Times New Roman" panose="02020603050405020304" pitchFamily="18" charset="0"/>
              </a:rPr>
              <a:t>influența unor instituții </a:t>
            </a:r>
            <a:r>
              <a:rPr lang="vi-VN" sz="8800" dirty="0">
                <a:latin typeface="Times New Roman" panose="02020603050405020304" pitchFamily="18" charset="0"/>
                <a:cs typeface="Times New Roman" panose="02020603050405020304" pitchFamily="18" charset="0"/>
              </a:rPr>
              <a:t>externe partid</a:t>
            </a:r>
            <a:r>
              <a:rPr lang="ro-RO" sz="8800" dirty="0">
                <a:latin typeface="Times New Roman" panose="02020603050405020304" pitchFamily="18" charset="0"/>
                <a:cs typeface="Times New Roman" panose="02020603050405020304" pitchFamily="18" charset="0"/>
              </a:rPr>
              <a:t>ului</a:t>
            </a:r>
            <a:r>
              <a:rPr lang="vi-VN" sz="8800" dirty="0">
                <a:latin typeface="Times New Roman" panose="02020603050405020304" pitchFamily="18" charset="0"/>
                <a:cs typeface="Times New Roman" panose="02020603050405020304" pitchFamily="18" charset="0"/>
              </a:rPr>
              <a:t>: Biserica, armata, angajatorii, birocrația </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r>
              <a:rPr lang="vi-VN" sz="8800" dirty="0">
                <a:latin typeface="Times New Roman" panose="02020603050405020304" pitchFamily="18" charset="0"/>
                <a:cs typeface="Times New Roman" panose="02020603050405020304" pitchFamily="18" charset="0"/>
              </a:rPr>
              <a:t>independența anumitor părți ale vieții sociale și economice, care nu </a:t>
            </a:r>
            <a:endParaRPr lang="ro-RO" sz="8800" dirty="0">
              <a:latin typeface="Times New Roman" panose="02020603050405020304" pitchFamily="18" charset="0"/>
              <a:cs typeface="Times New Roman" panose="02020603050405020304" pitchFamily="18" charset="0"/>
            </a:endParaRPr>
          </a:p>
          <a:p>
            <a:pPr marL="0" indent="0">
              <a:buNone/>
            </a:pPr>
            <a:r>
              <a:rPr lang="vi-VN" sz="8800" dirty="0">
                <a:latin typeface="Times New Roman" panose="02020603050405020304" pitchFamily="18" charset="0"/>
                <a:cs typeface="Times New Roman" panose="02020603050405020304" pitchFamily="18" charset="0"/>
              </a:rPr>
              <a:t>este complet controlată de putere</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r>
              <a:rPr lang="vi-VN" sz="8800" dirty="0">
                <a:latin typeface="Times New Roman" panose="02020603050405020304" pitchFamily="18" charset="0"/>
                <a:cs typeface="Times New Roman" panose="02020603050405020304" pitchFamily="18" charset="0"/>
              </a:rPr>
              <a:t>caracterul mai puțin sistematic al exterminării violente a adversarilor</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pPr marL="0" indent="0">
              <a:buNone/>
            </a:pPr>
            <a:r>
              <a:rPr lang="vi-VN" sz="8800" dirty="0">
                <a:latin typeface="Times New Roman" panose="02020603050405020304" pitchFamily="18" charset="0"/>
                <a:cs typeface="Times New Roman" panose="02020603050405020304" pitchFamily="18" charset="0"/>
              </a:rPr>
              <a:t>Diferențele cu democrațiile liberale sunt:</a:t>
            </a:r>
          </a:p>
          <a:p>
            <a:r>
              <a:rPr lang="vi-VN" sz="8800" dirty="0">
                <a:latin typeface="Times New Roman" panose="02020603050405020304" pitchFamily="18" charset="0"/>
                <a:cs typeface="Times New Roman" panose="02020603050405020304" pitchFamily="18" charset="0"/>
              </a:rPr>
              <a:t>    lipsa alegerilor </a:t>
            </a:r>
            <a:r>
              <a:rPr lang="ro-RO" sz="8800" dirty="0">
                <a:latin typeface="Times New Roman" panose="02020603050405020304" pitchFamily="18" charset="0"/>
                <a:cs typeface="Times New Roman" panose="02020603050405020304" pitchFamily="18" charset="0"/>
              </a:rPr>
              <a:t>libere;</a:t>
            </a:r>
          </a:p>
          <a:p>
            <a:r>
              <a:rPr lang="vi-VN" sz="8800" dirty="0">
                <a:latin typeface="Times New Roman" panose="02020603050405020304" pitchFamily="18" charset="0"/>
                <a:cs typeface="Times New Roman" panose="02020603050405020304" pitchFamily="18" charset="0"/>
              </a:rPr>
              <a:t>    refuzul </a:t>
            </a:r>
            <a:r>
              <a:rPr lang="ro-RO" sz="8800" dirty="0">
                <a:latin typeface="Times New Roman" panose="02020603050405020304" pitchFamily="18" charset="0"/>
                <a:cs typeface="Times New Roman" panose="02020603050405020304" pitchFamily="18" charset="0"/>
              </a:rPr>
              <a:t>alternanței </a:t>
            </a:r>
            <a:r>
              <a:rPr lang="vi-VN" sz="8800" dirty="0">
                <a:latin typeface="Times New Roman" panose="02020603050405020304" pitchFamily="18" charset="0"/>
                <a:cs typeface="Times New Roman" panose="02020603050405020304" pitchFamily="18" charset="0"/>
              </a:rPr>
              <a:t>la putere</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r>
              <a:rPr lang="vi-VN" sz="8800" dirty="0">
                <a:latin typeface="Times New Roman" panose="02020603050405020304" pitchFamily="18" charset="0"/>
                <a:cs typeface="Times New Roman" panose="02020603050405020304" pitchFamily="18" charset="0"/>
              </a:rPr>
              <a:t>    lipsa pluralismului politic</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r>
              <a:rPr lang="vi-VN" sz="8800" dirty="0">
                <a:latin typeface="Times New Roman" panose="02020603050405020304" pitchFamily="18" charset="0"/>
                <a:cs typeface="Times New Roman" panose="02020603050405020304" pitchFamily="18" charset="0"/>
              </a:rPr>
              <a:t>    limitarea libertăților civile</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r>
              <a:rPr lang="vi-VN" sz="8800" dirty="0">
                <a:latin typeface="Times New Roman" panose="02020603050405020304" pitchFamily="18" charset="0"/>
                <a:cs typeface="Times New Roman" panose="02020603050405020304" pitchFamily="18" charset="0"/>
              </a:rPr>
              <a:t>    nerespectarea statului de drept</a:t>
            </a:r>
            <a:r>
              <a:rPr lang="ro-RO" sz="8800" dirty="0">
                <a:latin typeface="Times New Roman" panose="02020603050405020304" pitchFamily="18" charset="0"/>
                <a:cs typeface="Times New Roman" panose="02020603050405020304" pitchFamily="18" charset="0"/>
              </a:rPr>
              <a:t>.</a:t>
            </a:r>
            <a:endParaRPr lang="vi-VN" sz="8800" dirty="0">
              <a:latin typeface="Times New Roman" panose="02020603050405020304" pitchFamily="18" charset="0"/>
              <a:cs typeface="Times New Roman" panose="02020603050405020304" pitchFamily="18" charset="0"/>
            </a:endParaRPr>
          </a:p>
          <a:p>
            <a:endParaRPr lang="ro-RO" dirty="0"/>
          </a:p>
        </p:txBody>
      </p:sp>
    </p:spTree>
    <p:extLst>
      <p:ext uri="{BB962C8B-B14F-4D97-AF65-F5344CB8AC3E}">
        <p14:creationId xmlns:p14="http://schemas.microsoft.com/office/powerpoint/2010/main" val="1670554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919536" y="0"/>
            <a:ext cx="8229600" cy="908720"/>
          </a:xfrm>
        </p:spPr>
        <p:txBody>
          <a:bodyPr/>
          <a:lstStyle/>
          <a:p>
            <a:r>
              <a:rPr lang="ro-RO" b="1" dirty="0">
                <a:latin typeface="Times New Roman" panose="02020603050405020304" pitchFamily="18" charset="0"/>
                <a:cs typeface="Times New Roman" panose="02020603050405020304" pitchFamily="18" charset="0"/>
              </a:rPr>
              <a:t>Tipologii ale regimurilor politice</a:t>
            </a:r>
            <a:endParaRPr lang="ro-RO" dirty="0"/>
          </a:p>
        </p:txBody>
      </p:sp>
      <p:sp>
        <p:nvSpPr>
          <p:cNvPr id="3" name="Substituent conținut 2"/>
          <p:cNvSpPr>
            <a:spLocks noGrp="1"/>
          </p:cNvSpPr>
          <p:nvPr>
            <p:ph idx="1"/>
          </p:nvPr>
        </p:nvSpPr>
        <p:spPr>
          <a:xfrm>
            <a:off x="1703512" y="764704"/>
            <a:ext cx="8784976" cy="5904656"/>
          </a:xfrm>
        </p:spPr>
        <p:txBody>
          <a:bodyPr>
            <a:noAutofit/>
          </a:bodyPr>
          <a:lstStyle/>
          <a:p>
            <a:pPr marL="0" indent="0">
              <a:buNone/>
            </a:pPr>
            <a:r>
              <a:rPr lang="vi-VN" sz="2000" b="1" dirty="0">
                <a:latin typeface="Times New Roman" panose="02020603050405020304" pitchFamily="18" charset="0"/>
                <a:cs typeface="Times New Roman" panose="02020603050405020304" pitchFamily="18" charset="0"/>
              </a:rPr>
              <a:t>Democrațiile liberale</a:t>
            </a:r>
          </a:p>
          <a:p>
            <a:pPr marL="0" indent="0">
              <a:buNone/>
            </a:pPr>
            <a:r>
              <a:rPr lang="vi-VN" sz="2000" dirty="0">
                <a:latin typeface="Times New Roman" panose="02020603050405020304" pitchFamily="18" charset="0"/>
                <a:cs typeface="Times New Roman" panose="02020603050405020304" pitchFamily="18" charset="0"/>
              </a:rPr>
              <a:t>Principalele caracteristici ale acestui tip de </a:t>
            </a:r>
            <a:r>
              <a:rPr lang="ro-RO" sz="2000" dirty="0">
                <a:latin typeface="Times New Roman" panose="02020603050405020304" pitchFamily="18" charset="0"/>
                <a:cs typeface="Times New Roman" panose="02020603050405020304" pitchFamily="18" charset="0"/>
              </a:rPr>
              <a:t>regim </a:t>
            </a:r>
            <a:r>
              <a:rPr lang="vi-VN" sz="2000" dirty="0">
                <a:latin typeface="Times New Roman" panose="02020603050405020304" pitchFamily="18" charset="0"/>
                <a:cs typeface="Times New Roman" panose="02020603050405020304" pitchFamily="18" charset="0"/>
              </a:rPr>
              <a:t>sunt:</a:t>
            </a:r>
          </a:p>
          <a:p>
            <a:pPr algn="just"/>
            <a:r>
              <a:rPr lang="ro-RO" sz="2000" b="1" dirty="0">
                <a:latin typeface="Times New Roman" panose="02020603050405020304" pitchFamily="18" charset="0"/>
                <a:cs typeface="Times New Roman" panose="02020603050405020304" pitchFamily="18" charset="0"/>
              </a:rPr>
              <a:t>Competiția </a:t>
            </a:r>
            <a:r>
              <a:rPr lang="vi-VN" sz="2000" b="1" dirty="0">
                <a:latin typeface="Times New Roman" panose="02020603050405020304" pitchFamily="18" charset="0"/>
                <a:cs typeface="Times New Roman" panose="02020603050405020304" pitchFamily="18" charset="0"/>
              </a:rPr>
              <a:t>electoral</a:t>
            </a:r>
            <a:r>
              <a:rPr lang="ro-RO" sz="2000" b="1" dirty="0">
                <a:latin typeface="Times New Roman" panose="02020603050405020304" pitchFamily="18" charset="0"/>
                <a:cs typeface="Times New Roman" panose="02020603050405020304" pitchFamily="18" charset="0"/>
              </a:rPr>
              <a:t>ă</a:t>
            </a:r>
            <a:r>
              <a:rPr lang="vi-VN" sz="2000" dirty="0">
                <a:latin typeface="Times New Roman" panose="02020603050405020304" pitchFamily="18" charset="0"/>
                <a:cs typeface="Times New Roman" panose="02020603050405020304" pitchFamily="18" charset="0"/>
              </a:rPr>
              <a:t>: alegerile regulate, </a:t>
            </a:r>
            <a:r>
              <a:rPr lang="ro-RO" sz="2000" dirty="0">
                <a:latin typeface="Times New Roman" panose="02020603050405020304" pitchFamily="18" charset="0"/>
                <a:cs typeface="Times New Roman" panose="02020603050405020304" pitchFamily="18" charset="0"/>
              </a:rPr>
              <a:t>realizate </a:t>
            </a:r>
            <a:r>
              <a:rPr lang="vi-VN" sz="2000" dirty="0">
                <a:latin typeface="Times New Roman" panose="02020603050405020304" pitchFamily="18" charset="0"/>
                <a:cs typeface="Times New Roman" panose="02020603050405020304" pitchFamily="18" charset="0"/>
              </a:rPr>
              <a:t>prin sufragiu universal și</a:t>
            </a:r>
            <a:r>
              <a:rPr lang="ro-RO" sz="2000" dirty="0">
                <a:latin typeface="Times New Roman" panose="02020603050405020304" pitchFamily="18" charset="0"/>
                <a:cs typeface="Times New Roman" panose="02020603050405020304" pitchFamily="18" charset="0"/>
              </a:rPr>
              <a:t> prin </a:t>
            </a:r>
          </a:p>
          <a:p>
            <a:pPr marL="0" indent="0">
              <a:buNone/>
            </a:pPr>
            <a:r>
              <a:rPr lang="ro-RO" sz="2000" dirty="0">
                <a:latin typeface="Times New Roman" panose="02020603050405020304" pitchFamily="18" charset="0"/>
                <a:cs typeface="Times New Roman" panose="02020603050405020304" pitchFamily="18" charset="0"/>
              </a:rPr>
              <a:t>care se  manifestă </a:t>
            </a:r>
            <a:r>
              <a:rPr lang="vi-VN" sz="2000" dirty="0">
                <a:latin typeface="Times New Roman" panose="02020603050405020304" pitchFamily="18" charset="0"/>
                <a:cs typeface="Times New Roman" panose="02020603050405020304" pitchFamily="18" charset="0"/>
              </a:rPr>
              <a:t>pluralismul politic</a:t>
            </a:r>
            <a:r>
              <a:rPr lang="ro-RO"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pPr algn="just"/>
            <a:r>
              <a:rPr lang="vi-VN" sz="2000" b="1" dirty="0">
                <a:latin typeface="Times New Roman" panose="02020603050405020304" pitchFamily="18" charset="0"/>
                <a:cs typeface="Times New Roman" panose="02020603050405020304" pitchFamily="18" charset="0"/>
              </a:rPr>
              <a:t>Statul de drept</a:t>
            </a:r>
            <a:r>
              <a:rPr lang="vi-VN" sz="2000" dirty="0">
                <a:latin typeface="Times New Roman" panose="02020603050405020304" pitchFamily="18" charset="0"/>
                <a:cs typeface="Times New Roman" panose="02020603050405020304" pitchFamily="18" charset="0"/>
              </a:rPr>
              <a:t>: libertățile fundamentale sunt garantate, există o </a:t>
            </a:r>
            <a:endParaRPr lang="ro-RO" sz="2000" dirty="0">
              <a:latin typeface="Times New Roman" panose="02020603050405020304" pitchFamily="18" charset="0"/>
              <a:cs typeface="Times New Roman" panose="02020603050405020304" pitchFamily="18" charset="0"/>
            </a:endParaRPr>
          </a:p>
          <a:p>
            <a:pPr marL="0" indent="0" algn="just">
              <a:buNone/>
            </a:pPr>
            <a:r>
              <a:rPr lang="vi-VN" sz="2000" dirty="0">
                <a:latin typeface="Times New Roman" panose="02020603050405020304" pitchFamily="18" charset="0"/>
                <a:cs typeface="Times New Roman" panose="02020603050405020304" pitchFamily="18" charset="0"/>
              </a:rPr>
              <a:t>constituție care definește puterile diferitelor ramuri ale statului, există o separare între sfera publică și sfera privată</a:t>
            </a:r>
            <a:r>
              <a:rPr lang="ro-RO"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 </a:t>
            </a:r>
            <a:r>
              <a:rPr lang="ro-RO" sz="2000" b="1" dirty="0">
                <a:latin typeface="Times New Roman" panose="02020603050405020304" pitchFamily="18" charset="0"/>
                <a:cs typeface="Times New Roman" panose="02020603050405020304" pitchFamily="18" charset="0"/>
              </a:rPr>
              <a:t>Î</a:t>
            </a:r>
            <a:r>
              <a:rPr lang="vi-VN" sz="2000" b="1" dirty="0">
                <a:latin typeface="Times New Roman" panose="02020603050405020304" pitchFamily="18" charset="0"/>
                <a:cs typeface="Times New Roman" panose="02020603050405020304" pitchFamily="18" charset="0"/>
              </a:rPr>
              <a:t>mpărțirea în trei puteri separate</a:t>
            </a:r>
            <a:r>
              <a:rPr lang="vi-VN" sz="2000" dirty="0">
                <a:latin typeface="Times New Roman" panose="02020603050405020304" pitchFamily="18" charset="0"/>
                <a:cs typeface="Times New Roman" panose="02020603050405020304" pitchFamily="18" charset="0"/>
              </a:rPr>
              <a:t>: legislativul, executivul și </a:t>
            </a:r>
            <a:endParaRPr lang="ro-RO" sz="2000" dirty="0">
              <a:latin typeface="Times New Roman" panose="02020603050405020304" pitchFamily="18" charset="0"/>
              <a:cs typeface="Times New Roman" panose="02020603050405020304" pitchFamily="18" charset="0"/>
            </a:endParaRPr>
          </a:p>
          <a:p>
            <a:pPr marL="0" indent="0">
              <a:buNone/>
            </a:pPr>
            <a:r>
              <a:rPr lang="vi-VN" sz="2000" dirty="0">
                <a:latin typeface="Times New Roman" panose="02020603050405020304" pitchFamily="18" charset="0"/>
                <a:cs typeface="Times New Roman" panose="02020603050405020304" pitchFamily="18" charset="0"/>
              </a:rPr>
              <a:t>sistemul judiciar sunt separate și se controlează reciproc</a:t>
            </a:r>
            <a:r>
              <a:rPr lang="ro-RO"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r>
              <a:rPr lang="ro-RO" sz="2000" b="1" dirty="0">
                <a:latin typeface="Times New Roman" panose="02020603050405020304" pitchFamily="18" charset="0"/>
                <a:cs typeface="Times New Roman" panose="02020603050405020304" pitchFamily="18" charset="0"/>
              </a:rPr>
              <a:t>G</a:t>
            </a:r>
            <a:r>
              <a:rPr lang="vi-VN" sz="2000" b="1" dirty="0">
                <a:latin typeface="Times New Roman" panose="02020603050405020304" pitchFamily="18" charset="0"/>
                <a:cs typeface="Times New Roman" panose="02020603050405020304" pitchFamily="18" charset="0"/>
              </a:rPr>
              <a:t>uvernul majoritar</a:t>
            </a:r>
            <a:r>
              <a:rPr lang="vi-VN" sz="2000" dirty="0">
                <a:latin typeface="Times New Roman" panose="02020603050405020304" pitchFamily="18" charset="0"/>
                <a:cs typeface="Times New Roman" panose="02020603050405020304" pitchFamily="18" charset="0"/>
              </a:rPr>
              <a:t>: majoritatea </a:t>
            </a:r>
            <a:r>
              <a:rPr lang="ro-RO" sz="2000" dirty="0">
                <a:latin typeface="Times New Roman" panose="02020603050405020304" pitchFamily="18" charset="0"/>
                <a:cs typeface="Times New Roman" panose="02020603050405020304" pitchFamily="18" charset="0"/>
              </a:rPr>
              <a:t>conduce</a:t>
            </a:r>
            <a:r>
              <a:rPr lang="vi-VN" sz="2000" dirty="0">
                <a:latin typeface="Times New Roman" panose="02020603050405020304" pitchFamily="18" charset="0"/>
                <a:cs typeface="Times New Roman" panose="02020603050405020304" pitchFamily="18" charset="0"/>
              </a:rPr>
              <a:t>, </a:t>
            </a:r>
            <a:r>
              <a:rPr lang="ro-RO" sz="2000" dirty="0">
                <a:latin typeface="Times New Roman" panose="02020603050405020304" pitchFamily="18" charset="0"/>
                <a:cs typeface="Times New Roman" panose="02020603050405020304" pitchFamily="18" charset="0"/>
              </a:rPr>
              <a:t>dar protejează </a:t>
            </a:r>
            <a:r>
              <a:rPr lang="vi-VN" sz="2000" dirty="0">
                <a:latin typeface="Times New Roman" panose="02020603050405020304" pitchFamily="18" charset="0"/>
                <a:cs typeface="Times New Roman" panose="02020603050405020304" pitchFamily="18" charset="0"/>
              </a:rPr>
              <a:t>opoziți</a:t>
            </a:r>
            <a:r>
              <a:rPr lang="ro-RO" sz="2000" dirty="0">
                <a:latin typeface="Times New Roman" panose="02020603050405020304" pitchFamily="18" charset="0"/>
                <a:cs typeface="Times New Roman" panose="02020603050405020304" pitchFamily="18" charset="0"/>
              </a:rPr>
              <a:t>a</a:t>
            </a:r>
            <a:r>
              <a:rPr lang="vi-VN" sz="2000" dirty="0">
                <a:latin typeface="Times New Roman" panose="02020603050405020304" pitchFamily="18" charset="0"/>
                <a:cs typeface="Times New Roman" panose="02020603050405020304" pitchFamily="18" charset="0"/>
              </a:rPr>
              <a:t> </a:t>
            </a:r>
            <a:endParaRPr lang="ro-RO" sz="2000" dirty="0">
              <a:latin typeface="Times New Roman" panose="02020603050405020304" pitchFamily="18" charset="0"/>
              <a:cs typeface="Times New Roman" panose="02020603050405020304" pitchFamily="18" charset="0"/>
            </a:endParaRPr>
          </a:p>
          <a:p>
            <a:pPr marL="0" indent="0">
              <a:buNone/>
            </a:pPr>
            <a:r>
              <a:rPr lang="vi-VN" sz="2000" dirty="0">
                <a:latin typeface="Times New Roman" panose="02020603050405020304" pitchFamily="18" charset="0"/>
                <a:cs typeface="Times New Roman" panose="02020603050405020304" pitchFamily="18" charset="0"/>
              </a:rPr>
              <a:t>(minorități</a:t>
            </a:r>
            <a:r>
              <a:rPr lang="ro-RO" sz="2000" dirty="0">
                <a:latin typeface="Times New Roman" panose="02020603050405020304" pitchFamily="18" charset="0"/>
                <a:cs typeface="Times New Roman" panose="02020603050405020304" pitchFamily="18" charset="0"/>
              </a:rPr>
              <a:t>le</a:t>
            </a:r>
            <a:r>
              <a:rPr lang="vi-VN" sz="2000" dirty="0">
                <a:latin typeface="Times New Roman" panose="02020603050405020304" pitchFamily="18" charset="0"/>
                <a:cs typeface="Times New Roman" panose="02020603050405020304" pitchFamily="18" charset="0"/>
              </a:rPr>
              <a:t>)</a:t>
            </a:r>
            <a:r>
              <a:rPr lang="ro-RO" sz="2000" dirty="0">
                <a:latin typeface="Times New Roman" panose="02020603050405020304" pitchFamily="18" charset="0"/>
                <a:cs typeface="Times New Roman" panose="02020603050405020304" pitchFamily="18" charset="0"/>
              </a:rPr>
              <a:t>, iar  </a:t>
            </a:r>
            <a:r>
              <a:rPr lang="vi-VN" sz="2000" dirty="0">
                <a:latin typeface="Times New Roman" panose="02020603050405020304" pitchFamily="18" charset="0"/>
                <a:cs typeface="Times New Roman" panose="02020603050405020304" pitchFamily="18" charset="0"/>
              </a:rPr>
              <a:t>alternanța este posibilă</a:t>
            </a:r>
            <a:r>
              <a:rPr lang="ro-RO"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pPr algn="just"/>
            <a:r>
              <a:rPr lang="ro-RO" sz="2000" b="1" dirty="0">
                <a:latin typeface="Times New Roman" panose="02020603050405020304" pitchFamily="18" charset="0"/>
                <a:cs typeface="Times New Roman" panose="02020603050405020304" pitchFamily="18" charset="0"/>
              </a:rPr>
              <a:t>S</a:t>
            </a:r>
            <a:r>
              <a:rPr lang="vi-VN" sz="2000" b="1" dirty="0">
                <a:latin typeface="Times New Roman" panose="02020603050405020304" pitchFamily="18" charset="0"/>
                <a:cs typeface="Times New Roman" panose="02020603050405020304" pitchFamily="18" charset="0"/>
              </a:rPr>
              <a:t>epararea dintre biserică și stat</a:t>
            </a:r>
            <a:r>
              <a:rPr lang="vi-VN" sz="2000" dirty="0">
                <a:latin typeface="Times New Roman" panose="02020603050405020304" pitchFamily="18" charset="0"/>
                <a:cs typeface="Times New Roman" panose="02020603050405020304" pitchFamily="18" charset="0"/>
              </a:rPr>
              <a:t>: neutralitatea denominațională a </a:t>
            </a:r>
            <a:endParaRPr lang="ro-RO" sz="2000" dirty="0">
              <a:latin typeface="Times New Roman" panose="02020603050405020304" pitchFamily="18" charset="0"/>
              <a:cs typeface="Times New Roman" panose="02020603050405020304" pitchFamily="18" charset="0"/>
            </a:endParaRPr>
          </a:p>
          <a:p>
            <a:pPr marL="0" indent="0" algn="just">
              <a:buNone/>
            </a:pPr>
            <a:r>
              <a:rPr lang="vi-VN" sz="2000" dirty="0">
                <a:latin typeface="Times New Roman" panose="02020603050405020304" pitchFamily="18" charset="0"/>
                <a:cs typeface="Times New Roman" panose="02020603050405020304" pitchFamily="18" charset="0"/>
              </a:rPr>
              <a:t>statului, </a:t>
            </a:r>
            <a:r>
              <a:rPr lang="ro-RO"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tratamentul egal al diferitelor regimuri religioase, lipsa deplină a statului în ceea ce privește costurile și activitățile cultelor religioase.</a:t>
            </a:r>
          </a:p>
        </p:txBody>
      </p:sp>
    </p:spTree>
    <p:extLst>
      <p:ext uri="{BB962C8B-B14F-4D97-AF65-F5344CB8AC3E}">
        <p14:creationId xmlns:p14="http://schemas.microsoft.com/office/powerpoint/2010/main" val="2674779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a:normAutofit/>
          </a:bodyPr>
          <a:lstStyle/>
          <a:p>
            <a:r>
              <a:rPr lang="ro-RO" b="1" dirty="0">
                <a:latin typeface="Times New Roman" panose="02020603050405020304" pitchFamily="18" charset="0"/>
                <a:cs typeface="Times New Roman" panose="02020603050405020304" pitchFamily="18" charset="0"/>
              </a:rPr>
              <a:t>Clasificarea regimurilor politice la Aristotel </a:t>
            </a:r>
          </a:p>
        </p:txBody>
      </p:sp>
      <p:graphicFrame>
        <p:nvGraphicFramePr>
          <p:cNvPr id="4" name="Tabel 4">
            <a:extLst>
              <a:ext uri="{FF2B5EF4-FFF2-40B4-BE49-F238E27FC236}">
                <a16:creationId xmlns:a16="http://schemas.microsoft.com/office/drawing/2014/main" id="{01C997AA-D740-4648-832A-064086F6C259}"/>
              </a:ext>
            </a:extLst>
          </p:cNvPr>
          <p:cNvGraphicFramePr>
            <a:graphicFrameLocks noGrp="1"/>
          </p:cNvGraphicFramePr>
          <p:nvPr>
            <p:ph idx="1"/>
          </p:nvPr>
        </p:nvGraphicFramePr>
        <p:xfrm>
          <a:off x="1981200" y="1600201"/>
          <a:ext cx="8229600" cy="3196951"/>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693228091"/>
                    </a:ext>
                  </a:extLst>
                </a:gridCol>
                <a:gridCol w="3404984">
                  <a:extLst>
                    <a:ext uri="{9D8B030D-6E8A-4147-A177-3AD203B41FA5}">
                      <a16:colId xmlns:a16="http://schemas.microsoft.com/office/drawing/2014/main" val="1191611083"/>
                    </a:ext>
                  </a:extLst>
                </a:gridCol>
                <a:gridCol w="3178696">
                  <a:extLst>
                    <a:ext uri="{9D8B030D-6E8A-4147-A177-3AD203B41FA5}">
                      <a16:colId xmlns:a16="http://schemas.microsoft.com/office/drawing/2014/main" val="49232488"/>
                    </a:ext>
                  </a:extLst>
                </a:gridCol>
              </a:tblGrid>
              <a:tr h="737618">
                <a:tc>
                  <a:txBody>
                    <a:bodyPr/>
                    <a:lstStyle/>
                    <a:p>
                      <a:r>
                        <a:rPr lang="ro-RO" b="1" dirty="0"/>
                        <a:t>           Formă</a:t>
                      </a:r>
                    </a:p>
                    <a:p>
                      <a:r>
                        <a:rPr lang="ro-RO" b="1" dirty="0"/>
                        <a:t>Număr</a:t>
                      </a:r>
                    </a:p>
                  </a:txBody>
                  <a:tcPr/>
                </a:tc>
                <a:tc>
                  <a:txBody>
                    <a:bodyPr/>
                    <a:lstStyle/>
                    <a:p>
                      <a:r>
                        <a:rPr lang="ro-RO" b="1" dirty="0"/>
                        <a:t>Forme  pure</a:t>
                      </a:r>
                    </a:p>
                  </a:txBody>
                  <a:tcPr/>
                </a:tc>
                <a:tc>
                  <a:txBody>
                    <a:bodyPr/>
                    <a:lstStyle/>
                    <a:p>
                      <a:r>
                        <a:rPr lang="ro-RO" b="1" dirty="0"/>
                        <a:t>Forme corupte (derivate )</a:t>
                      </a:r>
                    </a:p>
                  </a:txBody>
                  <a:tcPr/>
                </a:tc>
                <a:extLst>
                  <a:ext uri="{0D108BD9-81ED-4DB2-BD59-A6C34878D82A}">
                    <a16:rowId xmlns:a16="http://schemas.microsoft.com/office/drawing/2014/main" val="2275614303"/>
                  </a:ext>
                </a:extLst>
              </a:tr>
              <a:tr h="614833">
                <a:tc>
                  <a:txBody>
                    <a:bodyPr/>
                    <a:lstStyle/>
                    <a:p>
                      <a:r>
                        <a:rPr lang="ro-RO" b="1" dirty="0"/>
                        <a:t>Unul</a:t>
                      </a:r>
                    </a:p>
                  </a:txBody>
                  <a:tcPr/>
                </a:tc>
                <a:tc>
                  <a:txBody>
                    <a:bodyPr/>
                    <a:lstStyle/>
                    <a:p>
                      <a:r>
                        <a:rPr lang="ro-RO" dirty="0"/>
                        <a:t>Monarhie</a:t>
                      </a:r>
                    </a:p>
                  </a:txBody>
                  <a:tcPr/>
                </a:tc>
                <a:tc>
                  <a:txBody>
                    <a:bodyPr/>
                    <a:lstStyle/>
                    <a:p>
                      <a:r>
                        <a:rPr lang="ro-RO" dirty="0"/>
                        <a:t>Tiranie</a:t>
                      </a:r>
                    </a:p>
                  </a:txBody>
                  <a:tcPr/>
                </a:tc>
                <a:extLst>
                  <a:ext uri="{0D108BD9-81ED-4DB2-BD59-A6C34878D82A}">
                    <a16:rowId xmlns:a16="http://schemas.microsoft.com/office/drawing/2014/main" val="3578303777"/>
                  </a:ext>
                </a:extLst>
              </a:tr>
              <a:tr h="614833">
                <a:tc>
                  <a:txBody>
                    <a:bodyPr/>
                    <a:lstStyle/>
                    <a:p>
                      <a:r>
                        <a:rPr lang="ro-RO" b="1" dirty="0"/>
                        <a:t>Câțiva</a:t>
                      </a:r>
                    </a:p>
                  </a:txBody>
                  <a:tcPr/>
                </a:tc>
                <a:tc>
                  <a:txBody>
                    <a:bodyPr/>
                    <a:lstStyle/>
                    <a:p>
                      <a:r>
                        <a:rPr lang="ro-RO" dirty="0"/>
                        <a:t>Aristocrație</a:t>
                      </a:r>
                    </a:p>
                  </a:txBody>
                  <a:tcPr/>
                </a:tc>
                <a:tc>
                  <a:txBody>
                    <a:bodyPr/>
                    <a:lstStyle/>
                    <a:p>
                      <a:r>
                        <a:rPr lang="ro-RO" dirty="0"/>
                        <a:t>Oligarhie</a:t>
                      </a:r>
                    </a:p>
                  </a:txBody>
                  <a:tcPr/>
                </a:tc>
                <a:extLst>
                  <a:ext uri="{0D108BD9-81ED-4DB2-BD59-A6C34878D82A}">
                    <a16:rowId xmlns:a16="http://schemas.microsoft.com/office/drawing/2014/main" val="4061051790"/>
                  </a:ext>
                </a:extLst>
              </a:tr>
              <a:tr h="1229667">
                <a:tc>
                  <a:txBody>
                    <a:bodyPr/>
                    <a:lstStyle/>
                    <a:p>
                      <a:r>
                        <a:rPr lang="ro-RO" b="1" dirty="0"/>
                        <a:t>Mulți</a:t>
                      </a:r>
                    </a:p>
                  </a:txBody>
                  <a:tcPr/>
                </a:tc>
                <a:tc>
                  <a:txBody>
                    <a:bodyPr/>
                    <a:lstStyle/>
                    <a:p>
                      <a:r>
                        <a:rPr lang="ro-RO" dirty="0"/>
                        <a:t>Politeia</a:t>
                      </a:r>
                    </a:p>
                    <a:p>
                      <a:r>
                        <a:rPr lang="ro-RO" dirty="0"/>
                        <a:t>(republica constituțională)</a:t>
                      </a:r>
                    </a:p>
                  </a:txBody>
                  <a:tcPr/>
                </a:tc>
                <a:tc>
                  <a:txBody>
                    <a:bodyPr/>
                    <a:lstStyle/>
                    <a:p>
                      <a:r>
                        <a:rPr lang="ro-RO" dirty="0"/>
                        <a:t>Democrație</a:t>
                      </a:r>
                    </a:p>
                  </a:txBody>
                  <a:tcPr/>
                </a:tc>
                <a:extLst>
                  <a:ext uri="{0D108BD9-81ED-4DB2-BD59-A6C34878D82A}">
                    <a16:rowId xmlns:a16="http://schemas.microsoft.com/office/drawing/2014/main" val="2210508003"/>
                  </a:ext>
                </a:extLst>
              </a:tr>
            </a:tbl>
          </a:graphicData>
        </a:graphic>
      </p:graphicFrame>
      <p:cxnSp>
        <p:nvCxnSpPr>
          <p:cNvPr id="7" name="Conector drept 6">
            <a:extLst>
              <a:ext uri="{FF2B5EF4-FFF2-40B4-BE49-F238E27FC236}">
                <a16:creationId xmlns:a16="http://schemas.microsoft.com/office/drawing/2014/main" id="{E8534389-9BD4-43E8-9AA4-CD1089496B3A}"/>
              </a:ext>
            </a:extLst>
          </p:cNvPr>
          <p:cNvCxnSpPr/>
          <p:nvPr/>
        </p:nvCxnSpPr>
        <p:spPr>
          <a:xfrm>
            <a:off x="1981200" y="1628800"/>
            <a:ext cx="1666528" cy="72008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79589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a:normAutofit/>
          </a:bodyPr>
          <a:lstStyle/>
          <a:p>
            <a:r>
              <a:rPr lang="ro-RO" b="1" dirty="0">
                <a:latin typeface="Times New Roman" panose="02020603050405020304" pitchFamily="18" charset="0"/>
                <a:cs typeface="Times New Roman" panose="02020603050405020304" pitchFamily="18" charset="0"/>
              </a:rPr>
              <a:t>Clasificarea regimurilor politice la Montesquieu</a:t>
            </a:r>
          </a:p>
        </p:txBody>
      </p:sp>
      <p:graphicFrame>
        <p:nvGraphicFramePr>
          <p:cNvPr id="8" name="Tabel 8">
            <a:extLst>
              <a:ext uri="{FF2B5EF4-FFF2-40B4-BE49-F238E27FC236}">
                <a16:creationId xmlns:a16="http://schemas.microsoft.com/office/drawing/2014/main" id="{09460152-C465-49B9-BA99-707DA5CDA07E}"/>
              </a:ext>
            </a:extLst>
          </p:cNvPr>
          <p:cNvGraphicFramePr>
            <a:graphicFrameLocks noGrp="1"/>
          </p:cNvGraphicFramePr>
          <p:nvPr>
            <p:ph idx="1"/>
          </p:nvPr>
        </p:nvGraphicFramePr>
        <p:xfrm>
          <a:off x="1981200" y="1600200"/>
          <a:ext cx="8229600" cy="4421088"/>
        </p:xfrm>
        <a:graphic>
          <a:graphicData uri="http://schemas.openxmlformats.org/drawingml/2006/table">
            <a:tbl>
              <a:tblPr firstRow="1" bandRow="1">
                <a:tableStyleId>{5940675A-B579-460E-94D1-54222C63F5DA}</a:tableStyleId>
              </a:tblPr>
              <a:tblGrid>
                <a:gridCol w="3898776">
                  <a:extLst>
                    <a:ext uri="{9D8B030D-6E8A-4147-A177-3AD203B41FA5}">
                      <a16:colId xmlns:a16="http://schemas.microsoft.com/office/drawing/2014/main" val="1795301030"/>
                    </a:ext>
                  </a:extLst>
                </a:gridCol>
                <a:gridCol w="4330824">
                  <a:extLst>
                    <a:ext uri="{9D8B030D-6E8A-4147-A177-3AD203B41FA5}">
                      <a16:colId xmlns:a16="http://schemas.microsoft.com/office/drawing/2014/main" val="1972052923"/>
                    </a:ext>
                  </a:extLst>
                </a:gridCol>
              </a:tblGrid>
              <a:tr h="1105272">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Climă</a:t>
                      </a:r>
                    </a:p>
                  </a:txBody>
                  <a:tcPr/>
                </a:tc>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Regim</a:t>
                      </a:r>
                    </a:p>
                  </a:txBody>
                  <a:tcPr/>
                </a:tc>
                <a:extLst>
                  <a:ext uri="{0D108BD9-81ED-4DB2-BD59-A6C34878D82A}">
                    <a16:rowId xmlns:a16="http://schemas.microsoft.com/office/drawing/2014/main" val="3357289859"/>
                  </a:ext>
                </a:extLst>
              </a:tr>
              <a:tr h="1105272">
                <a:tc>
                  <a:txBody>
                    <a:bodyPr/>
                    <a:lstStyle/>
                    <a:p>
                      <a:r>
                        <a:rPr lang="ro-RO" sz="2400" dirty="0">
                          <a:solidFill>
                            <a:sysClr val="windowText" lastClr="000000"/>
                          </a:solidFill>
                          <a:latin typeface="Times New Roman" panose="02020603050405020304" pitchFamily="18" charset="0"/>
                          <a:cs typeface="Times New Roman" panose="02020603050405020304" pitchFamily="18" charset="0"/>
                        </a:rPr>
                        <a:t>În regiunile cu </a:t>
                      </a:r>
                      <a:r>
                        <a:rPr lang="ro-RO" sz="2400" b="1" dirty="0">
                          <a:solidFill>
                            <a:sysClr val="windowText" lastClr="000000"/>
                          </a:solidFill>
                          <a:latin typeface="Times New Roman" panose="02020603050405020304" pitchFamily="18" charset="0"/>
                          <a:cs typeface="Times New Roman" panose="02020603050405020304" pitchFamily="18" charset="0"/>
                        </a:rPr>
                        <a:t>climă caldă </a:t>
                      </a:r>
                      <a:r>
                        <a:rPr lang="ro-RO" sz="2400" dirty="0">
                          <a:solidFill>
                            <a:sysClr val="windowText" lastClr="000000"/>
                          </a:solidFill>
                          <a:latin typeface="Times New Roman" panose="02020603050405020304" pitchFamily="18" charset="0"/>
                          <a:cs typeface="Times New Roman" panose="02020603050405020304" pitchFamily="18" charset="0"/>
                        </a:rPr>
                        <a:t>(sud)</a:t>
                      </a:r>
                    </a:p>
                  </a:txBody>
                  <a:tcPr/>
                </a:tc>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Despotismul</a:t>
                      </a:r>
                    </a:p>
                  </a:txBody>
                  <a:tcPr/>
                </a:tc>
                <a:extLst>
                  <a:ext uri="{0D108BD9-81ED-4DB2-BD59-A6C34878D82A}">
                    <a16:rowId xmlns:a16="http://schemas.microsoft.com/office/drawing/2014/main" val="1670763190"/>
                  </a:ext>
                </a:extLst>
              </a:tr>
              <a:tr h="1105272">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Climă temperată</a:t>
                      </a:r>
                    </a:p>
                  </a:txBody>
                  <a:tcPr/>
                </a:tc>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Monarhie</a:t>
                      </a:r>
                    </a:p>
                  </a:txBody>
                  <a:tcPr/>
                </a:tc>
                <a:extLst>
                  <a:ext uri="{0D108BD9-81ED-4DB2-BD59-A6C34878D82A}">
                    <a16:rowId xmlns:a16="http://schemas.microsoft.com/office/drawing/2014/main" val="1563660814"/>
                  </a:ext>
                </a:extLst>
              </a:tr>
              <a:tr h="1105272">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Climă rece </a:t>
                      </a:r>
                      <a:r>
                        <a:rPr lang="ro-RO" sz="2400" dirty="0">
                          <a:solidFill>
                            <a:sysClr val="windowText" lastClr="000000"/>
                          </a:solidFill>
                          <a:latin typeface="Times New Roman" panose="02020603050405020304" pitchFamily="18" charset="0"/>
                          <a:cs typeface="Times New Roman" panose="02020603050405020304" pitchFamily="18" charset="0"/>
                        </a:rPr>
                        <a:t>(nordul Europei)</a:t>
                      </a:r>
                    </a:p>
                  </a:txBody>
                  <a:tcPr/>
                </a:tc>
                <a:tc>
                  <a:txBody>
                    <a:bodyPr/>
                    <a:lstStyle/>
                    <a:p>
                      <a:r>
                        <a:rPr lang="ro-RO" sz="2400" b="1" dirty="0">
                          <a:solidFill>
                            <a:sysClr val="windowText" lastClr="000000"/>
                          </a:solidFill>
                          <a:latin typeface="Times New Roman" panose="02020603050405020304" pitchFamily="18" charset="0"/>
                          <a:cs typeface="Times New Roman" panose="02020603050405020304" pitchFamily="18" charset="0"/>
                        </a:rPr>
                        <a:t>Republica</a:t>
                      </a:r>
                    </a:p>
                  </a:txBody>
                  <a:tcPr/>
                </a:tc>
                <a:extLst>
                  <a:ext uri="{0D108BD9-81ED-4DB2-BD59-A6C34878D82A}">
                    <a16:rowId xmlns:a16="http://schemas.microsoft.com/office/drawing/2014/main" val="496581312"/>
                  </a:ext>
                </a:extLst>
              </a:tr>
            </a:tbl>
          </a:graphicData>
        </a:graphic>
      </p:graphicFrame>
    </p:spTree>
    <p:extLst>
      <p:ext uri="{BB962C8B-B14F-4D97-AF65-F5344CB8AC3E}">
        <p14:creationId xmlns:p14="http://schemas.microsoft.com/office/powerpoint/2010/main" val="79706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a:noAutofit/>
          </a:bodyPr>
          <a:lstStyle/>
          <a:p>
            <a:r>
              <a:rPr lang="ro-RO" sz="3200" b="1" dirty="0">
                <a:latin typeface="Times New Roman" panose="02020603050405020304" pitchFamily="18" charset="0"/>
                <a:cs typeface="Times New Roman" panose="02020603050405020304" pitchFamily="18" charset="0"/>
              </a:rPr>
              <a:t>Perspectiva sociologică </a:t>
            </a:r>
            <a:br>
              <a:rPr lang="ro-RO" sz="3200" b="1" dirty="0">
                <a:latin typeface="Times New Roman" panose="02020603050405020304" pitchFamily="18" charset="0"/>
                <a:cs typeface="Times New Roman" panose="02020603050405020304" pitchFamily="18" charset="0"/>
              </a:rPr>
            </a:br>
            <a:r>
              <a:rPr lang="ro-RO" sz="3200" b="1" dirty="0">
                <a:latin typeface="Times New Roman" panose="02020603050405020304" pitchFamily="18" charset="0"/>
                <a:cs typeface="Times New Roman" panose="02020603050405020304" pitchFamily="18" charset="0"/>
              </a:rPr>
              <a:t> - sistemele politice  </a:t>
            </a:r>
            <a:br>
              <a:rPr lang="ro-RO" sz="2000" b="1" dirty="0">
                <a:latin typeface="Times New Roman" panose="02020603050405020304" pitchFamily="18" charset="0"/>
                <a:cs typeface="Times New Roman" panose="02020603050405020304" pitchFamily="18" charset="0"/>
              </a:rPr>
            </a:br>
            <a:r>
              <a:rPr lang="ro-RO" sz="2000" b="1" dirty="0">
                <a:latin typeface="Times New Roman" panose="02020603050405020304" pitchFamily="18" charset="0"/>
                <a:cs typeface="Times New Roman" panose="02020603050405020304" pitchFamily="18" charset="0"/>
              </a:rPr>
              <a:t>Clasificarea sistemelor politice la Gabriel Almond  </a:t>
            </a:r>
            <a:br>
              <a:rPr lang="ro-RO" sz="2000" b="1" dirty="0">
                <a:latin typeface="Times New Roman" panose="02020603050405020304" pitchFamily="18" charset="0"/>
                <a:cs typeface="Times New Roman" panose="02020603050405020304" pitchFamily="18" charset="0"/>
              </a:rPr>
            </a:br>
            <a:r>
              <a:rPr lang="ro-RO" sz="2000" b="1" dirty="0">
                <a:latin typeface="Times New Roman" panose="02020603050405020304" pitchFamily="18" charset="0"/>
                <a:cs typeface="Times New Roman" panose="02020603050405020304" pitchFamily="18" charset="0"/>
              </a:rPr>
              <a:t>(Comparative Political Systems 1956)</a:t>
            </a:r>
          </a:p>
        </p:txBody>
      </p:sp>
      <p:graphicFrame>
        <p:nvGraphicFramePr>
          <p:cNvPr id="4" name="Substituent conținut 3">
            <a:extLst>
              <a:ext uri="{FF2B5EF4-FFF2-40B4-BE49-F238E27FC236}">
                <a16:creationId xmlns:a16="http://schemas.microsoft.com/office/drawing/2014/main" id="{3724CD07-AC1D-40F4-9A0D-A162E50B4DC1}"/>
              </a:ext>
            </a:extLst>
          </p:cNvPr>
          <p:cNvGraphicFramePr>
            <a:graphicFrameLocks/>
          </p:cNvGraphicFramePr>
          <p:nvPr/>
        </p:nvGraphicFramePr>
        <p:xfrm>
          <a:off x="1847528" y="1844824"/>
          <a:ext cx="8219256" cy="4680521"/>
        </p:xfrm>
        <a:graphic>
          <a:graphicData uri="http://schemas.openxmlformats.org/drawingml/2006/table">
            <a:tbl>
              <a:tblPr firstRow="1" bandRow="1">
                <a:tableStyleId>{7DF18680-E054-41AD-8BC1-D1AEF772440D}</a:tableStyleId>
              </a:tblPr>
              <a:tblGrid>
                <a:gridCol w="2739752">
                  <a:extLst>
                    <a:ext uri="{9D8B030D-6E8A-4147-A177-3AD203B41FA5}">
                      <a16:colId xmlns:a16="http://schemas.microsoft.com/office/drawing/2014/main" val="20000"/>
                    </a:ext>
                  </a:extLst>
                </a:gridCol>
                <a:gridCol w="2739752">
                  <a:extLst>
                    <a:ext uri="{9D8B030D-6E8A-4147-A177-3AD203B41FA5}">
                      <a16:colId xmlns:a16="http://schemas.microsoft.com/office/drawing/2014/main" val="20001"/>
                    </a:ext>
                  </a:extLst>
                </a:gridCol>
                <a:gridCol w="2739752">
                  <a:extLst>
                    <a:ext uri="{9D8B030D-6E8A-4147-A177-3AD203B41FA5}">
                      <a16:colId xmlns:a16="http://schemas.microsoft.com/office/drawing/2014/main" val="20002"/>
                    </a:ext>
                  </a:extLst>
                </a:gridCol>
              </a:tblGrid>
              <a:tr h="1385998">
                <a:tc>
                  <a:txBody>
                    <a:bodyPr/>
                    <a:lstStyle/>
                    <a:p>
                      <a:endParaRPr lang="ro-RO"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800" dirty="0">
                          <a:solidFill>
                            <a:schemeClr val="tx1"/>
                          </a:solidFill>
                          <a:latin typeface="Times New Roman" panose="02020603050405020304" pitchFamily="18" charset="0"/>
                          <a:cs typeface="Times New Roman" panose="02020603050405020304" pitchFamily="18" charset="0"/>
                        </a:rPr>
                        <a:t>Societăți omogene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800" b="1" dirty="0">
                          <a:solidFill>
                            <a:schemeClr val="tx1"/>
                          </a:solidFill>
                          <a:latin typeface="Times New Roman" panose="02020603050405020304" pitchFamily="18" charset="0"/>
                          <a:cs typeface="Times New Roman" panose="02020603050405020304" pitchFamily="18" charset="0"/>
                        </a:rPr>
                        <a:t>Societăți segmentate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40397">
                <a:tc>
                  <a:txBody>
                    <a:bodyPr/>
                    <a:lstStyle/>
                    <a:p>
                      <a:r>
                        <a:rPr lang="ro-RO" sz="2400" b="1" dirty="0">
                          <a:solidFill>
                            <a:schemeClr val="tx1"/>
                          </a:solidFill>
                          <a:latin typeface="Times New Roman" panose="02020603050405020304" pitchFamily="18" charset="0"/>
                          <a:cs typeface="Times New Roman" panose="02020603050405020304" pitchFamily="18" charset="0"/>
                        </a:rPr>
                        <a:t>Gestiune politică stabilă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400" b="1" dirty="0">
                          <a:solidFill>
                            <a:schemeClr val="tx1"/>
                          </a:solidFill>
                          <a:latin typeface="Times New Roman" panose="02020603050405020304" pitchFamily="18" charset="0"/>
                          <a:cs typeface="Times New Roman" panose="02020603050405020304" pitchFamily="18" charset="0"/>
                        </a:rPr>
                        <a:t>Modelul anglo- american (SUA, Marea Britanie, 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o-RO"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54126">
                <a:tc>
                  <a:txBody>
                    <a:bodyPr/>
                    <a:lstStyle/>
                    <a:p>
                      <a:r>
                        <a:rPr lang="ro-RO" sz="2400" b="1" dirty="0">
                          <a:solidFill>
                            <a:schemeClr val="tx1"/>
                          </a:solidFill>
                          <a:latin typeface="Times New Roman" panose="02020603050405020304" pitchFamily="18" charset="0"/>
                          <a:cs typeface="Times New Roman" panose="02020603050405020304" pitchFamily="18" charset="0"/>
                        </a:rPr>
                        <a:t>Gestiune politică conflictuală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o-RO"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400" b="1" dirty="0">
                          <a:solidFill>
                            <a:schemeClr val="tx1"/>
                          </a:solidFill>
                          <a:latin typeface="Times New Roman" panose="02020603050405020304" pitchFamily="18" charset="0"/>
                          <a:cs typeface="Times New Roman" panose="02020603050405020304" pitchFamily="18" charset="0"/>
                        </a:rPr>
                        <a:t>Modelul continental european (Franța, Germania, Italia)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21968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5104C14A-DD12-4F62-AF9E-1563AEE27E42}"/>
              </a:ext>
            </a:extLst>
          </p:cNvPr>
          <p:cNvSpPr>
            <a:spLocks noGrp="1"/>
          </p:cNvSpPr>
          <p:nvPr>
            <p:ph type="title"/>
          </p:nvPr>
        </p:nvSpPr>
        <p:spPr>
          <a:xfrm>
            <a:off x="1981200" y="175874"/>
            <a:ext cx="8229600" cy="1143000"/>
          </a:xfrm>
        </p:spPr>
        <p:txBody>
          <a:bodyPr>
            <a:noAutofit/>
          </a:bodyPr>
          <a:lstStyle/>
          <a:p>
            <a:r>
              <a:rPr lang="ro-RO" sz="3200" b="1" dirty="0">
                <a:latin typeface="Times New Roman" panose="02020603050405020304" pitchFamily="18" charset="0"/>
                <a:cs typeface="Times New Roman" panose="02020603050405020304" pitchFamily="18" charset="0"/>
              </a:rPr>
              <a:t>Revizuirea clasificării </a:t>
            </a:r>
            <a:br>
              <a:rPr lang="ro-RO" sz="3200" b="1" dirty="0">
                <a:latin typeface="Times New Roman" panose="02020603050405020304" pitchFamily="18" charset="0"/>
                <a:cs typeface="Times New Roman" panose="02020603050405020304" pitchFamily="18" charset="0"/>
              </a:rPr>
            </a:br>
            <a:r>
              <a:rPr lang="ro-RO" sz="3200" b="1" dirty="0">
                <a:latin typeface="Times New Roman" panose="02020603050405020304" pitchFamily="18" charset="0"/>
                <a:cs typeface="Times New Roman" panose="02020603050405020304" pitchFamily="18" charset="0"/>
              </a:rPr>
              <a:t>sistemelor politice realizată de </a:t>
            </a:r>
            <a:br>
              <a:rPr lang="ro-RO" sz="3200" b="1" dirty="0">
                <a:latin typeface="Times New Roman" panose="02020603050405020304" pitchFamily="18" charset="0"/>
                <a:cs typeface="Times New Roman" panose="02020603050405020304" pitchFamily="18" charset="0"/>
              </a:rPr>
            </a:br>
            <a:r>
              <a:rPr lang="ro-RO" sz="3200" b="1" dirty="0">
                <a:latin typeface="Times New Roman" panose="02020603050405020304" pitchFamily="18" charset="0"/>
                <a:cs typeface="Times New Roman" panose="02020603050405020304" pitchFamily="18" charset="0"/>
              </a:rPr>
              <a:t>Gabriel Almond </a:t>
            </a:r>
            <a:endParaRPr lang="ro-RO" sz="3200" dirty="0"/>
          </a:p>
        </p:txBody>
      </p:sp>
      <p:graphicFrame>
        <p:nvGraphicFramePr>
          <p:cNvPr id="4" name="Substituent conținut 3">
            <a:extLst>
              <a:ext uri="{FF2B5EF4-FFF2-40B4-BE49-F238E27FC236}">
                <a16:creationId xmlns:a16="http://schemas.microsoft.com/office/drawing/2014/main" id="{A5078F44-7CBF-454B-9FE9-050E932F9992}"/>
              </a:ext>
            </a:extLst>
          </p:cNvPr>
          <p:cNvGraphicFramePr>
            <a:graphicFrameLocks noGrp="1"/>
          </p:cNvGraphicFramePr>
          <p:nvPr>
            <p:ph idx="1"/>
          </p:nvPr>
        </p:nvGraphicFramePr>
        <p:xfrm>
          <a:off x="1847528" y="1772816"/>
          <a:ext cx="8640960" cy="4337811"/>
        </p:xfrm>
        <a:graphic>
          <a:graphicData uri="http://schemas.openxmlformats.org/drawingml/2006/table">
            <a:tbl>
              <a:tblPr firstRow="1" bandRow="1">
                <a:tableStyleId>{7DF18680-E054-41AD-8BC1-D1AEF772440D}</a:tableStyleId>
              </a:tblPr>
              <a:tblGrid>
                <a:gridCol w="2880320">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2880320">
                  <a:extLst>
                    <a:ext uri="{9D8B030D-6E8A-4147-A177-3AD203B41FA5}">
                      <a16:colId xmlns:a16="http://schemas.microsoft.com/office/drawing/2014/main" val="20002"/>
                    </a:ext>
                  </a:extLst>
                </a:gridCol>
              </a:tblGrid>
              <a:tr h="1112208">
                <a:tc>
                  <a:txBody>
                    <a:bodyPr/>
                    <a:lstStyle/>
                    <a:p>
                      <a:endParaRPr lang="ro-R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800" dirty="0">
                          <a:solidFill>
                            <a:schemeClr val="tx1"/>
                          </a:solidFill>
                          <a:latin typeface="Times New Roman" panose="02020603050405020304" pitchFamily="18" charset="0"/>
                          <a:cs typeface="Times New Roman" panose="02020603050405020304" pitchFamily="18" charset="0"/>
                        </a:rPr>
                        <a:t>Societăți omogene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800" b="1" dirty="0">
                          <a:solidFill>
                            <a:schemeClr val="tx1"/>
                          </a:solidFill>
                          <a:latin typeface="Times New Roman" panose="02020603050405020304" pitchFamily="18" charset="0"/>
                          <a:cs typeface="Times New Roman" panose="02020603050405020304" pitchFamily="18" charset="0"/>
                        </a:rPr>
                        <a:t>Societăți segmentate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68190">
                <a:tc>
                  <a:txBody>
                    <a:bodyPr/>
                    <a:lstStyle/>
                    <a:p>
                      <a:r>
                        <a:rPr lang="ro-RO" sz="2400" b="1" dirty="0">
                          <a:solidFill>
                            <a:schemeClr val="tx1"/>
                          </a:solidFill>
                          <a:latin typeface="Times New Roman" panose="02020603050405020304" pitchFamily="18" charset="0"/>
                          <a:cs typeface="Times New Roman" panose="02020603050405020304" pitchFamily="18" charset="0"/>
                        </a:rPr>
                        <a:t>Gestiune politică stabilă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400" b="1" dirty="0">
                          <a:solidFill>
                            <a:schemeClr val="tx1"/>
                          </a:solidFill>
                          <a:latin typeface="Times New Roman" panose="02020603050405020304" pitchFamily="18" charset="0"/>
                          <a:cs typeface="Times New Roman" panose="02020603050405020304" pitchFamily="18" charset="0"/>
                        </a:rPr>
                        <a:t>Modelul anglo american (SUA, Marea Britanie, 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400" b="1" dirty="0">
                          <a:solidFill>
                            <a:schemeClr val="tx1"/>
                          </a:solidFill>
                          <a:latin typeface="Times New Roman" panose="02020603050405020304" pitchFamily="18" charset="0"/>
                          <a:cs typeface="Times New Roman" panose="02020603050405020304" pitchFamily="18" charset="0"/>
                        </a:rPr>
                        <a:t>Democrația consociativă (Belgia,</a:t>
                      </a:r>
                      <a:r>
                        <a:rPr lang="ro-RO" sz="2400" b="1" baseline="0" dirty="0">
                          <a:solidFill>
                            <a:schemeClr val="tx1"/>
                          </a:solidFill>
                          <a:latin typeface="Times New Roman" panose="02020603050405020304" pitchFamily="18" charset="0"/>
                          <a:cs typeface="Times New Roman" panose="02020603050405020304" pitchFamily="18" charset="0"/>
                        </a:rPr>
                        <a:t> Olanda,Elveția, Austria)</a:t>
                      </a:r>
                      <a:endParaRPr lang="ro-RO" sz="24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71123">
                <a:tc>
                  <a:txBody>
                    <a:bodyPr/>
                    <a:lstStyle/>
                    <a:p>
                      <a:r>
                        <a:rPr lang="ro-RO" sz="2400" b="1" dirty="0">
                          <a:solidFill>
                            <a:schemeClr val="tx1"/>
                          </a:solidFill>
                          <a:latin typeface="Times New Roman" panose="02020603050405020304" pitchFamily="18" charset="0"/>
                          <a:cs typeface="Times New Roman" panose="02020603050405020304" pitchFamily="18" charset="0"/>
                        </a:rPr>
                        <a:t>Gestiune politică conflictuală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o-RO"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400" b="1" dirty="0">
                          <a:solidFill>
                            <a:schemeClr val="tx1"/>
                          </a:solidFill>
                          <a:latin typeface="Times New Roman" panose="02020603050405020304" pitchFamily="18" charset="0"/>
                          <a:cs typeface="Times New Roman" panose="02020603050405020304" pitchFamily="18" charset="0"/>
                        </a:rPr>
                        <a:t>Modelul continental european (Franța, Germania, Italia)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6848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91C8F66-1636-4D9B-BD55-02D8069E1409}"/>
              </a:ext>
            </a:extLst>
          </p:cNvPr>
          <p:cNvSpPr>
            <a:spLocks noGrp="1"/>
          </p:cNvSpPr>
          <p:nvPr>
            <p:ph type="title"/>
          </p:nvPr>
        </p:nvSpPr>
        <p:spPr>
          <a:xfrm>
            <a:off x="1524000" y="998"/>
            <a:ext cx="8963472" cy="1143000"/>
          </a:xfrm>
        </p:spPr>
        <p:txBody>
          <a:bodyPr>
            <a:noAutofit/>
          </a:bodyPr>
          <a:lstStyle/>
          <a:p>
            <a:r>
              <a:rPr lang="ro-RO" sz="2800" b="1" dirty="0">
                <a:latin typeface="Times New Roman" panose="02020603050405020304" pitchFamily="18" charset="0"/>
                <a:cs typeface="Times New Roman" panose="02020603050405020304" pitchFamily="18" charset="0"/>
              </a:rPr>
              <a:t>Încercare de fuzionare a doctrinei regimurilor politice cu teoria sistemelor politice la Oliver Duhamel </a:t>
            </a:r>
            <a:br>
              <a:rPr lang="ro-RO" sz="2800" b="1" dirty="0">
                <a:latin typeface="Times New Roman" panose="02020603050405020304" pitchFamily="18" charset="0"/>
                <a:cs typeface="Times New Roman" panose="02020603050405020304" pitchFamily="18" charset="0"/>
              </a:rPr>
            </a:br>
            <a:r>
              <a:rPr lang="ro-RO" sz="2800" b="1" dirty="0">
                <a:latin typeface="Times New Roman" panose="02020603050405020304" pitchFamily="18" charset="0"/>
                <a:cs typeface="Times New Roman" panose="02020603050405020304" pitchFamily="18" charset="0"/>
              </a:rPr>
              <a:t>(</a:t>
            </a:r>
            <a:r>
              <a:rPr lang="ro-RO" sz="2800" dirty="0" err="1">
                <a:latin typeface="Times New Roman" panose="02020603050405020304" pitchFamily="18" charset="0"/>
                <a:cs typeface="Times New Roman" panose="02020603050405020304" pitchFamily="18" charset="0"/>
              </a:rPr>
              <a:t>Les</a:t>
            </a:r>
            <a:r>
              <a:rPr lang="ro-RO" sz="2800" dirty="0">
                <a:latin typeface="Times New Roman" panose="02020603050405020304" pitchFamily="18" charset="0"/>
                <a:cs typeface="Times New Roman" panose="02020603050405020304" pitchFamily="18" charset="0"/>
              </a:rPr>
              <a:t> </a:t>
            </a:r>
            <a:r>
              <a:rPr lang="ro-RO" sz="2800" dirty="0" err="1">
                <a:latin typeface="Times New Roman" panose="02020603050405020304" pitchFamily="18" charset="0"/>
                <a:cs typeface="Times New Roman" panose="02020603050405020304" pitchFamily="18" charset="0"/>
              </a:rPr>
              <a:t>démocraties</a:t>
            </a:r>
            <a:r>
              <a:rPr lang="ro-RO" sz="2800" dirty="0">
                <a:latin typeface="Times New Roman" panose="02020603050405020304" pitchFamily="18" charset="0"/>
                <a:cs typeface="Times New Roman" panose="02020603050405020304" pitchFamily="18" charset="0"/>
              </a:rPr>
              <a:t> </a:t>
            </a:r>
            <a:r>
              <a:rPr lang="ro-RO" sz="2800" b="1" dirty="0">
                <a:latin typeface="Times New Roman" panose="02020603050405020304" pitchFamily="18" charset="0"/>
                <a:cs typeface="Times New Roman" panose="02020603050405020304" pitchFamily="18" charset="0"/>
              </a:rPr>
              <a:t>1993)</a:t>
            </a:r>
          </a:p>
        </p:txBody>
      </p:sp>
      <p:graphicFrame>
        <p:nvGraphicFramePr>
          <p:cNvPr id="4" name="Substituent conținut 3">
            <a:extLst>
              <a:ext uri="{FF2B5EF4-FFF2-40B4-BE49-F238E27FC236}">
                <a16:creationId xmlns:a16="http://schemas.microsoft.com/office/drawing/2014/main" id="{6F02FFBA-3185-4ED7-BC96-B1B212041A4D}"/>
              </a:ext>
            </a:extLst>
          </p:cNvPr>
          <p:cNvGraphicFramePr>
            <a:graphicFrameLocks/>
          </p:cNvGraphicFramePr>
          <p:nvPr/>
        </p:nvGraphicFramePr>
        <p:xfrm>
          <a:off x="2202396" y="1556792"/>
          <a:ext cx="7998060" cy="3077090"/>
        </p:xfrm>
        <a:graphic>
          <a:graphicData uri="http://schemas.openxmlformats.org/drawingml/2006/table">
            <a:tbl>
              <a:tblPr firstRow="1" bandRow="1">
                <a:tableStyleId>{7DF18680-E054-41AD-8BC1-D1AEF772440D}</a:tableStyleId>
              </a:tblPr>
              <a:tblGrid>
                <a:gridCol w="3389548">
                  <a:extLst>
                    <a:ext uri="{9D8B030D-6E8A-4147-A177-3AD203B41FA5}">
                      <a16:colId xmlns:a16="http://schemas.microsoft.com/office/drawing/2014/main" val="20001"/>
                    </a:ext>
                  </a:extLst>
                </a:gridCol>
                <a:gridCol w="4608512">
                  <a:extLst>
                    <a:ext uri="{9D8B030D-6E8A-4147-A177-3AD203B41FA5}">
                      <a16:colId xmlns:a16="http://schemas.microsoft.com/office/drawing/2014/main" val="20002"/>
                    </a:ext>
                  </a:extLst>
                </a:gridCol>
              </a:tblGrid>
              <a:tr h="1220286">
                <a:tc>
                  <a:txBody>
                    <a:bodyPr/>
                    <a:lstStyle/>
                    <a:p>
                      <a:r>
                        <a:rPr lang="ro-RO" sz="2000" dirty="0">
                          <a:solidFill>
                            <a:schemeClr val="tx1"/>
                          </a:solidFill>
                          <a:latin typeface="Times New Roman" panose="02020603050405020304" pitchFamily="18" charset="0"/>
                          <a:cs typeface="Times New Roman" panose="02020603050405020304" pitchFamily="18" charset="0"/>
                        </a:rPr>
                        <a:t>REGIMURI POLITICE</a:t>
                      </a:r>
                    </a:p>
                    <a:p>
                      <a:r>
                        <a:rPr lang="ro-RO" sz="2000" dirty="0">
                          <a:solidFill>
                            <a:schemeClr val="tx1"/>
                          </a:solidFill>
                          <a:latin typeface="Times New Roman" panose="02020603050405020304" pitchFamily="18" charset="0"/>
                          <a:cs typeface="Times New Roman" panose="02020603050405020304" pitchFamily="18" charset="0"/>
                        </a:rPr>
                        <a:t>(regulile constituționale)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000" b="1" dirty="0">
                          <a:solidFill>
                            <a:schemeClr val="tx1"/>
                          </a:solidFill>
                          <a:latin typeface="Times New Roman" panose="02020603050405020304" pitchFamily="18" charset="0"/>
                          <a:cs typeface="Times New Roman" panose="02020603050405020304" pitchFamily="18" charset="0"/>
                        </a:rPr>
                        <a:t>SISTEME POLITICE</a:t>
                      </a:r>
                    </a:p>
                    <a:p>
                      <a:r>
                        <a:rPr lang="ro-RO" sz="2000" b="1" dirty="0">
                          <a:solidFill>
                            <a:schemeClr val="tx1"/>
                          </a:solidFill>
                          <a:latin typeface="Times New Roman" panose="02020603050405020304" pitchFamily="18" charset="0"/>
                          <a:cs typeface="Times New Roman" panose="02020603050405020304" pitchFamily="18" charset="0"/>
                        </a:rPr>
                        <a:t>(</a:t>
                      </a:r>
                      <a:r>
                        <a:rPr lang="ro-RO" sz="2000" dirty="0">
                          <a:solidFill>
                            <a:schemeClr val="tx1"/>
                          </a:solidFill>
                          <a:latin typeface="Times New Roman" panose="02020603050405020304" pitchFamily="18" charset="0"/>
                          <a:cs typeface="Times New Roman" panose="02020603050405020304" pitchFamily="18" charset="0"/>
                        </a:rPr>
                        <a:t>exercitarea efectivă a puterii așa cum rezultă din practica constituțională dominantă.</a:t>
                      </a:r>
                      <a:endParaRPr lang="ro-RO" sz="20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70306">
                <a:tc>
                  <a:txBody>
                    <a:bodyPr/>
                    <a:lstStyle/>
                    <a:p>
                      <a:r>
                        <a:rPr lang="ro-RO" sz="2200" b="1" dirty="0">
                          <a:solidFill>
                            <a:schemeClr val="tx1"/>
                          </a:solidFill>
                          <a:latin typeface="Times New Roman" panose="02020603050405020304" pitchFamily="18" charset="0"/>
                          <a:cs typeface="Times New Roman" panose="02020603050405020304" pitchFamily="18" charset="0"/>
                        </a:rPr>
                        <a:t>Parlamentar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200" b="1" dirty="0">
                          <a:solidFill>
                            <a:schemeClr val="tx1"/>
                          </a:solidFill>
                          <a:latin typeface="Times New Roman" panose="02020603050405020304" pitchFamily="18" charset="0"/>
                          <a:cs typeface="Times New Roman" panose="02020603050405020304" pitchFamily="18" charset="0"/>
                        </a:rPr>
                        <a:t>Parlamentarism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32048">
                <a:tc>
                  <a:txBody>
                    <a:bodyPr/>
                    <a:lstStyle/>
                    <a:p>
                      <a:r>
                        <a:rPr lang="ro-RO" sz="2200" b="1" dirty="0">
                          <a:solidFill>
                            <a:schemeClr val="tx1"/>
                          </a:solidFill>
                          <a:latin typeface="Times New Roman" panose="02020603050405020304" pitchFamily="18" charset="0"/>
                          <a:cs typeface="Times New Roman" panose="02020603050405020304" pitchFamily="18" charset="0"/>
                        </a:rPr>
                        <a:t>Prezidențial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200" b="1" dirty="0">
                          <a:solidFill>
                            <a:schemeClr val="tx1"/>
                          </a:solidFill>
                          <a:latin typeface="Times New Roman" panose="02020603050405020304" pitchFamily="18" charset="0"/>
                          <a:cs typeface="Times New Roman" panose="02020603050405020304" pitchFamily="18" charset="0"/>
                        </a:rPr>
                        <a:t>Prezidențialism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64096">
                <a:tc>
                  <a:txBody>
                    <a:bodyPr/>
                    <a:lstStyle/>
                    <a:p>
                      <a:r>
                        <a:rPr lang="ro-RO" sz="2200" b="1" dirty="0">
                          <a:solidFill>
                            <a:schemeClr val="tx1"/>
                          </a:solidFill>
                          <a:latin typeface="Times New Roman" panose="02020603050405020304" pitchFamily="18" charset="0"/>
                          <a:cs typeface="Times New Roman" panose="02020603050405020304" pitchFamily="18" charset="0"/>
                        </a:rPr>
                        <a:t>Semiprezidențial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ro-RO" sz="2200" b="1" dirty="0">
                          <a:solidFill>
                            <a:schemeClr val="tx1"/>
                          </a:solidFill>
                          <a:latin typeface="Times New Roman" panose="02020603050405020304" pitchFamily="18" charset="0"/>
                          <a:cs typeface="Times New Roman" panose="02020603050405020304" pitchFamily="18" charset="0"/>
                        </a:rPr>
                        <a:t>Guvernamentalism sau</a:t>
                      </a:r>
                    </a:p>
                    <a:p>
                      <a:r>
                        <a:rPr lang="ro-RO" sz="2200" b="1" dirty="0">
                          <a:solidFill>
                            <a:schemeClr val="tx1"/>
                          </a:solidFill>
                          <a:latin typeface="Times New Roman" panose="02020603050405020304" pitchFamily="18" charset="0"/>
                          <a:cs typeface="Times New Roman" panose="02020603050405020304" pitchFamily="18" charset="0"/>
                        </a:rPr>
                        <a:t>Prezidențialism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5595858"/>
                  </a:ext>
                </a:extLst>
              </a:tr>
            </a:tbl>
          </a:graphicData>
        </a:graphic>
      </p:graphicFrame>
      <p:sp>
        <p:nvSpPr>
          <p:cNvPr id="3" name="Dreptunghi 2">
            <a:extLst>
              <a:ext uri="{FF2B5EF4-FFF2-40B4-BE49-F238E27FC236}">
                <a16:creationId xmlns:a16="http://schemas.microsoft.com/office/drawing/2014/main" id="{51E5CE11-CFE6-4C56-A738-72BBED6E0957}"/>
              </a:ext>
            </a:extLst>
          </p:cNvPr>
          <p:cNvSpPr/>
          <p:nvPr/>
        </p:nvSpPr>
        <p:spPr>
          <a:xfrm>
            <a:off x="2202396" y="4633882"/>
            <a:ext cx="7998060" cy="1446550"/>
          </a:xfrm>
          <a:prstGeom prst="rect">
            <a:avLst/>
          </a:prstGeom>
        </p:spPr>
        <p:txBody>
          <a:bodyPr wrap="square">
            <a:spAutoFit/>
          </a:bodyPr>
          <a:lstStyle/>
          <a:p>
            <a:pPr algn="just"/>
            <a:r>
              <a:rPr lang="ro-RO" sz="2200" dirty="0">
                <a:latin typeface="Times New Roman" panose="02020603050405020304" pitchFamily="18" charset="0"/>
                <a:cs typeface="Times New Roman" panose="02020603050405020304" pitchFamily="18" charset="0"/>
              </a:rPr>
              <a:t>Pentru a înțelege trecerea de la regim la sistem Duhamel analizează  trei variabile constrângătoare: </a:t>
            </a:r>
            <a:r>
              <a:rPr lang="ro-RO" sz="2200" i="1" dirty="0">
                <a:latin typeface="Times New Roman" panose="02020603050405020304" pitchFamily="18" charset="0"/>
                <a:cs typeface="Times New Roman" panose="02020603050405020304" pitchFamily="18" charset="0"/>
              </a:rPr>
              <a:t>alegerea populară a președintelui</a:t>
            </a:r>
            <a:r>
              <a:rPr lang="ro-RO" sz="2200" dirty="0">
                <a:latin typeface="Times New Roman" panose="02020603050405020304" pitchFamily="18" charset="0"/>
                <a:cs typeface="Times New Roman" panose="02020603050405020304" pitchFamily="18" charset="0"/>
              </a:rPr>
              <a:t>, </a:t>
            </a:r>
            <a:r>
              <a:rPr lang="ro-RO" sz="2200" i="1" dirty="0">
                <a:latin typeface="Times New Roman" panose="02020603050405020304" pitchFamily="18" charset="0"/>
                <a:cs typeface="Times New Roman" panose="02020603050405020304" pitchFamily="18" charset="0"/>
              </a:rPr>
              <a:t>alegerea deputaților prin sistemul majoritar </a:t>
            </a:r>
            <a:r>
              <a:rPr lang="ro-RO" sz="2200" dirty="0">
                <a:latin typeface="Times New Roman" panose="02020603050405020304" pitchFamily="18" charset="0"/>
                <a:cs typeface="Times New Roman" panose="02020603050405020304" pitchFamily="18" charset="0"/>
              </a:rPr>
              <a:t>și </a:t>
            </a:r>
            <a:r>
              <a:rPr lang="ro-RO" sz="2200" i="1" dirty="0">
                <a:latin typeface="Times New Roman" panose="02020603050405020304" pitchFamily="18" charset="0"/>
                <a:cs typeface="Times New Roman" panose="02020603050405020304" pitchFamily="18" charset="0"/>
              </a:rPr>
              <a:t>existența unui drept real al președintelui de dizolvare</a:t>
            </a:r>
          </a:p>
        </p:txBody>
      </p:sp>
    </p:spTree>
    <p:extLst>
      <p:ext uri="{BB962C8B-B14F-4D97-AF65-F5344CB8AC3E}">
        <p14:creationId xmlns:p14="http://schemas.microsoft.com/office/powerpoint/2010/main" val="3876146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a:xfrm>
            <a:off x="1981200" y="160337"/>
            <a:ext cx="8229600" cy="1143000"/>
          </a:xfrm>
        </p:spPr>
        <p:txBody>
          <a:bodyPr/>
          <a:lstStyle/>
          <a:p>
            <a:r>
              <a:rPr lang="ro-RO" b="1" dirty="0">
                <a:latin typeface="Times New Roman" panose="02020603050405020304" pitchFamily="18" charset="0"/>
                <a:cs typeface="Times New Roman" panose="02020603050405020304" pitchFamily="18" charset="0"/>
              </a:rPr>
              <a:t>Regimul parlamentar</a:t>
            </a:r>
          </a:p>
        </p:txBody>
      </p:sp>
      <p:sp>
        <p:nvSpPr>
          <p:cNvPr id="3" name="Substituent conținut 2"/>
          <p:cNvSpPr>
            <a:spLocks noGrp="1"/>
          </p:cNvSpPr>
          <p:nvPr>
            <p:ph idx="1"/>
          </p:nvPr>
        </p:nvSpPr>
        <p:spPr>
          <a:xfrm>
            <a:off x="1981200" y="1052737"/>
            <a:ext cx="8229600" cy="5073427"/>
          </a:xfrm>
        </p:spPr>
        <p:txBody>
          <a:bodyPr>
            <a:normAutofit/>
          </a:bodyPr>
          <a:lstStyle/>
          <a:p>
            <a:pPr marL="0" indent="0">
              <a:buNone/>
            </a:pPr>
            <a:r>
              <a:rPr lang="ro-RO" sz="2400" b="1" dirty="0">
                <a:latin typeface="Times New Roman" panose="02020603050405020304" pitchFamily="18" charset="0"/>
                <a:cs typeface="Times New Roman" panose="02020603050405020304" pitchFamily="18" charset="0"/>
              </a:rPr>
              <a:t>Forme clasice</a:t>
            </a:r>
          </a:p>
          <a:p>
            <a:r>
              <a:rPr lang="ro-RO" sz="2400" dirty="0">
                <a:latin typeface="Times New Roman" panose="02020603050405020304" pitchFamily="18" charset="0"/>
                <a:cs typeface="Times New Roman" panose="02020603050405020304" pitchFamily="18" charset="0"/>
              </a:rPr>
              <a:t>Regimul parlamentar englez</a:t>
            </a:r>
          </a:p>
          <a:p>
            <a:pPr marL="0" indent="0">
              <a:buNone/>
            </a:pPr>
            <a:r>
              <a:rPr lang="ro-RO" sz="2400" dirty="0">
                <a:latin typeface="Times New Roman" panose="02020603050405020304" pitchFamily="18" charset="0"/>
                <a:cs typeface="Times New Roman" panose="02020603050405020304" pitchFamily="18" charset="0"/>
              </a:rPr>
              <a:t> </a:t>
            </a:r>
            <a:r>
              <a:rPr lang="ro-RO" sz="2400" b="1" dirty="0">
                <a:latin typeface="Times New Roman" panose="02020603050405020304" pitchFamily="18" charset="0"/>
                <a:cs typeface="Times New Roman" panose="02020603050405020304" pitchFamily="18" charset="0"/>
              </a:rPr>
              <a:t>Forme degenerate</a:t>
            </a:r>
          </a:p>
          <a:p>
            <a:r>
              <a:rPr lang="ro-RO" sz="2400" dirty="0">
                <a:latin typeface="Times New Roman" panose="02020603050405020304" pitchFamily="18" charset="0"/>
                <a:cs typeface="Times New Roman" panose="02020603050405020304" pitchFamily="18" charset="0"/>
              </a:rPr>
              <a:t>Regimul de adunare</a:t>
            </a:r>
          </a:p>
          <a:p>
            <a:pPr marL="0" indent="0">
              <a:buNone/>
            </a:pPr>
            <a:r>
              <a:rPr lang="ro-RO" sz="2400" b="1" dirty="0">
                <a:latin typeface="Times New Roman" panose="02020603050405020304" pitchFamily="18" charset="0"/>
                <a:cs typeface="Times New Roman" panose="02020603050405020304" pitchFamily="18" charset="0"/>
              </a:rPr>
              <a:t>Caracteristici </a:t>
            </a:r>
          </a:p>
          <a:p>
            <a:r>
              <a:rPr lang="ro-RO" sz="2400" dirty="0">
                <a:latin typeface="Times New Roman" panose="02020603050405020304" pitchFamily="18" charset="0"/>
                <a:cs typeface="Times New Roman" panose="02020603050405020304" pitchFamily="18" charset="0"/>
              </a:rPr>
              <a:t>Separație suplă a puterilor în stat</a:t>
            </a:r>
          </a:p>
          <a:p>
            <a:pPr algn="just"/>
            <a:r>
              <a:rPr lang="ro-RO" sz="2400" dirty="0">
                <a:latin typeface="Times New Roman" panose="02020603050405020304" pitchFamily="18" charset="0"/>
                <a:cs typeface="Times New Roman" panose="02020603050405020304" pitchFamily="18" charset="0"/>
              </a:rPr>
              <a:t>Există mai degrabă o „familie” a regimurilor parlamentare decât un regim parlamentar tipic.</a:t>
            </a:r>
          </a:p>
          <a:p>
            <a:pPr algn="just"/>
            <a:r>
              <a:rPr lang="ro-RO" sz="2400" dirty="0">
                <a:latin typeface="Times New Roman" panose="02020603050405020304" pitchFamily="18" charset="0"/>
                <a:cs typeface="Times New Roman" panose="02020603050405020304" pitchFamily="18" charset="0"/>
              </a:rPr>
              <a:t>Regimul parlamentarismul este unul dintre elementele esențiale ale construcției instituționale propuse de </a:t>
            </a:r>
            <a:r>
              <a:rPr lang="ro-RO" sz="2400" i="1" dirty="0">
                <a:latin typeface="Times New Roman" panose="02020603050405020304" pitchFamily="18" charset="0"/>
                <a:cs typeface="Times New Roman" panose="02020603050405020304" pitchFamily="18" charset="0"/>
              </a:rPr>
              <a:t>liberalismului clasic</a:t>
            </a:r>
            <a:r>
              <a:rPr lang="ro-RO" sz="2400" dirty="0">
                <a:latin typeface="Times New Roman" panose="02020603050405020304" pitchFamily="18" charset="0"/>
                <a:cs typeface="Times New Roman" panose="02020603050405020304" pitchFamily="18" charset="0"/>
              </a:rPr>
              <a:t>, și se opune atât </a:t>
            </a:r>
            <a:r>
              <a:rPr lang="ro-RO" sz="2400" i="1" dirty="0">
                <a:latin typeface="Times New Roman" panose="02020603050405020304" pitchFamily="18" charset="0"/>
                <a:cs typeface="Times New Roman" panose="02020603050405020304" pitchFamily="18" charset="0"/>
              </a:rPr>
              <a:t>suveranității absolute a poporului</a:t>
            </a:r>
            <a:r>
              <a:rPr lang="ro-RO" sz="2400" dirty="0">
                <a:latin typeface="Times New Roman" panose="02020603050405020304" pitchFamily="18" charset="0"/>
                <a:cs typeface="Times New Roman" panose="02020603050405020304" pitchFamily="18" charset="0"/>
              </a:rPr>
              <a:t>, cât și </a:t>
            </a:r>
            <a:r>
              <a:rPr lang="ro-RO" sz="2400" i="1" dirty="0">
                <a:latin typeface="Times New Roman" panose="02020603050405020304" pitchFamily="18" charset="0"/>
                <a:cs typeface="Times New Roman" panose="02020603050405020304" pitchFamily="18" charset="0"/>
              </a:rPr>
              <a:t>autocrației monarhice</a:t>
            </a:r>
            <a:r>
              <a:rPr lang="ro-RO" sz="2400" dirty="0">
                <a:latin typeface="Times New Roman" panose="02020603050405020304" pitchFamily="18" charset="0"/>
                <a:cs typeface="Times New Roman" panose="02020603050405020304" pitchFamily="18" charset="0"/>
              </a:rPr>
              <a:t>.</a:t>
            </a:r>
          </a:p>
          <a:p>
            <a:endParaRPr lang="ro-RO" dirty="0">
              <a:latin typeface="Times New Roman" panose="02020603050405020304" pitchFamily="18" charset="0"/>
              <a:cs typeface="Times New Roman" panose="02020603050405020304" pitchFamily="18" charset="0"/>
            </a:endParaRPr>
          </a:p>
          <a:p>
            <a:endParaRPr lang="ro-R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1112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DB274EA-ADEE-48EE-AA96-647BC33DCCBC}"/>
              </a:ext>
            </a:extLst>
          </p:cNvPr>
          <p:cNvSpPr>
            <a:spLocks noGrp="1"/>
          </p:cNvSpPr>
          <p:nvPr>
            <p:ph type="title"/>
          </p:nvPr>
        </p:nvSpPr>
        <p:spPr>
          <a:xfrm>
            <a:off x="1847528" y="0"/>
            <a:ext cx="8229600" cy="692696"/>
          </a:xfrm>
        </p:spPr>
        <p:txBody>
          <a:bodyPr>
            <a:normAutofit/>
          </a:bodyPr>
          <a:lstStyle/>
          <a:p>
            <a:r>
              <a:rPr lang="ro-RO" sz="3600" b="1" dirty="0">
                <a:latin typeface="Times New Roman" panose="02020603050405020304" pitchFamily="18" charset="0"/>
                <a:cs typeface="Times New Roman" panose="02020603050405020304" pitchFamily="18" charset="0"/>
              </a:rPr>
              <a:t>Caracteristicile regimului parlamentar</a:t>
            </a:r>
          </a:p>
        </p:txBody>
      </p:sp>
      <p:sp>
        <p:nvSpPr>
          <p:cNvPr id="3" name="Substituent conținut 2">
            <a:extLst>
              <a:ext uri="{FF2B5EF4-FFF2-40B4-BE49-F238E27FC236}">
                <a16:creationId xmlns:a16="http://schemas.microsoft.com/office/drawing/2014/main" id="{E26CCEFA-C311-46D9-953F-19519E2B16F5}"/>
              </a:ext>
            </a:extLst>
          </p:cNvPr>
          <p:cNvSpPr>
            <a:spLocks noGrp="1"/>
          </p:cNvSpPr>
          <p:nvPr>
            <p:ph idx="1"/>
          </p:nvPr>
        </p:nvSpPr>
        <p:spPr>
          <a:xfrm>
            <a:off x="1703512" y="692696"/>
            <a:ext cx="8856984" cy="5976664"/>
          </a:xfrm>
        </p:spPr>
        <p:txBody>
          <a:bodyPr>
            <a:noAutofit/>
          </a:bodyPr>
          <a:lstStyle/>
          <a:p>
            <a:pPr marL="0" indent="0">
              <a:buNone/>
            </a:pPr>
            <a:r>
              <a:rPr lang="ro-RO" sz="2200" dirty="0">
                <a:latin typeface="Times New Roman" panose="02020603050405020304" pitchFamily="18" charset="0"/>
                <a:cs typeface="Times New Roman" panose="02020603050405020304" pitchFamily="18" charset="0"/>
              </a:rPr>
              <a:t>Regimul parlamentar este caracterizat printr-o </a:t>
            </a:r>
            <a:r>
              <a:rPr lang="ro-RO" sz="2200" i="1" dirty="0">
                <a:latin typeface="Times New Roman" panose="02020603050405020304" pitchFamily="18" charset="0"/>
                <a:cs typeface="Times New Roman" panose="02020603050405020304" pitchFamily="18" charset="0"/>
              </a:rPr>
              <a:t>separație flexibilă a puterilor între executiv și legislativ</a:t>
            </a:r>
            <a:r>
              <a:rPr lang="ro-RO" sz="2200" dirty="0">
                <a:latin typeface="Times New Roman" panose="02020603050405020304" pitchFamily="18" charset="0"/>
                <a:cs typeface="Times New Roman" panose="02020603050405020304" pitchFamily="18" charset="0"/>
              </a:rPr>
              <a:t> și </a:t>
            </a:r>
            <a:r>
              <a:rPr lang="ro-RO" sz="2200" i="1" dirty="0">
                <a:latin typeface="Times New Roman" panose="02020603050405020304" pitchFamily="18" charset="0"/>
                <a:cs typeface="Times New Roman" panose="02020603050405020304" pitchFamily="18" charset="0"/>
              </a:rPr>
              <a:t>tinde la echilibrul acestora</a:t>
            </a:r>
            <a:r>
              <a:rPr lang="ro-RO" sz="2200" dirty="0">
                <a:latin typeface="Times New Roman" panose="02020603050405020304" pitchFamily="18" charset="0"/>
                <a:cs typeface="Times New Roman" panose="02020603050405020304" pitchFamily="18" charset="0"/>
              </a:rPr>
              <a:t>. În acest regim legislativul și executivul </a:t>
            </a:r>
            <a:r>
              <a:rPr lang="ro-RO" sz="2200" i="1" dirty="0">
                <a:latin typeface="Times New Roman" panose="02020603050405020304" pitchFamily="18" charset="0"/>
                <a:cs typeface="Times New Roman" panose="02020603050405020304" pitchFamily="18" charset="0"/>
              </a:rPr>
              <a:t>împart același personal</a:t>
            </a:r>
            <a:r>
              <a:rPr lang="ro-RO" sz="2200" dirty="0">
                <a:latin typeface="Times New Roman" panose="02020603050405020304" pitchFamily="18" charset="0"/>
                <a:cs typeface="Times New Roman" panose="02020603050405020304" pitchFamily="18" charset="0"/>
              </a:rPr>
              <a:t>, câtă vreme membrii guvernului provin din majoritatea parlamentară.</a:t>
            </a:r>
          </a:p>
          <a:p>
            <a:pPr marL="0" indent="0" algn="just">
              <a:buNone/>
            </a:pPr>
            <a:r>
              <a:rPr lang="ro-RO" sz="2200" dirty="0">
                <a:latin typeface="Times New Roman" panose="02020603050405020304" pitchFamily="18" charset="0"/>
                <a:cs typeface="Times New Roman" panose="02020603050405020304" pitchFamily="18" charset="0"/>
              </a:rPr>
              <a:t>Guvernul și parlamentul colaborează și au mijloace reciproce de control și interacțiune: </a:t>
            </a:r>
          </a:p>
          <a:p>
            <a:pPr algn="just"/>
            <a:r>
              <a:rPr lang="ro-RO" sz="2200" dirty="0">
                <a:latin typeface="Times New Roman" panose="02020603050405020304" pitchFamily="18" charset="0"/>
                <a:cs typeface="Times New Roman" panose="02020603050405020304" pitchFamily="18" charset="0"/>
              </a:rPr>
              <a:t>Executivul poate dizolva Adunarea, </a:t>
            </a:r>
          </a:p>
          <a:p>
            <a:pPr algn="just"/>
            <a:r>
              <a:rPr lang="ro-RO" sz="2200" dirty="0">
                <a:latin typeface="Times New Roman" panose="02020603050405020304" pitchFamily="18" charset="0"/>
                <a:cs typeface="Times New Roman" panose="02020603050405020304" pitchFamily="18" charset="0"/>
              </a:rPr>
              <a:t>Legislativul poate răsturna guvernul printr-un vot de neîncredere sau o moțiune de cenzură. </a:t>
            </a:r>
          </a:p>
          <a:p>
            <a:pPr marL="0" indent="0" algn="just">
              <a:buNone/>
            </a:pPr>
            <a:r>
              <a:rPr lang="ro-RO" sz="2200" dirty="0">
                <a:latin typeface="Times New Roman" panose="02020603050405020304" pitchFamily="18" charset="0"/>
                <a:cs typeface="Times New Roman" panose="02020603050405020304" pitchFamily="18" charset="0"/>
              </a:rPr>
              <a:t>Când Guvernul este responsabil politic în fața Parlamentului vorbim despre un </a:t>
            </a:r>
            <a:r>
              <a:rPr lang="ro-RO" sz="2200" i="1" dirty="0">
                <a:latin typeface="Times New Roman" panose="02020603050405020304" pitchFamily="18" charset="0"/>
                <a:cs typeface="Times New Roman" panose="02020603050405020304" pitchFamily="18" charset="0"/>
              </a:rPr>
              <a:t>regim parlamentar monist.</a:t>
            </a:r>
          </a:p>
          <a:p>
            <a:pPr marL="0" indent="0">
              <a:buNone/>
            </a:pPr>
            <a:r>
              <a:rPr lang="ro-RO" sz="2200" dirty="0">
                <a:latin typeface="Times New Roman" panose="02020603050405020304" pitchFamily="18" charset="0"/>
                <a:cs typeface="Times New Roman" panose="02020603050405020304" pitchFamily="18" charset="0"/>
              </a:rPr>
              <a:t>Dacă guvernul este responsabil și în raport cu șeful statului vorbim despre un </a:t>
            </a:r>
            <a:r>
              <a:rPr lang="ro-RO" sz="2200" i="1" dirty="0">
                <a:latin typeface="Times New Roman" panose="02020603050405020304" pitchFamily="18" charset="0"/>
                <a:cs typeface="Times New Roman" panose="02020603050405020304" pitchFamily="18" charset="0"/>
              </a:rPr>
              <a:t>regim parlamentar dual</a:t>
            </a:r>
            <a:r>
              <a:rPr lang="ro-RO" sz="2200" dirty="0">
                <a:latin typeface="Times New Roman" panose="02020603050405020304" pitchFamily="18" charset="0"/>
                <a:cs typeface="Times New Roman" panose="02020603050405020304" pitchFamily="18" charset="0"/>
              </a:rPr>
              <a:t>. </a:t>
            </a:r>
          </a:p>
          <a:p>
            <a:pPr marL="0" indent="0" algn="just">
              <a:buNone/>
            </a:pPr>
            <a:r>
              <a:rPr lang="ro-RO" sz="2200" i="1" dirty="0">
                <a:latin typeface="Times New Roman" panose="02020603050405020304" pitchFamily="18" charset="0"/>
                <a:cs typeface="Times New Roman" panose="02020603050405020304" pitchFamily="18" charset="0"/>
              </a:rPr>
              <a:t>Parlamentarismul raționalizat </a:t>
            </a:r>
            <a:r>
              <a:rPr lang="ro-RO" sz="2200" dirty="0">
                <a:latin typeface="Times New Roman" panose="02020603050405020304" pitchFamily="18" charset="0"/>
                <a:cs typeface="Times New Roman" panose="02020603050405020304" pitchFamily="18" charset="0"/>
              </a:rPr>
              <a:t>reprezintă un set de tehnici de </a:t>
            </a:r>
            <a:r>
              <a:rPr lang="ro-RO" sz="2200" i="1" dirty="0">
                <a:latin typeface="Times New Roman" panose="02020603050405020304" pitchFamily="18" charset="0"/>
                <a:cs typeface="Times New Roman" panose="02020603050405020304" pitchFamily="18" charset="0"/>
              </a:rPr>
              <a:t>drept constituțional și electoral</a:t>
            </a:r>
            <a:r>
              <a:rPr lang="ro-RO" sz="2200" dirty="0">
                <a:latin typeface="Times New Roman" panose="02020603050405020304" pitchFamily="18" charset="0"/>
                <a:cs typeface="Times New Roman" panose="02020603050405020304" pitchFamily="18" charset="0"/>
              </a:rPr>
              <a:t> care urmărește evitarea instabilității guvernamentale într-un regim parlamentar.</a:t>
            </a:r>
          </a:p>
          <a:p>
            <a:pPr marL="0" indent="0">
              <a:buNone/>
            </a:pPr>
            <a:endParaRPr lang="ro-RO"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33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564751D-C594-4ED7-8FAC-783E4146D04A}"/>
              </a:ext>
            </a:extLst>
          </p:cNvPr>
          <p:cNvSpPr>
            <a:spLocks noGrp="1"/>
          </p:cNvSpPr>
          <p:nvPr>
            <p:ph type="title"/>
          </p:nvPr>
        </p:nvSpPr>
        <p:spPr>
          <a:xfrm>
            <a:off x="1955446" y="154746"/>
            <a:ext cx="8229600" cy="321927"/>
          </a:xfrm>
        </p:spPr>
        <p:txBody>
          <a:bodyPr>
            <a:normAutofit fontScale="90000"/>
          </a:bodyPr>
          <a:lstStyle/>
          <a:p>
            <a:br>
              <a:rPr lang="ro-RO" sz="4000" b="1" dirty="0">
                <a:latin typeface="Times New Roman" panose="02020603050405020304" pitchFamily="18" charset="0"/>
                <a:cs typeface="Times New Roman" panose="02020603050405020304" pitchFamily="18" charset="0"/>
              </a:rPr>
            </a:br>
            <a:r>
              <a:rPr lang="ro-RO" sz="4000" b="1" dirty="0">
                <a:latin typeface="Times New Roman" panose="02020603050405020304" pitchFamily="18" charset="0"/>
                <a:cs typeface="Times New Roman" panose="02020603050405020304" pitchFamily="18" charset="0"/>
              </a:rPr>
              <a:t>Tipuri de regim parlamentar </a:t>
            </a:r>
            <a:br>
              <a:rPr lang="ro-RO" dirty="0">
                <a:latin typeface="Times New Roman" panose="02020603050405020304" pitchFamily="18" charset="0"/>
                <a:cs typeface="Times New Roman" panose="02020603050405020304" pitchFamily="18" charset="0"/>
              </a:rPr>
            </a:br>
            <a:endParaRPr lang="ro-RO" dirty="0"/>
          </a:p>
        </p:txBody>
      </p:sp>
      <p:sp>
        <p:nvSpPr>
          <p:cNvPr id="4" name="Dreptunghi 3">
            <a:extLst>
              <a:ext uri="{FF2B5EF4-FFF2-40B4-BE49-F238E27FC236}">
                <a16:creationId xmlns:a16="http://schemas.microsoft.com/office/drawing/2014/main" id="{4385F9B0-9518-4379-8F6A-215B20FCC4C3}"/>
              </a:ext>
            </a:extLst>
          </p:cNvPr>
          <p:cNvSpPr/>
          <p:nvPr/>
        </p:nvSpPr>
        <p:spPr>
          <a:xfrm>
            <a:off x="1935165" y="692696"/>
            <a:ext cx="8640960" cy="5940088"/>
          </a:xfrm>
          <a:prstGeom prst="rect">
            <a:avLst/>
          </a:prstGeom>
        </p:spPr>
        <p:txBody>
          <a:bodyPr wrap="square">
            <a:spAutoFit/>
          </a:bodyPr>
          <a:lstStyle/>
          <a:p>
            <a:r>
              <a:rPr lang="ro-RO" sz="2000" dirty="0">
                <a:latin typeface="Times New Roman" panose="02020603050405020304" pitchFamily="18" charset="0"/>
                <a:cs typeface="Times New Roman" panose="02020603050405020304" pitchFamily="18" charset="0"/>
              </a:rPr>
              <a:t>Parlamentul poate fi </a:t>
            </a:r>
            <a:r>
              <a:rPr lang="ro-RO" sz="2000" i="1" dirty="0">
                <a:latin typeface="Times New Roman" panose="02020603050405020304" pitchFamily="18" charset="0"/>
                <a:cs typeface="Times New Roman" panose="02020603050405020304" pitchFamily="18" charset="0"/>
              </a:rPr>
              <a:t>unicameral </a:t>
            </a:r>
            <a:r>
              <a:rPr lang="ro-RO" sz="2000" dirty="0">
                <a:latin typeface="Times New Roman" panose="02020603050405020304" pitchFamily="18" charset="0"/>
                <a:cs typeface="Times New Roman" panose="02020603050405020304" pitchFamily="18" charset="0"/>
              </a:rPr>
              <a:t>sau </a:t>
            </a:r>
            <a:r>
              <a:rPr lang="ro-RO" sz="2000" i="1" dirty="0">
                <a:latin typeface="Times New Roman" panose="02020603050405020304" pitchFamily="18" charset="0"/>
                <a:cs typeface="Times New Roman" panose="02020603050405020304" pitchFamily="18" charset="0"/>
              </a:rPr>
              <a:t>bicameral :</a:t>
            </a:r>
          </a:p>
          <a:p>
            <a:endParaRPr lang="ro-RO" sz="2000" i="1" dirty="0">
              <a:latin typeface="Times New Roman" panose="02020603050405020304" pitchFamily="18" charset="0"/>
              <a:cs typeface="Times New Roman" panose="02020603050405020304" pitchFamily="18" charset="0"/>
            </a:endParaRPr>
          </a:p>
          <a:p>
            <a:pPr algn="just"/>
            <a:r>
              <a:rPr lang="ro-RO" sz="2000" i="1" dirty="0">
                <a:latin typeface="Times New Roman" panose="02020603050405020304" pitchFamily="18" charset="0"/>
                <a:cs typeface="Times New Roman" panose="02020603050405020304" pitchFamily="18" charset="0"/>
              </a:rPr>
              <a:t>Unicameralismu</a:t>
            </a:r>
            <a:r>
              <a:rPr lang="ro-RO" sz="2000" dirty="0">
                <a:latin typeface="Times New Roman" panose="02020603050405020304" pitchFamily="18" charset="0"/>
                <a:cs typeface="Times New Roman" panose="02020603050405020304" pitchFamily="18" charset="0"/>
              </a:rPr>
              <a:t>l este regimul parlamentar în care activitatea parlamentară se desfășoară într-o singură cameră. Acesta a fost considerat semnul distinctiv al unui </a:t>
            </a:r>
            <a:r>
              <a:rPr lang="ro-RO" sz="2000" i="1" dirty="0">
                <a:latin typeface="Times New Roman" panose="02020603050405020304" pitchFamily="18" charset="0"/>
                <a:cs typeface="Times New Roman" panose="02020603050405020304" pitchFamily="18" charset="0"/>
              </a:rPr>
              <a:t>regim autentic republican</a:t>
            </a:r>
            <a:r>
              <a:rPr lang="ro-RO" sz="2000" dirty="0">
                <a:latin typeface="Times New Roman" panose="02020603050405020304" pitchFamily="18" charset="0"/>
                <a:cs typeface="Times New Roman" panose="02020603050405020304" pitchFamily="18" charset="0"/>
              </a:rPr>
              <a:t>, deși a funcționat și în unele </a:t>
            </a:r>
            <a:r>
              <a:rPr lang="ro-RO" sz="2000" i="1" dirty="0">
                <a:latin typeface="Times New Roman" panose="02020603050405020304" pitchFamily="18" charset="0"/>
                <a:cs typeface="Times New Roman" panose="02020603050405020304" pitchFamily="18" charset="0"/>
              </a:rPr>
              <a:t>monarhii constituționale </a:t>
            </a:r>
            <a:r>
              <a:rPr lang="ro-RO" sz="2000" dirty="0">
                <a:latin typeface="Times New Roman" panose="02020603050405020304" pitchFamily="18" charset="0"/>
                <a:cs typeface="Times New Roman" panose="02020603050405020304" pitchFamily="18" charset="0"/>
              </a:rPr>
              <a:t>precum  Danemarca și Suedia, care au abolit camera superioară a parlamentului la începutul secolului trecut. Această cameră unică, aleasă prin vot universal direct în regimurile reprezentative, este, în general, în centrul funcționării constituționale a unui regim parlamentar. </a:t>
            </a:r>
          </a:p>
          <a:p>
            <a:pPr algn="just"/>
            <a:endParaRPr lang="ro-RO" sz="2000" i="1" dirty="0">
              <a:latin typeface="Times New Roman" panose="02020603050405020304" pitchFamily="18" charset="0"/>
              <a:cs typeface="Times New Roman" panose="02020603050405020304" pitchFamily="18" charset="0"/>
            </a:endParaRPr>
          </a:p>
          <a:p>
            <a:pPr algn="just"/>
            <a:r>
              <a:rPr lang="ro-RO" sz="2000" i="1" dirty="0">
                <a:latin typeface="Times New Roman" panose="02020603050405020304" pitchFamily="18" charset="0"/>
                <a:cs typeface="Times New Roman" panose="02020603050405020304" pitchFamily="18" charset="0"/>
              </a:rPr>
              <a:t>Bicameralismul</a:t>
            </a:r>
            <a:r>
              <a:rPr lang="ro-RO" sz="2000" dirty="0">
                <a:latin typeface="Times New Roman" panose="02020603050405020304" pitchFamily="18" charset="0"/>
                <a:cs typeface="Times New Roman" panose="02020603050405020304" pitchFamily="18" charset="0"/>
              </a:rPr>
              <a:t> este regimul parlamentar clasic dezvoltat mai întâi în Anglia. Și presupune că activitatea parlamentului este împărțită între două camere separate, o casă superioară și o cameră inferioară. Scopul acestui regim este de a realiza consensul între clase sau categorii sociale opuse: burghezia (camera inferioară) și aristocrația (camera superioară). În principiu, rolul camerei superioare este de a modera acțiunea camerei inferioare. În mod tradițional camera inferioară era aleasă prin vot direct și reprezenta „poporul” pe când camera superioara, aleasă prin sufragiu indirect, reprezenta fie „clasele superioare”, fie, în cazul federațiilor,  regiuni sau state.</a:t>
            </a:r>
          </a:p>
        </p:txBody>
      </p:sp>
    </p:spTree>
    <p:extLst>
      <p:ext uri="{BB962C8B-B14F-4D97-AF65-F5344CB8AC3E}">
        <p14:creationId xmlns:p14="http://schemas.microsoft.com/office/powerpoint/2010/main" val="898403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0D0173D-8E85-485E-9D8B-3842B368D25C}"/>
              </a:ext>
            </a:extLst>
          </p:cNvPr>
          <p:cNvSpPr>
            <a:spLocks noGrp="1"/>
          </p:cNvSpPr>
          <p:nvPr>
            <p:ph type="title"/>
          </p:nvPr>
        </p:nvSpPr>
        <p:spPr>
          <a:xfrm>
            <a:off x="1508974" y="51619"/>
            <a:ext cx="9144000" cy="706090"/>
          </a:xfrm>
        </p:spPr>
        <p:txBody>
          <a:bodyPr>
            <a:noAutofit/>
          </a:bodyPr>
          <a:lstStyle/>
          <a:p>
            <a:r>
              <a:rPr lang="ro-RO" sz="3200" b="1" dirty="0">
                <a:latin typeface="Times New Roman" panose="02020603050405020304" pitchFamily="18" charset="0"/>
                <a:cs typeface="Times New Roman" panose="02020603050405020304" pitchFamily="18" charset="0"/>
              </a:rPr>
              <a:t>Bicameralismul și unicameralismul în lume</a:t>
            </a:r>
          </a:p>
        </p:txBody>
      </p:sp>
      <p:pic>
        <p:nvPicPr>
          <p:cNvPr id="5" name="Substituent conținut 4" descr="Albastru - bicameralism&#10;Portocaliu - unicameralism &#10;Verde - unicameralism consultativ &#10;Negru - fără parlament">
            <a:extLst>
              <a:ext uri="{FF2B5EF4-FFF2-40B4-BE49-F238E27FC236}">
                <a16:creationId xmlns:a16="http://schemas.microsoft.com/office/drawing/2014/main" id="{409E1CD4-A36A-41F1-BACE-11C8E4D05D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1504" y="980728"/>
            <a:ext cx="8928992" cy="5472608"/>
          </a:xfrm>
        </p:spPr>
      </p:pic>
      <p:sp>
        <p:nvSpPr>
          <p:cNvPr id="6" name="Dreptunghi 5">
            <a:extLst>
              <a:ext uri="{FF2B5EF4-FFF2-40B4-BE49-F238E27FC236}">
                <a16:creationId xmlns:a16="http://schemas.microsoft.com/office/drawing/2014/main" id="{F9F13684-A311-4EFF-9888-28463DA21E51}"/>
              </a:ext>
            </a:extLst>
          </p:cNvPr>
          <p:cNvSpPr/>
          <p:nvPr/>
        </p:nvSpPr>
        <p:spPr>
          <a:xfrm>
            <a:off x="1847528" y="5277108"/>
            <a:ext cx="4572000" cy="1200329"/>
          </a:xfrm>
          <a:prstGeom prst="rect">
            <a:avLst/>
          </a:prstGeom>
        </p:spPr>
        <p:txBody>
          <a:bodyPr>
            <a:spAutoFit/>
          </a:bodyPr>
          <a:lstStyle/>
          <a:p>
            <a:r>
              <a:rPr lang="ro-RO" dirty="0"/>
              <a:t>Albastru - bicameralism</a:t>
            </a:r>
          </a:p>
          <a:p>
            <a:r>
              <a:rPr lang="ro-RO" dirty="0"/>
              <a:t>Portocaliu - unicameralism </a:t>
            </a:r>
          </a:p>
          <a:p>
            <a:r>
              <a:rPr lang="ro-RO" dirty="0"/>
              <a:t>Verde - unicameralism consultativ </a:t>
            </a:r>
          </a:p>
          <a:p>
            <a:r>
              <a:rPr lang="ro-RO" dirty="0"/>
              <a:t>Negru - fără parlament</a:t>
            </a:r>
          </a:p>
        </p:txBody>
      </p:sp>
    </p:spTree>
    <p:extLst>
      <p:ext uri="{BB962C8B-B14F-4D97-AF65-F5344CB8AC3E}">
        <p14:creationId xmlns:p14="http://schemas.microsoft.com/office/powerpoint/2010/main" val="3859023808"/>
      </p:ext>
    </p:extLst>
  </p:cSld>
  <p:clrMapOvr>
    <a:masterClrMapping/>
  </p:clrMapOvr>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1308</Words>
  <Application>Microsoft Office PowerPoint</Application>
  <PresentationFormat>Ecran lat</PresentationFormat>
  <Paragraphs>139</Paragraphs>
  <Slides>16</Slides>
  <Notes>0</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16</vt:i4>
      </vt:variant>
    </vt:vector>
  </HeadingPairs>
  <TitlesOfParts>
    <vt:vector size="21" baseType="lpstr">
      <vt:lpstr>Arial</vt:lpstr>
      <vt:lpstr>Calibri</vt:lpstr>
      <vt:lpstr>Calibri Light</vt:lpstr>
      <vt:lpstr>Times New Roman</vt:lpstr>
      <vt:lpstr>Temă Office</vt:lpstr>
      <vt:lpstr>Prezentare PowerPoint</vt:lpstr>
      <vt:lpstr>Regimuri și sisteme politice 1</vt:lpstr>
      <vt:lpstr>Perspectiva juridică regimurile politice</vt:lpstr>
      <vt:lpstr>Definiția generală a regimurilor politice</vt:lpstr>
      <vt:lpstr>Tipologii ale regimurilor politice</vt:lpstr>
      <vt:lpstr>Tipologii ale regimurilor politice</vt:lpstr>
      <vt:lpstr>Tipologii ale regimurilor politice</vt:lpstr>
      <vt:lpstr>Clasificarea regimurilor politice la Aristotel </vt:lpstr>
      <vt:lpstr>Clasificarea regimurilor politice la Montesquieu</vt:lpstr>
      <vt:lpstr>Perspectiva sociologică   - sistemele politice   Clasificarea sistemelor politice la Gabriel Almond   (Comparative Political Systems 1956)</vt:lpstr>
      <vt:lpstr>Revizuirea clasificării  sistemelor politice realizată de  Gabriel Almond </vt:lpstr>
      <vt:lpstr>Încercare de fuzionare a doctrinei regimurilor politice cu teoria sistemelor politice la Oliver Duhamel  (Les démocraties 1993)</vt:lpstr>
      <vt:lpstr>Regimul parlamentar</vt:lpstr>
      <vt:lpstr>Caracteristicile regimului parlamentar</vt:lpstr>
      <vt:lpstr> Tipuri de regim parlamentar  </vt:lpstr>
      <vt:lpstr>Bicameralismul și unicameralismul în lume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Prezentare PowerPoint</dc:title>
  <dc:creator>Daniela</dc:creator>
  <cp:lastModifiedBy>Daniela</cp:lastModifiedBy>
  <cp:revision>1</cp:revision>
  <dcterms:created xsi:type="dcterms:W3CDTF">2020-03-16T12:56:31Z</dcterms:created>
  <dcterms:modified xsi:type="dcterms:W3CDTF">2020-03-16T12:57:05Z</dcterms:modified>
</cp:coreProperties>
</file>