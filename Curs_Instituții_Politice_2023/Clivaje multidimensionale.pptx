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0" r:id="rId8"/>
  </p:sldIdLst>
  <p:sldSz cx="9144000" cy="6858000" type="screen4x3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ro-RO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ro-RO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1DD73-AA66-4A70-8FD8-43DD995462CE}" type="datetimeFigureOut">
              <a:rPr lang="ro-RO" smtClean="0"/>
              <a:pPr/>
              <a:t>18.05.2020</a:t>
            </a:fld>
            <a:endParaRPr lang="ro-RO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62A39-2515-419F-A638-CC38E55C570C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ro-RO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ro-RO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1DD73-AA66-4A70-8FD8-43DD995462CE}" type="datetimeFigureOut">
              <a:rPr lang="ro-RO" smtClean="0"/>
              <a:pPr/>
              <a:t>18.05.2020</a:t>
            </a:fld>
            <a:endParaRPr lang="ro-RO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62A39-2515-419F-A638-CC38E55C570C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ro-RO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1DD73-AA66-4A70-8FD8-43DD995462CE}" type="datetimeFigureOut">
              <a:rPr lang="ro-RO" smtClean="0"/>
              <a:pPr/>
              <a:t>18.05.2020</a:t>
            </a:fld>
            <a:endParaRPr lang="ro-RO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62A39-2515-419F-A638-CC38E55C570C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ro-RO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ro-RO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ro-RO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1DD73-AA66-4A70-8FD8-43DD995462CE}" type="datetimeFigureOut">
              <a:rPr lang="ro-RO" smtClean="0"/>
              <a:pPr/>
              <a:t>18.05.2020</a:t>
            </a:fld>
            <a:endParaRPr lang="ro-RO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62A39-2515-419F-A638-CC38E55C570C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ro-RO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ro-RO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ro-RO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1DD73-AA66-4A70-8FD8-43DD995462CE}" type="datetimeFigureOut">
              <a:rPr lang="ro-RO" smtClean="0"/>
              <a:pPr/>
              <a:t>18.05.2020</a:t>
            </a:fld>
            <a:endParaRPr lang="ro-RO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62A39-2515-419F-A638-CC38E55C570C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ro-RO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1DD73-AA66-4A70-8FD8-43DD995462CE}" type="datetimeFigureOut">
              <a:rPr lang="ro-RO" smtClean="0"/>
              <a:pPr/>
              <a:t>18.05.2020</a:t>
            </a:fld>
            <a:endParaRPr lang="ro-RO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62A39-2515-419F-A638-CC38E55C570C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1DD73-AA66-4A70-8FD8-43DD995462CE}" type="datetimeFigureOut">
              <a:rPr lang="ro-RO" smtClean="0"/>
              <a:pPr/>
              <a:t>18.05.2020</a:t>
            </a:fld>
            <a:endParaRPr lang="ro-RO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62A39-2515-419F-A638-CC38E55C570C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ro-RO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ro-RO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1DD73-AA66-4A70-8FD8-43DD995462CE}" type="datetimeFigureOut">
              <a:rPr lang="ro-RO" smtClean="0"/>
              <a:pPr/>
              <a:t>18.05.2020</a:t>
            </a:fld>
            <a:endParaRPr lang="ro-RO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62A39-2515-419F-A638-CC38E55C570C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ro-RO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1DD73-AA66-4A70-8FD8-43DD995462CE}" type="datetimeFigureOut">
              <a:rPr lang="ro-RO" smtClean="0"/>
              <a:pPr/>
              <a:t>18.05.2020</a:t>
            </a:fld>
            <a:endParaRPr lang="ro-RO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62A39-2515-419F-A638-CC38E55C570C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ro-RO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ro-RO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1DD73-AA66-4A70-8FD8-43DD995462CE}" type="datetimeFigureOut">
              <a:rPr lang="ro-RO" smtClean="0"/>
              <a:pPr/>
              <a:t>18.05.2020</a:t>
            </a:fld>
            <a:endParaRPr lang="ro-RO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62A39-2515-419F-A638-CC38E55C570C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ro-RO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ro-RO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1DD73-AA66-4A70-8FD8-43DD995462CE}" type="datetimeFigureOut">
              <a:rPr lang="ro-RO" smtClean="0"/>
              <a:pPr/>
              <a:t>18.05.2020</a:t>
            </a:fld>
            <a:endParaRPr lang="ro-RO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62A39-2515-419F-A638-CC38E55C570C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ro-RO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ro-RO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41DD73-AA66-4A70-8FD8-43DD995462CE}" type="datetimeFigureOut">
              <a:rPr lang="ro-RO" smtClean="0"/>
              <a:pPr/>
              <a:t>18.05.2020</a:t>
            </a:fld>
            <a:endParaRPr lang="ro-RO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62A39-2515-419F-A638-CC38E55C570C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Clivaje multidimensionale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ro-RO" sz="2800" b="1" dirty="0">
                <a:latin typeface="Times New Roman" pitchFamily="18" charset="0"/>
                <a:cs typeface="Times New Roman" pitchFamily="18" charset="0"/>
              </a:rPr>
              <a:t>Clivajul </a:t>
            </a:r>
            <a:r>
              <a:rPr lang="ro-RO" sz="2800" b="1" dirty="0" err="1">
                <a:latin typeface="Times New Roman" pitchFamily="18" charset="0"/>
                <a:cs typeface="Times New Roman" pitchFamily="18" charset="0"/>
              </a:rPr>
              <a:t>Rokkan</a:t>
            </a:r>
            <a:r>
              <a:rPr lang="ro-RO" sz="2800" b="1">
                <a:latin typeface="Times New Roman" pitchFamily="18" charset="0"/>
                <a:cs typeface="Times New Roman" pitchFamily="18" charset="0"/>
              </a:rPr>
              <a:t> - Lipset</a:t>
            </a:r>
            <a:endParaRPr lang="ro-RO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536" y="836712"/>
            <a:ext cx="8229600" cy="5616624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ro-RO" sz="6400" b="1" dirty="0">
                <a:latin typeface="Times New Roman" pitchFamily="18" charset="0"/>
                <a:cs typeface="Times New Roman" pitchFamily="18" charset="0"/>
              </a:rPr>
              <a:t>Clivajele lui </a:t>
            </a:r>
            <a:r>
              <a:rPr lang="ro-RO" sz="6400" b="1" dirty="0" err="1">
                <a:latin typeface="Times New Roman" pitchFamily="18" charset="0"/>
                <a:cs typeface="Times New Roman" pitchFamily="18" charset="0"/>
              </a:rPr>
              <a:t>Rokkan</a:t>
            </a:r>
            <a:r>
              <a:rPr lang="ro-RO" sz="6400" b="1" dirty="0">
                <a:latin typeface="Times New Roman" pitchFamily="18" charset="0"/>
                <a:cs typeface="Times New Roman" pitchFamily="18" charset="0"/>
              </a:rPr>
              <a:t> și </a:t>
            </a:r>
            <a:r>
              <a:rPr lang="ro-RO" sz="6400" b="1" dirty="0" err="1">
                <a:latin typeface="Times New Roman" pitchFamily="18" charset="0"/>
                <a:cs typeface="Times New Roman" pitchFamily="18" charset="0"/>
              </a:rPr>
              <a:t>Lipset</a:t>
            </a:r>
            <a:r>
              <a:rPr lang="ro-RO" sz="6400" b="1" dirty="0">
                <a:latin typeface="Times New Roman" pitchFamily="18" charset="0"/>
                <a:cs typeface="Times New Roman" pitchFamily="18" charset="0"/>
              </a:rPr>
              <a:t> sunt o consecință a tensiunii generate de un momentul critic care antrenează, fracturează  și mobilizează comunitatea în raport cu schimbările și mizele propuse. </a:t>
            </a:r>
          </a:p>
          <a:p>
            <a:pPr marL="0" indent="0">
              <a:buNone/>
            </a:pPr>
            <a:endParaRPr lang="ro-RO" sz="64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o-RO" sz="6400" b="1" dirty="0">
                <a:latin typeface="Times New Roman" pitchFamily="18" charset="0"/>
                <a:cs typeface="Times New Roman" pitchFamily="18" charset="0"/>
              </a:rPr>
              <a:t>Etapa I</a:t>
            </a:r>
          </a:p>
          <a:p>
            <a:pPr>
              <a:buNone/>
            </a:pPr>
            <a:r>
              <a:rPr lang="ro-RO" sz="6400" b="1" dirty="0">
                <a:latin typeface="Times New Roman" pitchFamily="18" charset="0"/>
                <a:cs typeface="Times New Roman" pitchFamily="18" charset="0"/>
              </a:rPr>
              <a:t>Secolele XVI-XVII</a:t>
            </a:r>
          </a:p>
          <a:p>
            <a:pPr>
              <a:buNone/>
            </a:pPr>
            <a:r>
              <a:rPr lang="ro-RO" sz="6400" b="1" dirty="0">
                <a:latin typeface="Times New Roman" pitchFamily="18" charset="0"/>
                <a:cs typeface="Times New Roman" pitchFamily="18" charset="0"/>
              </a:rPr>
              <a:t>	Moment critic  Reforma-contrareforma</a:t>
            </a:r>
          </a:p>
          <a:p>
            <a:pPr>
              <a:buNone/>
            </a:pPr>
            <a:r>
              <a:rPr lang="ro-RO" sz="6400" b="1" dirty="0">
                <a:latin typeface="Times New Roman" pitchFamily="18" charset="0"/>
                <a:cs typeface="Times New Roman" pitchFamily="18" charset="0"/>
              </a:rPr>
              <a:t>	Manifestare Revoluția democratică</a:t>
            </a:r>
          </a:p>
          <a:p>
            <a:pPr>
              <a:buNone/>
            </a:pPr>
            <a:r>
              <a:rPr lang="ro-RO" sz="6400" b="1" dirty="0">
                <a:latin typeface="Times New Roman" pitchFamily="18" charset="0"/>
                <a:cs typeface="Times New Roman" pitchFamily="18" charset="0"/>
              </a:rPr>
              <a:t>Forme de exprimare</a:t>
            </a:r>
          </a:p>
          <a:p>
            <a:pPr>
              <a:buNone/>
            </a:pPr>
            <a:r>
              <a:rPr lang="ro-RO" sz="6400" b="1" dirty="0">
                <a:latin typeface="Times New Roman" pitchFamily="18" charset="0"/>
                <a:cs typeface="Times New Roman" pitchFamily="18" charset="0"/>
              </a:rPr>
              <a:t>Conflict: Religie națională -  supranațională</a:t>
            </a:r>
          </a:p>
          <a:p>
            <a:pPr>
              <a:buNone/>
            </a:pPr>
            <a:r>
              <a:rPr lang="ro-RO" sz="6400" b="1" dirty="0">
                <a:latin typeface="Times New Roman" pitchFamily="18" charset="0"/>
                <a:cs typeface="Times New Roman" pitchFamily="18" charset="0"/>
              </a:rPr>
              <a:t>	         Limbă națională - latină</a:t>
            </a:r>
          </a:p>
          <a:p>
            <a:pPr>
              <a:buNone/>
            </a:pPr>
            <a:r>
              <a:rPr lang="ro-RO" sz="6400" b="1" dirty="0">
                <a:latin typeface="Times New Roman" pitchFamily="18" charset="0"/>
                <a:cs typeface="Times New Roman" pitchFamily="18" charset="0"/>
              </a:rPr>
              <a:t>Se manifestă prin:</a:t>
            </a:r>
          </a:p>
          <a:p>
            <a:pPr>
              <a:buNone/>
            </a:pPr>
            <a:r>
              <a:rPr lang="ro-RO" sz="6400" b="1" dirty="0">
                <a:latin typeface="Times New Roman" pitchFamily="18" charset="0"/>
                <a:cs typeface="Times New Roman" pitchFamily="18" charset="0"/>
              </a:rPr>
              <a:t>	Clivaj Centru-periferie</a:t>
            </a:r>
          </a:p>
          <a:p>
            <a:pPr>
              <a:buNone/>
            </a:pPr>
            <a:r>
              <a:rPr lang="ro-RO" sz="6400" b="1" dirty="0">
                <a:latin typeface="Times New Roman" pitchFamily="18" charset="0"/>
                <a:cs typeface="Times New Roman" pitchFamily="18" charset="0"/>
              </a:rPr>
              <a:t>	Clivaj Stat-biserică</a:t>
            </a:r>
          </a:p>
          <a:p>
            <a:pPr>
              <a:buNone/>
            </a:pPr>
            <a:endParaRPr lang="ro-RO" sz="56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o-RO" sz="5600" b="1" dirty="0">
                <a:latin typeface="Times New Roman" pitchFamily="18" charset="0"/>
                <a:cs typeface="Times New Roman" pitchFamily="18" charset="0"/>
              </a:rPr>
              <a:t>	Miză  Controlul secular-control religios al educa]iei de masă</a:t>
            </a:r>
          </a:p>
          <a:p>
            <a:pPr>
              <a:buNone/>
            </a:pPr>
            <a:endParaRPr lang="ro-RO" sz="56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ro-RO" sz="2800" b="1" dirty="0">
                <a:latin typeface="Times New Roman" pitchFamily="18" charset="0"/>
                <a:cs typeface="Times New Roman" pitchFamily="18" charset="0"/>
              </a:rPr>
              <a:t>Clivajul </a:t>
            </a:r>
            <a:r>
              <a:rPr lang="ro-RO" sz="2800" b="1" dirty="0" err="1">
                <a:latin typeface="Times New Roman" pitchFamily="18" charset="0"/>
                <a:cs typeface="Times New Roman" pitchFamily="18" charset="0"/>
              </a:rPr>
              <a:t>Rokkan</a:t>
            </a:r>
            <a:r>
              <a:rPr lang="ro-RO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o-RO" sz="2800" b="1" dirty="0" err="1">
                <a:latin typeface="Times New Roman" pitchFamily="18" charset="0"/>
                <a:cs typeface="Times New Roman" pitchFamily="18" charset="0"/>
              </a:rPr>
              <a:t>Lipset</a:t>
            </a:r>
            <a:endParaRPr lang="ro-RO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 fontScale="32500" lnSpcReduction="20000"/>
          </a:bodyPr>
          <a:lstStyle/>
          <a:p>
            <a:pPr>
              <a:buNone/>
            </a:pPr>
            <a:r>
              <a:rPr lang="ro-RO" sz="5500" b="1" dirty="0">
                <a:latin typeface="Times New Roman" pitchFamily="18" charset="0"/>
                <a:cs typeface="Times New Roman" pitchFamily="18" charset="0"/>
              </a:rPr>
              <a:t>Etapa II</a:t>
            </a:r>
          </a:p>
          <a:p>
            <a:pPr>
              <a:buNone/>
            </a:pPr>
            <a:r>
              <a:rPr lang="ro-RO" sz="5500" b="1" dirty="0">
                <a:latin typeface="Times New Roman" pitchFamily="18" charset="0"/>
                <a:cs typeface="Times New Roman" pitchFamily="18" charset="0"/>
              </a:rPr>
              <a:t>Secolul XIX</a:t>
            </a:r>
          </a:p>
          <a:p>
            <a:pPr>
              <a:buNone/>
            </a:pPr>
            <a:r>
              <a:rPr lang="ro-RO" sz="5500" b="1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>
              <a:buNone/>
            </a:pPr>
            <a:r>
              <a:rPr lang="ro-RO" sz="5500" b="1" dirty="0">
                <a:latin typeface="Times New Roman" pitchFamily="18" charset="0"/>
                <a:cs typeface="Times New Roman" pitchFamily="18" charset="0"/>
              </a:rPr>
              <a:t>	Moment critic Prima revoluție industrială</a:t>
            </a:r>
          </a:p>
          <a:p>
            <a:pPr>
              <a:buNone/>
            </a:pPr>
            <a:r>
              <a:rPr lang="ro-RO" sz="5500" b="1" dirty="0">
                <a:latin typeface="Times New Roman" pitchFamily="18" charset="0"/>
                <a:cs typeface="Times New Roman" pitchFamily="18" charset="0"/>
              </a:rPr>
              <a:t>	Manifestare Revoluția rusă, Răscoala din 1907</a:t>
            </a:r>
          </a:p>
          <a:p>
            <a:pPr>
              <a:buNone/>
            </a:pPr>
            <a:endParaRPr lang="ro-RO" sz="55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o-RO" sz="5500" b="1" dirty="0">
                <a:latin typeface="Times New Roman" pitchFamily="18" charset="0"/>
                <a:cs typeface="Times New Roman" pitchFamily="18" charset="0"/>
              </a:rPr>
              <a:t>Forme de exprimare</a:t>
            </a:r>
          </a:p>
          <a:p>
            <a:pPr>
              <a:buNone/>
            </a:pPr>
            <a:r>
              <a:rPr lang="ro-RO" sz="5500" b="1" dirty="0">
                <a:latin typeface="Times New Roman" pitchFamily="18" charset="0"/>
                <a:cs typeface="Times New Roman" pitchFamily="18" charset="0"/>
              </a:rPr>
              <a:t>	Conflict între</a:t>
            </a:r>
          </a:p>
          <a:p>
            <a:pPr>
              <a:buNone/>
            </a:pPr>
            <a:r>
              <a:rPr lang="ro-RO" sz="5500" b="1" dirty="0">
                <a:latin typeface="Times New Roman" pitchFamily="18" charset="0"/>
                <a:cs typeface="Times New Roman" pitchFamily="18" charset="0"/>
              </a:rPr>
              <a:t>	      </a:t>
            </a:r>
            <a:r>
              <a:rPr lang="vi-VN" sz="5500" b="1" dirty="0">
                <a:latin typeface="Times New Roman" pitchFamily="18" charset="0"/>
                <a:cs typeface="Times New Roman" pitchFamily="18" charset="0"/>
              </a:rPr>
              <a:t>Ag</a:t>
            </a:r>
            <a:r>
              <a:rPr lang="ro-RO" sz="5500" b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vi-VN" sz="5500" b="1" dirty="0">
                <a:latin typeface="Times New Roman" pitchFamily="18" charset="0"/>
                <a:cs typeface="Times New Roman" pitchFamily="18" charset="0"/>
              </a:rPr>
              <a:t>icultură</a:t>
            </a:r>
            <a:r>
              <a:rPr lang="ro-RO" sz="5500" b="1" dirty="0">
                <a:latin typeface="Times New Roman" pitchFamily="18" charset="0"/>
                <a:cs typeface="Times New Roman" pitchFamily="18" charset="0"/>
              </a:rPr>
              <a:t> - Industrie </a:t>
            </a:r>
          </a:p>
          <a:p>
            <a:pPr>
              <a:buNone/>
            </a:pPr>
            <a:r>
              <a:rPr lang="ro-RO" sz="5500" b="1" dirty="0">
                <a:latin typeface="Times New Roman" pitchFamily="18" charset="0"/>
                <a:cs typeface="Times New Roman" pitchFamily="18" charset="0"/>
              </a:rPr>
              <a:t>	      Consolidarea pieței naționale – Prima globalizare (colonialismul)</a:t>
            </a:r>
          </a:p>
          <a:p>
            <a:pPr>
              <a:buNone/>
            </a:pPr>
            <a:r>
              <a:rPr lang="ro-RO" sz="5500" b="1" dirty="0">
                <a:latin typeface="Times New Roman" pitchFamily="18" charset="0"/>
                <a:cs typeface="Times New Roman" pitchFamily="18" charset="0"/>
              </a:rPr>
              <a:t>            Proprietari agricoli –Administratori (Ciocoii vechi-ciocoii noi) </a:t>
            </a:r>
          </a:p>
          <a:p>
            <a:pPr>
              <a:buNone/>
            </a:pPr>
            <a:r>
              <a:rPr lang="ro-RO" sz="5500" b="1" dirty="0">
                <a:latin typeface="Times New Roman" pitchFamily="18" charset="0"/>
                <a:cs typeface="Times New Roman" pitchFamily="18" charset="0"/>
              </a:rPr>
              <a:t>	  </a:t>
            </a:r>
          </a:p>
          <a:p>
            <a:pPr>
              <a:buNone/>
            </a:pPr>
            <a:r>
              <a:rPr lang="ro-RO" sz="5500" b="1" dirty="0">
                <a:latin typeface="Times New Roman" pitchFamily="18" charset="0"/>
                <a:cs typeface="Times New Roman" pitchFamily="18" charset="0"/>
              </a:rPr>
              <a:t>Se manifestă prin:</a:t>
            </a:r>
          </a:p>
          <a:p>
            <a:pPr>
              <a:buNone/>
            </a:pPr>
            <a:r>
              <a:rPr lang="ro-RO" sz="5500" b="1" dirty="0">
                <a:latin typeface="Times New Roman" pitchFamily="18" charset="0"/>
                <a:cs typeface="Times New Roman" pitchFamily="18" charset="0"/>
              </a:rPr>
              <a:t>	Clivajul Rural-urban</a:t>
            </a:r>
          </a:p>
          <a:p>
            <a:pPr>
              <a:buNone/>
            </a:pPr>
            <a:r>
              <a:rPr lang="ro-RO" sz="5500" b="1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>
              <a:buNone/>
            </a:pPr>
            <a:r>
              <a:rPr lang="ro-RO" sz="5500" b="1" dirty="0">
                <a:latin typeface="Times New Roman" pitchFamily="18" charset="0"/>
                <a:cs typeface="Times New Roman" pitchFamily="18" charset="0"/>
              </a:rPr>
              <a:t>	Miza </a:t>
            </a:r>
          </a:p>
          <a:p>
            <a:pPr>
              <a:buNone/>
            </a:pPr>
            <a:r>
              <a:rPr lang="ro-RO" sz="5500" b="1" dirty="0">
                <a:latin typeface="Times New Roman" pitchFamily="18" charset="0"/>
                <a:cs typeface="Times New Roman" pitchFamily="18" charset="0"/>
              </a:rPr>
              <a:t>	Nivel al tarifelor pentru produsele agricole, </a:t>
            </a:r>
          </a:p>
          <a:p>
            <a:pPr>
              <a:buNone/>
            </a:pPr>
            <a:r>
              <a:rPr lang="ro-RO" sz="5500" b="1" dirty="0">
                <a:latin typeface="Times New Roman" pitchFamily="18" charset="0"/>
                <a:cs typeface="Times New Roman" pitchFamily="18" charset="0"/>
              </a:rPr>
              <a:t>	Controlul – libertate pentru întreprinderile industriale</a:t>
            </a:r>
          </a:p>
          <a:p>
            <a:pPr>
              <a:buNone/>
            </a:pPr>
            <a:endParaRPr lang="ro-RO" sz="5500" b="1" dirty="0">
              <a:latin typeface="Times New Roman" pitchFamily="18" charset="0"/>
              <a:cs typeface="Times New Roman" pitchFamily="18" charset="0"/>
            </a:endParaRPr>
          </a:p>
          <a:p>
            <a:endParaRPr lang="ro-RO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2800" b="1" dirty="0">
                <a:latin typeface="Times New Roman" pitchFamily="18" charset="0"/>
                <a:cs typeface="Times New Roman" pitchFamily="18" charset="0"/>
              </a:rPr>
              <a:t>Clivajul </a:t>
            </a:r>
            <a:r>
              <a:rPr lang="ro-RO" sz="2800" b="1" dirty="0" err="1">
                <a:latin typeface="Times New Roman" pitchFamily="18" charset="0"/>
                <a:cs typeface="Times New Roman" pitchFamily="18" charset="0"/>
              </a:rPr>
              <a:t>Rokkan</a:t>
            </a:r>
            <a:r>
              <a:rPr lang="ro-RO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o-RO" sz="2800" b="1" dirty="0" err="1">
                <a:latin typeface="Times New Roman" pitchFamily="18" charset="0"/>
                <a:cs typeface="Times New Roman" pitchFamily="18" charset="0"/>
              </a:rPr>
              <a:t>Lipset</a:t>
            </a:r>
            <a:endParaRPr lang="ro-RO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o-RO" sz="1800" b="1" dirty="0">
                <a:latin typeface="Times New Roman" pitchFamily="18" charset="0"/>
                <a:cs typeface="Times New Roman" pitchFamily="18" charset="0"/>
              </a:rPr>
              <a:t>Etapa III</a:t>
            </a:r>
          </a:p>
          <a:p>
            <a:pPr>
              <a:buNone/>
            </a:pPr>
            <a:r>
              <a:rPr lang="ro-RO" sz="1800" b="1" dirty="0">
                <a:latin typeface="Times New Roman" pitchFamily="18" charset="0"/>
                <a:cs typeface="Times New Roman" pitchFamily="18" charset="0"/>
              </a:rPr>
              <a:t>Secolul XX</a:t>
            </a:r>
          </a:p>
          <a:p>
            <a:pPr>
              <a:buNone/>
            </a:pPr>
            <a:r>
              <a:rPr lang="ro-RO" sz="1800" b="1" dirty="0">
                <a:latin typeface="Times New Roman" pitchFamily="18" charset="0"/>
                <a:cs typeface="Times New Roman" pitchFamily="18" charset="0"/>
              </a:rPr>
              <a:t>	Moment critic A doua revoluție industrială</a:t>
            </a:r>
          </a:p>
          <a:p>
            <a:pPr>
              <a:buNone/>
            </a:pPr>
            <a:r>
              <a:rPr lang="ro-RO" sz="1800" b="1" dirty="0">
                <a:latin typeface="Times New Roman" pitchFamily="18" charset="0"/>
                <a:cs typeface="Times New Roman" pitchFamily="18" charset="0"/>
              </a:rPr>
              <a:t>	Manifestare „Marea” criză, primul și al doilea război mondial</a:t>
            </a:r>
          </a:p>
          <a:p>
            <a:pPr>
              <a:buNone/>
            </a:pPr>
            <a:r>
              <a:rPr lang="ro-RO" sz="1800" b="1" dirty="0">
                <a:latin typeface="Times New Roman" pitchFamily="18" charset="0"/>
                <a:cs typeface="Times New Roman" pitchFamily="18" charset="0"/>
              </a:rPr>
              <a:t>Conflict între</a:t>
            </a:r>
          </a:p>
          <a:p>
            <a:pPr>
              <a:buNone/>
            </a:pPr>
            <a:r>
              <a:rPr lang="ro-RO" sz="1800" b="1" dirty="0">
                <a:latin typeface="Times New Roman" pitchFamily="18" charset="0"/>
                <a:cs typeface="Times New Roman" pitchFamily="18" charset="0"/>
              </a:rPr>
              <a:t>	„Marile puteri” pentru controlul resurselor </a:t>
            </a:r>
          </a:p>
          <a:p>
            <a:pPr>
              <a:buNone/>
            </a:pPr>
            <a:r>
              <a:rPr lang="ro-RO" sz="1800" b="1" dirty="0">
                <a:latin typeface="Times New Roman" pitchFamily="18" charset="0"/>
                <a:cs typeface="Times New Roman" pitchFamily="18" charset="0"/>
              </a:rPr>
              <a:t>	Puteri coloniale – mișcări de eliberare (</a:t>
            </a:r>
            <a:r>
              <a:rPr lang="ro-RO" sz="1800" b="1" dirty="0" err="1">
                <a:latin typeface="Times New Roman" pitchFamily="18" charset="0"/>
                <a:cs typeface="Times New Roman" pitchFamily="18" charset="0"/>
              </a:rPr>
              <a:t>Decolonializare</a:t>
            </a:r>
            <a:r>
              <a:rPr lang="ro-RO" sz="1800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None/>
            </a:pPr>
            <a:endParaRPr lang="ro-RO" sz="18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o-RO" sz="1800" b="1" dirty="0">
                <a:latin typeface="Times New Roman" pitchFamily="18" charset="0"/>
                <a:cs typeface="Times New Roman" pitchFamily="18" charset="0"/>
              </a:rPr>
              <a:t>Se manifestă prin:</a:t>
            </a:r>
          </a:p>
          <a:p>
            <a:pPr>
              <a:buNone/>
            </a:pPr>
            <a:r>
              <a:rPr lang="ro-RO" sz="1800" b="1" dirty="0">
                <a:latin typeface="Times New Roman" pitchFamily="18" charset="0"/>
                <a:cs typeface="Times New Roman" pitchFamily="18" charset="0"/>
              </a:rPr>
              <a:t>	Clivaj Patron-angajat</a:t>
            </a:r>
          </a:p>
          <a:p>
            <a:pPr>
              <a:buNone/>
            </a:pPr>
            <a:r>
              <a:rPr lang="ro-RO" sz="1800" b="1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>
              <a:buNone/>
            </a:pPr>
            <a:r>
              <a:rPr lang="ro-RO" sz="1800" b="1" dirty="0">
                <a:latin typeface="Times New Roman" pitchFamily="18" charset="0"/>
                <a:cs typeface="Times New Roman" pitchFamily="18" charset="0"/>
              </a:rPr>
              <a:t>	Miză Integrare națională - angajament revoluționar internațional</a:t>
            </a:r>
          </a:p>
          <a:p>
            <a:pPr>
              <a:buNone/>
            </a:pPr>
            <a:r>
              <a:rPr lang="ro-RO" sz="1800" b="1" dirty="0">
                <a:latin typeface="Times New Roman" pitchFamily="18" charset="0"/>
                <a:cs typeface="Times New Roman" pitchFamily="18" charset="0"/>
              </a:rPr>
              <a:t>		Integrare europeană -  globalizare</a:t>
            </a:r>
          </a:p>
          <a:p>
            <a:endParaRPr lang="ro-RO" dirty="0"/>
          </a:p>
          <a:p>
            <a:endParaRPr lang="ro-RO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r>
              <a:rPr lang="ro-RO" sz="2800" b="1" dirty="0">
                <a:latin typeface="Times New Roman" pitchFamily="18" charset="0"/>
                <a:cs typeface="Times New Roman" pitchFamily="18" charset="0"/>
              </a:rPr>
              <a:t>Clivajul </a:t>
            </a:r>
            <a:r>
              <a:rPr lang="ro-RO" sz="2800" b="1" dirty="0" err="1">
                <a:latin typeface="Times New Roman" pitchFamily="18" charset="0"/>
                <a:cs typeface="Times New Roman" pitchFamily="18" charset="0"/>
              </a:rPr>
              <a:t>Rokkan</a:t>
            </a:r>
            <a:r>
              <a:rPr lang="ro-RO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o-RO" sz="2800" b="1" dirty="0" err="1">
                <a:latin typeface="Times New Roman" pitchFamily="18" charset="0"/>
                <a:cs typeface="Times New Roman" pitchFamily="18" charset="0"/>
              </a:rPr>
              <a:t>Lipset</a:t>
            </a:r>
            <a:endParaRPr lang="ro-RO" sz="28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</p:nvPr>
        </p:nvGraphicFramePr>
        <p:xfrm>
          <a:off x="107504" y="1268760"/>
          <a:ext cx="8928992" cy="467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1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61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73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6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42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 gridSpan="8">
                  <a:txBody>
                    <a:bodyPr/>
                    <a:lstStyle/>
                    <a:p>
                      <a:pPr algn="ctr"/>
                      <a:r>
                        <a:rPr lang="ro-RO" sz="12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Revoluțiile moderne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ro-RO" sz="1200" b="1" noProof="0">
                          <a:latin typeface="Times New Roman" pitchFamily="18" charset="0"/>
                          <a:cs typeface="Times New Roman" pitchFamily="18" charset="0"/>
                        </a:rPr>
                        <a:t>Revoluția națională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ro-RO" sz="1200" b="1" dirty="0">
                          <a:latin typeface="Times New Roman" pitchFamily="18" charset="0"/>
                          <a:cs typeface="Times New Roman" pitchFamily="18" charset="0"/>
                        </a:rPr>
                        <a:t>Revoluția industrială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ro-RO" sz="1200" b="1" noProof="0">
                          <a:latin typeface="Times New Roman" pitchFamily="18" charset="0"/>
                          <a:cs typeface="Times New Roman" pitchFamily="18" charset="0"/>
                        </a:rPr>
                        <a:t>Stat – biserică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ro-RO" sz="12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o-RO" sz="1200" b="1" dirty="0">
                          <a:latin typeface="Times New Roman" pitchFamily="18" charset="0"/>
                          <a:cs typeface="Times New Roman" pitchFamily="18" charset="0"/>
                        </a:rPr>
                        <a:t>Centru - periferie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o-RO" sz="1200" b="1" dirty="0">
                          <a:latin typeface="Times New Roman" pitchFamily="18" charset="0"/>
                          <a:cs typeface="Times New Roman" pitchFamily="18" charset="0"/>
                        </a:rPr>
                        <a:t>Rural – urban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o-RO" sz="1200" b="1" dirty="0">
                          <a:latin typeface="Times New Roman" pitchFamily="18" charset="0"/>
                          <a:cs typeface="Times New Roman" pitchFamily="18" charset="0"/>
                        </a:rPr>
                        <a:t>Angajat - patron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o-R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sz="1200" b="1" noProof="0">
                          <a:latin typeface="Times New Roman" pitchFamily="18" charset="0"/>
                          <a:cs typeface="Times New Roman" pitchFamily="18" charset="0"/>
                        </a:rPr>
                        <a:t>Partide laice și instituțional etatiste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1" noProof="0">
                          <a:latin typeface="Times New Roman" pitchFamily="18" charset="0"/>
                          <a:cs typeface="Times New Roman" pitchFamily="18" charset="0"/>
                        </a:rPr>
                        <a:t>Partidele</a:t>
                      </a:r>
                    </a:p>
                    <a:p>
                      <a:r>
                        <a:rPr lang="ro-RO" sz="1200" b="1" noProof="0">
                          <a:latin typeface="Times New Roman" pitchFamily="18" charset="0"/>
                          <a:cs typeface="Times New Roman" pitchFamily="18" charset="0"/>
                        </a:rPr>
                        <a:t>Confesionale și de influență confesională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1" dirty="0">
                          <a:latin typeface="Times New Roman" pitchFamily="18" charset="0"/>
                          <a:cs typeface="Times New Roman" pitchFamily="18" charset="0"/>
                        </a:rPr>
                        <a:t>Partidele</a:t>
                      </a:r>
                    </a:p>
                    <a:p>
                      <a:r>
                        <a:rPr lang="ro-RO" sz="1200" b="1" dirty="0">
                          <a:latin typeface="Times New Roman" pitchFamily="18" charset="0"/>
                          <a:cs typeface="Times New Roman" pitchFamily="18" charset="0"/>
                        </a:rPr>
                        <a:t>centrului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1" dirty="0">
                          <a:latin typeface="Times New Roman" pitchFamily="18" charset="0"/>
                          <a:cs typeface="Times New Roman" pitchFamily="18" charset="0"/>
                        </a:rPr>
                        <a:t>Partide periferiei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1" dirty="0">
                          <a:latin typeface="Times New Roman" pitchFamily="18" charset="0"/>
                          <a:cs typeface="Times New Roman" pitchFamily="18" charset="0"/>
                        </a:rPr>
                        <a:t>Partide agrariene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1" dirty="0">
                          <a:latin typeface="Times New Roman" pitchFamily="18" charset="0"/>
                          <a:cs typeface="Times New Roman" pitchFamily="18" charset="0"/>
                        </a:rPr>
                        <a:t>Partide</a:t>
                      </a:r>
                      <a:r>
                        <a:rPr lang="ro-RO" sz="1200" b="1" baseline="0" dirty="0">
                          <a:latin typeface="Times New Roman" pitchFamily="18" charset="0"/>
                          <a:cs typeface="Times New Roman" pitchFamily="18" charset="0"/>
                        </a:rPr>
                        <a:t> urbane</a:t>
                      </a:r>
                      <a:endParaRPr lang="ro-RO" sz="12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1" dirty="0">
                          <a:latin typeface="Times New Roman" pitchFamily="18" charset="0"/>
                          <a:cs typeface="Times New Roman" pitchFamily="18" charset="0"/>
                        </a:rPr>
                        <a:t>Partide ale angajaților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1" dirty="0">
                          <a:latin typeface="Times New Roman" pitchFamily="18" charset="0"/>
                          <a:cs typeface="Times New Roman" pitchFamily="18" charset="0"/>
                        </a:rPr>
                        <a:t>Partide patrimoniale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sz="1200" b="1" noProof="0">
                          <a:latin typeface="Times New Roman" pitchFamily="18" charset="0"/>
                          <a:cs typeface="Times New Roman" pitchFamily="18" charset="0"/>
                        </a:rPr>
                        <a:t>Partide radicale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1" noProof="0">
                          <a:latin typeface="Times New Roman" pitchFamily="18" charset="0"/>
                          <a:cs typeface="Times New Roman" pitchFamily="18" charset="0"/>
                        </a:rPr>
                        <a:t>Partide clericale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1" dirty="0">
                          <a:latin typeface="Times New Roman" pitchFamily="18" charset="0"/>
                          <a:cs typeface="Times New Roman" pitchFamily="18" charset="0"/>
                        </a:rPr>
                        <a:t>Partide </a:t>
                      </a:r>
                    </a:p>
                    <a:p>
                      <a:r>
                        <a:rPr lang="ro-RO" sz="1200" b="1" dirty="0">
                          <a:latin typeface="Times New Roman" pitchFamily="18" charset="0"/>
                          <a:cs typeface="Times New Roman" pitchFamily="18" charset="0"/>
                        </a:rPr>
                        <a:t>naționaliste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1" dirty="0">
                          <a:latin typeface="Times New Roman" pitchFamily="18" charset="0"/>
                          <a:cs typeface="Times New Roman" pitchFamily="18" charset="0"/>
                        </a:rPr>
                        <a:t>Partide regionaliste sau etnice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1" dirty="0">
                          <a:latin typeface="Times New Roman" pitchFamily="18" charset="0"/>
                          <a:cs typeface="Times New Roman" pitchFamily="18" charset="0"/>
                        </a:rPr>
                        <a:t>Partide țărănești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1" dirty="0">
                          <a:latin typeface="Times New Roman" pitchFamily="18" charset="0"/>
                          <a:cs typeface="Times New Roman" pitchFamily="18" charset="0"/>
                        </a:rPr>
                        <a:t>Partide </a:t>
                      </a:r>
                    </a:p>
                    <a:p>
                      <a:r>
                        <a:rPr lang="ro-RO" sz="1200" b="1" dirty="0" err="1">
                          <a:latin typeface="Times New Roman" pitchFamily="18" charset="0"/>
                          <a:cs typeface="Times New Roman" pitchFamily="18" charset="0"/>
                        </a:rPr>
                        <a:t>urbariene</a:t>
                      </a:r>
                      <a:endParaRPr lang="ro-RO" sz="12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1" dirty="0">
                          <a:latin typeface="Times New Roman" pitchFamily="18" charset="0"/>
                          <a:cs typeface="Times New Roman" pitchFamily="18" charset="0"/>
                        </a:rPr>
                        <a:t>Diaspora socialistă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1" dirty="0">
                          <a:latin typeface="Times New Roman" pitchFamily="18" charset="0"/>
                          <a:cs typeface="Times New Roman" pitchFamily="18" charset="0"/>
                        </a:rPr>
                        <a:t>Partide burgheze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26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1" noProof="0" dirty="0">
                          <a:latin typeface="Times New Roman" pitchFamily="18" charset="0"/>
                          <a:cs typeface="Times New Roman" pitchFamily="18" charset="0"/>
                        </a:rPr>
                        <a:t>Partidul radical socialist  francez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1" noProof="0" dirty="0">
                          <a:latin typeface="Times New Roman" pitchFamily="18" charset="0"/>
                          <a:cs typeface="Times New Roman" pitchFamily="18" charset="0"/>
                        </a:rPr>
                        <a:t>Sandalul Dreyfus și legea separației statului de biserică</a:t>
                      </a:r>
                    </a:p>
                    <a:p>
                      <a:endParaRPr lang="ro-RO" sz="1200" noProof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1" noProof="0" dirty="0">
                          <a:latin typeface="Times New Roman" pitchFamily="18" charset="0"/>
                          <a:cs typeface="Times New Roman" pitchFamily="18" charset="0"/>
                        </a:rPr>
                        <a:t>Partidele </a:t>
                      </a:r>
                    </a:p>
                    <a:p>
                      <a:r>
                        <a:rPr lang="ro-RO" sz="1200" b="1" noProof="0" dirty="0">
                          <a:latin typeface="Times New Roman" pitchFamily="18" charset="0"/>
                          <a:cs typeface="Times New Roman" pitchFamily="18" charset="0"/>
                        </a:rPr>
                        <a:t>confesionale irlandeze</a:t>
                      </a:r>
                    </a:p>
                    <a:p>
                      <a:r>
                        <a:rPr lang="ro-RO" sz="1200" b="1" noProof="0" dirty="0">
                          <a:latin typeface="Times New Roman" pitchFamily="18" charset="0"/>
                          <a:cs typeface="Times New Roman" pitchFamily="18" charset="0"/>
                        </a:rPr>
                        <a:t>Partidele creștin -</a:t>
                      </a:r>
                    </a:p>
                    <a:p>
                      <a:r>
                        <a:rPr lang="ro-RO" sz="1200" b="1" noProof="0" dirty="0">
                          <a:latin typeface="Times New Roman" pitchFamily="18" charset="0"/>
                          <a:cs typeface="Times New Roman" pitchFamily="18" charset="0"/>
                        </a:rPr>
                        <a:t>democrate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1" dirty="0">
                          <a:latin typeface="Times New Roman" pitchFamily="18" charset="0"/>
                          <a:cs typeface="Times New Roman" pitchFamily="18" charset="0"/>
                        </a:rPr>
                        <a:t>Partidul fascist</a:t>
                      </a:r>
                    </a:p>
                    <a:p>
                      <a:endParaRPr lang="ro-RO" sz="12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ro-RO" sz="1200" b="1" dirty="0">
                          <a:latin typeface="Times New Roman" pitchFamily="18" charset="0"/>
                          <a:cs typeface="Times New Roman" pitchFamily="18" charset="0"/>
                        </a:rPr>
                        <a:t>Alianța</a:t>
                      </a:r>
                    </a:p>
                    <a:p>
                      <a:r>
                        <a:rPr lang="ro-RO" sz="1200" b="1" baseline="0" dirty="0">
                          <a:latin typeface="Times New Roman" pitchFamily="18" charset="0"/>
                          <a:cs typeface="Times New Roman" pitchFamily="18" charset="0"/>
                        </a:rPr>
                        <a:t>Națională Flamandă</a:t>
                      </a:r>
                      <a:endParaRPr lang="ro-RO" sz="12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1" dirty="0">
                          <a:latin typeface="Times New Roman" pitchFamily="18" charset="0"/>
                          <a:cs typeface="Times New Roman" pitchFamily="18" charset="0"/>
                        </a:rPr>
                        <a:t>Partidul Național Român din Transilvania</a:t>
                      </a:r>
                    </a:p>
                    <a:p>
                      <a:r>
                        <a:rPr lang="ro-RO" sz="1200" b="1" dirty="0">
                          <a:latin typeface="Times New Roman" pitchFamily="18" charset="0"/>
                          <a:cs typeface="Times New Roman" pitchFamily="18" charset="0"/>
                        </a:rPr>
                        <a:t>Partidul Național Basc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1" dirty="0">
                          <a:latin typeface="Times New Roman" pitchFamily="18" charset="0"/>
                          <a:cs typeface="Times New Roman" pitchFamily="18" charset="0"/>
                        </a:rPr>
                        <a:t>PNȚ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1" dirty="0">
                          <a:latin typeface="Times New Roman" pitchFamily="18" charset="0"/>
                          <a:cs typeface="Times New Roman" pitchFamily="18" charset="0"/>
                        </a:rPr>
                        <a:t>Nu există </a:t>
                      </a:r>
                      <a:r>
                        <a:rPr lang="ro-RO" sz="1200" b="1" dirty="0" err="1">
                          <a:latin typeface="Times New Roman" pitchFamily="18" charset="0"/>
                          <a:cs typeface="Times New Roman" pitchFamily="18" charset="0"/>
                        </a:rPr>
                        <a:t>paritde</a:t>
                      </a:r>
                      <a:r>
                        <a:rPr lang="ro-RO" sz="1200" b="1" dirty="0">
                          <a:latin typeface="Times New Roman" pitchFamily="18" charset="0"/>
                          <a:cs typeface="Times New Roman" pitchFamily="18" charset="0"/>
                        </a:rPr>
                        <a:t> urbane </a:t>
                      </a:r>
                      <a:r>
                        <a:rPr lang="ro-RO" sz="1200" b="1" dirty="0" err="1">
                          <a:latin typeface="Times New Roman" pitchFamily="18" charset="0"/>
                          <a:cs typeface="Times New Roman" pitchFamily="18" charset="0"/>
                        </a:rPr>
                        <a:t>explicte</a:t>
                      </a:r>
                      <a:r>
                        <a:rPr lang="ro-RO" sz="1200" b="1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1" dirty="0">
                          <a:latin typeface="Times New Roman" pitchFamily="18" charset="0"/>
                          <a:cs typeface="Times New Roman" pitchFamily="18" charset="0"/>
                        </a:rPr>
                        <a:t>Partidele socialiste</a:t>
                      </a:r>
                    </a:p>
                    <a:p>
                      <a:r>
                        <a:rPr lang="ro-RO" sz="1200" b="1" dirty="0">
                          <a:latin typeface="Times New Roman" pitchFamily="18" charset="0"/>
                          <a:cs typeface="Times New Roman" pitchFamily="18" charset="0"/>
                        </a:rPr>
                        <a:t>Comuniste</a:t>
                      </a:r>
                      <a:r>
                        <a:rPr lang="ro-RO" sz="1200" b="1" baseline="0" dirty="0">
                          <a:latin typeface="Times New Roman" pitchFamily="18" charset="0"/>
                          <a:cs typeface="Times New Roman" pitchFamily="18" charset="0"/>
                        </a:rPr>
                        <a:t> revoluționare</a:t>
                      </a:r>
                      <a:endParaRPr lang="ro-RO" sz="12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1" dirty="0">
                          <a:latin typeface="Times New Roman" pitchFamily="18" charset="0"/>
                          <a:cs typeface="Times New Roman" pitchFamily="18" charset="0"/>
                        </a:rPr>
                        <a:t>Partide conservatoare</a:t>
                      </a:r>
                    </a:p>
                    <a:p>
                      <a:r>
                        <a:rPr lang="ro-RO" sz="1200" b="1" dirty="0">
                          <a:latin typeface="Times New Roman" pitchFamily="18" charset="0"/>
                          <a:cs typeface="Times New Roman" pitchFamily="18" charset="0"/>
                        </a:rPr>
                        <a:t>Partide liberale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r>
              <a:rPr lang="ro-RO" sz="1800" b="1" dirty="0">
                <a:latin typeface="Times New Roman" pitchFamily="18" charset="0"/>
                <a:cs typeface="Times New Roman" pitchFamily="18" charset="0"/>
              </a:rPr>
              <a:t>Clivajele lui </a:t>
            </a:r>
            <a:r>
              <a:rPr lang="ro-RO" sz="1800" b="1" dirty="0" err="1">
                <a:latin typeface="Times New Roman" pitchFamily="18" charset="0"/>
                <a:cs typeface="Times New Roman" pitchFamily="18" charset="0"/>
              </a:rPr>
              <a:t>Kitschelt</a:t>
            </a:r>
            <a:br>
              <a:rPr lang="ro-RO" sz="1800" b="1" dirty="0">
                <a:latin typeface="Times New Roman" pitchFamily="18" charset="0"/>
                <a:cs typeface="Times New Roman" pitchFamily="18" charset="0"/>
              </a:rPr>
            </a:br>
            <a:r>
              <a:rPr lang="ro-RO" sz="1800" b="1" dirty="0">
                <a:latin typeface="Times New Roman" pitchFamily="18" charset="0"/>
                <a:cs typeface="Times New Roman" pitchFamily="18" charset="0"/>
              </a:rPr>
              <a:t>I Socialism birocratic şi </a:t>
            </a:r>
            <a:r>
              <a:rPr lang="ro-RO" sz="1800" b="1" dirty="0" err="1">
                <a:latin typeface="Times New Roman" pitchFamily="18" charset="0"/>
                <a:cs typeface="Times New Roman" pitchFamily="18" charset="0"/>
              </a:rPr>
              <a:t>impolzie</a:t>
            </a:r>
            <a:r>
              <a:rPr lang="ro-RO" sz="1800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ro-RO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ro-MO" b="1" dirty="0"/>
              <a:t>                                                         Libertarieni seculari</a:t>
            </a:r>
            <a:endParaRPr lang="ro-RO" b="1" dirty="0"/>
          </a:p>
          <a:p>
            <a:pPr>
              <a:buNone/>
            </a:pPr>
            <a:r>
              <a:rPr lang="ro-RO" dirty="0"/>
              <a:t> </a:t>
            </a:r>
          </a:p>
          <a:p>
            <a:pPr>
              <a:buNone/>
            </a:pPr>
            <a:r>
              <a:rPr lang="ro-RO" dirty="0"/>
              <a:t>   </a:t>
            </a:r>
          </a:p>
          <a:p>
            <a:endParaRPr lang="ro-RO" dirty="0"/>
          </a:p>
          <a:p>
            <a:pPr>
              <a:buNone/>
            </a:pPr>
            <a:br>
              <a:rPr lang="ro-RO" dirty="0"/>
            </a:br>
            <a:r>
              <a:rPr lang="ro-RO" b="1" dirty="0"/>
              <a:t>Populism                                                                                                      Liberali                                                                                                                                     economic ,                                                                                                                                                      adepţi ai</a:t>
            </a:r>
            <a:r>
              <a:rPr lang="ro-RO" dirty="0"/>
              <a:t> </a:t>
            </a:r>
            <a:r>
              <a:rPr lang="ro-RO" b="1" dirty="0"/>
              <a:t>pieţei</a:t>
            </a:r>
            <a:endParaRPr lang="ro-RO" dirty="0"/>
          </a:p>
          <a:p>
            <a:pPr>
              <a:buNone/>
            </a:pPr>
            <a:r>
              <a:rPr lang="ro-RO" b="1" dirty="0"/>
              <a:t>                                                                                                                                </a:t>
            </a:r>
            <a:endParaRPr lang="ro-RO" dirty="0"/>
          </a:p>
          <a:p>
            <a:pPr>
              <a:buNone/>
            </a:pPr>
            <a:r>
              <a:rPr lang="ro-RO" dirty="0"/>
              <a:t> </a:t>
            </a:r>
          </a:p>
          <a:p>
            <a:pPr>
              <a:buNone/>
            </a:pPr>
            <a:r>
              <a:rPr lang="ro-RO" dirty="0"/>
              <a:t> </a:t>
            </a:r>
          </a:p>
          <a:p>
            <a:pPr>
              <a:buNone/>
            </a:pPr>
            <a:r>
              <a:rPr lang="ro-RO" dirty="0"/>
              <a:t> </a:t>
            </a:r>
          </a:p>
          <a:p>
            <a:pPr>
              <a:buNone/>
            </a:pPr>
            <a:r>
              <a:rPr lang="ro-RO" b="1" dirty="0"/>
              <a:t> </a:t>
            </a:r>
            <a:endParaRPr lang="ro-RO" dirty="0"/>
          </a:p>
          <a:p>
            <a:pPr>
              <a:buNone/>
            </a:pPr>
            <a:r>
              <a:rPr lang="ro-MO" b="1" dirty="0"/>
              <a:t>                                                           Tradiţionalişti religioşi</a:t>
            </a:r>
            <a:endParaRPr lang="ro-RO" b="1" dirty="0"/>
          </a:p>
          <a:p>
            <a:pPr marL="0" indent="0">
              <a:buNone/>
            </a:pPr>
            <a:r>
              <a:rPr lang="ro-RO" b="1" dirty="0"/>
              <a:t>Socialism birocratic şi </a:t>
            </a:r>
            <a:r>
              <a:rPr lang="ro-RO" b="1" dirty="0" err="1"/>
              <a:t>impolzie</a:t>
            </a:r>
            <a:r>
              <a:rPr lang="ro-RO" b="1" dirty="0"/>
              <a:t> </a:t>
            </a:r>
            <a:r>
              <a:rPr lang="ro-RO" dirty="0"/>
              <a:t>după H. </a:t>
            </a:r>
            <a:r>
              <a:rPr lang="ro-RO" dirty="0" err="1"/>
              <a:t>Kitschelt</a:t>
            </a:r>
            <a:r>
              <a:rPr lang="ro-RO" dirty="0"/>
              <a:t>, „</a:t>
            </a:r>
            <a:r>
              <a:rPr lang="ro-RO" dirty="0" err="1"/>
              <a:t>Formation</a:t>
            </a:r>
            <a:r>
              <a:rPr lang="ro-RO" dirty="0"/>
              <a:t> of party </a:t>
            </a:r>
            <a:r>
              <a:rPr lang="ro-RO" dirty="0" err="1"/>
              <a:t>cleavages</a:t>
            </a:r>
            <a:r>
              <a:rPr lang="ro-RO" dirty="0"/>
              <a:t> in </a:t>
            </a:r>
            <a:r>
              <a:rPr lang="ro-RO" dirty="0" err="1"/>
              <a:t>post-communist</a:t>
            </a:r>
            <a:r>
              <a:rPr lang="ro-RO" dirty="0"/>
              <a:t> </a:t>
            </a:r>
            <a:r>
              <a:rPr lang="ro-RO" dirty="0" err="1"/>
              <a:t>democracies</a:t>
            </a:r>
            <a:r>
              <a:rPr lang="ro-RO" dirty="0"/>
              <a:t>; </a:t>
            </a:r>
            <a:r>
              <a:rPr lang="ro-RO" dirty="0" err="1"/>
              <a:t>in</a:t>
            </a:r>
            <a:r>
              <a:rPr lang="ro-RO" dirty="0"/>
              <a:t> „Party </a:t>
            </a:r>
            <a:r>
              <a:rPr lang="ro-RO" dirty="0" err="1"/>
              <a:t>Politics</a:t>
            </a:r>
            <a:r>
              <a:rPr lang="ro-RO" dirty="0"/>
              <a:t>” vol. 1, nr.4	</a:t>
            </a:r>
          </a:p>
          <a:p>
            <a:endParaRPr lang="ro-RO" dirty="0"/>
          </a:p>
        </p:txBody>
      </p:sp>
      <p:sp>
        <p:nvSpPr>
          <p:cNvPr id="4" name="Ellipse 3"/>
          <p:cNvSpPr/>
          <p:nvPr/>
        </p:nvSpPr>
        <p:spPr>
          <a:xfrm>
            <a:off x="2339752" y="2492896"/>
            <a:ext cx="1512168" cy="129614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b="1" dirty="0" err="1">
                <a:solidFill>
                  <a:schemeClr val="tx1"/>
                </a:solidFill>
              </a:rPr>
              <a:t>Socialişti</a:t>
            </a:r>
            <a:r>
              <a:rPr lang="fr-FR" sz="1400" b="1" dirty="0">
                <a:solidFill>
                  <a:schemeClr val="tx1"/>
                </a:solidFill>
              </a:rPr>
              <a:t> </a:t>
            </a:r>
            <a:r>
              <a:rPr lang="fr-FR" sz="1400" b="1" dirty="0" err="1">
                <a:solidFill>
                  <a:schemeClr val="tx1"/>
                </a:solidFill>
              </a:rPr>
              <a:t>şi</a:t>
            </a:r>
            <a:r>
              <a:rPr lang="fr-FR" sz="1400" b="1" dirty="0">
                <a:solidFill>
                  <a:schemeClr val="tx1"/>
                </a:solidFill>
              </a:rPr>
              <a:t> social </a:t>
            </a:r>
            <a:r>
              <a:rPr lang="fr-FR" sz="1400" b="1" dirty="0" err="1">
                <a:solidFill>
                  <a:schemeClr val="tx1"/>
                </a:solidFill>
              </a:rPr>
              <a:t>democraţi</a:t>
            </a:r>
            <a:endParaRPr lang="ro-RO" sz="1400" dirty="0">
              <a:solidFill>
                <a:schemeClr val="tx1"/>
              </a:solidFill>
            </a:endParaRPr>
          </a:p>
        </p:txBody>
      </p:sp>
      <p:sp>
        <p:nvSpPr>
          <p:cNvPr id="5" name="Ellipse 4"/>
          <p:cNvSpPr/>
          <p:nvPr/>
        </p:nvSpPr>
        <p:spPr>
          <a:xfrm>
            <a:off x="5436096" y="2564904"/>
            <a:ext cx="1368152" cy="122413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ro-RO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Liberali adepţi ai pieţei</a:t>
            </a:r>
          </a:p>
        </p:txBody>
      </p:sp>
      <p:cxnSp>
        <p:nvCxnSpPr>
          <p:cNvPr id="7" name="Connecteur droit 6"/>
          <p:cNvCxnSpPr/>
          <p:nvPr/>
        </p:nvCxnSpPr>
        <p:spPr>
          <a:xfrm flipH="1">
            <a:off x="2051720" y="3140968"/>
            <a:ext cx="4968552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4499992" y="1988840"/>
            <a:ext cx="0" cy="252028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>
            <a:off x="3851920" y="3068960"/>
            <a:ext cx="16561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792088"/>
          </a:xfrm>
        </p:spPr>
        <p:txBody>
          <a:bodyPr>
            <a:normAutofit/>
          </a:bodyPr>
          <a:lstStyle/>
          <a:p>
            <a:r>
              <a:rPr lang="ro-RO" sz="1800" b="1" dirty="0">
                <a:latin typeface="Times New Roman" pitchFamily="18" charset="0"/>
                <a:cs typeface="Times New Roman" pitchFamily="18" charset="0"/>
              </a:rPr>
              <a:t>Clivajele lui </a:t>
            </a:r>
            <a:r>
              <a:rPr lang="ro-RO" sz="1800" b="1" dirty="0" err="1">
                <a:latin typeface="Times New Roman" pitchFamily="18" charset="0"/>
                <a:cs typeface="Times New Roman" pitchFamily="18" charset="0"/>
              </a:rPr>
              <a:t>Kitschelt</a:t>
            </a:r>
            <a:r>
              <a:rPr lang="ro-RO" sz="1800" b="1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ro-RO" sz="1800" b="1" dirty="0">
                <a:latin typeface="Times New Roman" pitchFamily="18" charset="0"/>
                <a:cs typeface="Times New Roman" pitchFamily="18" charset="0"/>
              </a:rPr>
            </a:br>
            <a:r>
              <a:rPr lang="ro-RO" sz="1800" b="1" dirty="0">
                <a:latin typeface="Times New Roman" pitchFamily="18" charset="0"/>
                <a:cs typeface="Times New Roman" pitchFamily="18" charset="0"/>
              </a:rPr>
              <a:t>Comunism naţional, tranziţie negociată şi conflict cultural</a:t>
            </a:r>
            <a:endParaRPr lang="ro-RO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ro-RO" b="1" dirty="0"/>
              <a:t>                                                                                                                                             </a:t>
            </a:r>
            <a:r>
              <a:rPr lang="ro-RO" sz="6400" b="1" dirty="0">
                <a:latin typeface="Times New Roman" pitchFamily="18" charset="0"/>
                <a:cs typeface="Times New Roman" pitchFamily="18" charset="0"/>
              </a:rPr>
              <a:t>Libertarieni seculari</a:t>
            </a:r>
            <a:endParaRPr lang="ro-RO" sz="6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ro-RO" b="1" dirty="0"/>
          </a:p>
          <a:p>
            <a:pPr>
              <a:buNone/>
            </a:pPr>
            <a:r>
              <a:rPr lang="ro-RO" b="1" dirty="0"/>
              <a:t> </a:t>
            </a:r>
            <a:endParaRPr lang="ro-RO" dirty="0"/>
          </a:p>
          <a:p>
            <a:pPr>
              <a:buNone/>
            </a:pPr>
            <a:br>
              <a:rPr lang="ro-RO" dirty="0"/>
            </a:br>
            <a:endParaRPr lang="ro-RO" dirty="0"/>
          </a:p>
          <a:p>
            <a:endParaRPr lang="ro-RO" dirty="0"/>
          </a:p>
          <a:p>
            <a:endParaRPr lang="ro-RO" b="1" dirty="0"/>
          </a:p>
          <a:p>
            <a:pPr>
              <a:buNone/>
            </a:pPr>
            <a:br>
              <a:rPr lang="ro-RO" dirty="0"/>
            </a:br>
            <a:r>
              <a:rPr lang="ro-RO" dirty="0"/>
              <a:t>  </a:t>
            </a:r>
          </a:p>
          <a:p>
            <a:pPr>
              <a:buNone/>
            </a:pPr>
            <a:r>
              <a:rPr lang="ro-RO" dirty="0"/>
              <a:t> </a:t>
            </a:r>
          </a:p>
          <a:p>
            <a:pPr>
              <a:buNone/>
            </a:pPr>
            <a:r>
              <a:rPr lang="ro-RO" b="1" dirty="0"/>
              <a:t> </a:t>
            </a:r>
            <a:endParaRPr lang="ro-RO" dirty="0"/>
          </a:p>
          <a:p>
            <a:pPr>
              <a:buNone/>
            </a:pPr>
            <a:endParaRPr lang="ro-RO" dirty="0"/>
          </a:p>
          <a:p>
            <a:pPr>
              <a:buNone/>
            </a:pPr>
            <a:endParaRPr lang="ro-RO" sz="56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ro-RO" sz="56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o-RO" sz="5600" b="1" dirty="0">
                <a:latin typeface="Times New Roman" pitchFamily="18" charset="0"/>
                <a:cs typeface="Times New Roman" pitchFamily="18" charset="0"/>
              </a:rPr>
              <a:t>Populism economic </a:t>
            </a:r>
            <a:r>
              <a:rPr lang="ro-RO" sz="5600" b="1" dirty="0"/>
              <a:t>	                                                                                                                                                                                           	                                                                                                                                      </a:t>
            </a:r>
            <a:r>
              <a:rPr lang="ro-RO" sz="5600" b="1" dirty="0">
                <a:latin typeface="Times New Roman" pitchFamily="18" charset="0"/>
                <a:cs typeface="Times New Roman" pitchFamily="18" charset="0"/>
              </a:rPr>
              <a:t>Liberali</a:t>
            </a:r>
            <a:r>
              <a:rPr lang="ro-RO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o-RO" sz="5600" b="1" dirty="0">
                <a:latin typeface="Times New Roman" pitchFamily="18" charset="0"/>
                <a:cs typeface="Times New Roman" pitchFamily="18" charset="0"/>
              </a:rPr>
              <a:t>adepţi ai</a:t>
            </a:r>
            <a:r>
              <a:rPr lang="ro-RO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o-RO" sz="5600" b="1" dirty="0">
                <a:latin typeface="Times New Roman" pitchFamily="18" charset="0"/>
                <a:cs typeface="Times New Roman" pitchFamily="18" charset="0"/>
              </a:rPr>
              <a:t>pieţei</a:t>
            </a:r>
            <a:endParaRPr lang="ro-RO" sz="56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o-RO" sz="4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buNone/>
            </a:pPr>
            <a:r>
              <a:rPr lang="ro-RO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buNone/>
            </a:pPr>
            <a:r>
              <a:rPr lang="ro-RO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buNone/>
            </a:pPr>
            <a:r>
              <a:rPr lang="ro-RO" dirty="0"/>
              <a:t> </a:t>
            </a:r>
          </a:p>
          <a:p>
            <a:pPr>
              <a:buNone/>
            </a:pPr>
            <a:r>
              <a:rPr lang="ro-RO" b="1" dirty="0"/>
              <a:t>                                                                </a:t>
            </a:r>
          </a:p>
          <a:p>
            <a:endParaRPr lang="ro-RO" b="1" dirty="0"/>
          </a:p>
          <a:p>
            <a:endParaRPr lang="ro-RO" b="1" dirty="0"/>
          </a:p>
          <a:p>
            <a:endParaRPr lang="ro-RO" b="1" dirty="0"/>
          </a:p>
          <a:p>
            <a:endParaRPr lang="ro-RO" b="1" dirty="0"/>
          </a:p>
          <a:p>
            <a:endParaRPr lang="ro-RO" b="1" dirty="0"/>
          </a:p>
          <a:p>
            <a:endParaRPr lang="ro-RO" b="1" dirty="0"/>
          </a:p>
          <a:p>
            <a:endParaRPr lang="ro-RO" b="1" dirty="0"/>
          </a:p>
          <a:p>
            <a:endParaRPr lang="ro-RO" b="1" dirty="0"/>
          </a:p>
          <a:p>
            <a:endParaRPr lang="ro-RO" b="1" dirty="0"/>
          </a:p>
          <a:p>
            <a:endParaRPr lang="ro-RO" b="1" dirty="0"/>
          </a:p>
          <a:p>
            <a:pPr>
              <a:buNone/>
            </a:pPr>
            <a:r>
              <a:rPr lang="ro-RO" sz="5600" b="1" dirty="0"/>
              <a:t>                                                                                  </a:t>
            </a:r>
            <a:r>
              <a:rPr lang="ro-RO" sz="5600" b="1" dirty="0">
                <a:latin typeface="Times New Roman" pitchFamily="18" charset="0"/>
                <a:cs typeface="Times New Roman" pitchFamily="18" charset="0"/>
              </a:rPr>
              <a:t>Tradiţionalişti religioşi</a:t>
            </a:r>
            <a:endParaRPr lang="ro-RO" sz="5600" dirty="0">
              <a:latin typeface="Times New Roman" pitchFamily="18" charset="0"/>
              <a:cs typeface="Times New Roman" pitchFamily="18" charset="0"/>
            </a:endParaRPr>
          </a:p>
          <a:p>
            <a:endParaRPr lang="ro-RO" b="1" dirty="0"/>
          </a:p>
          <a:p>
            <a:r>
              <a:rPr lang="ro-RO" sz="6400" b="1" dirty="0">
                <a:latin typeface="Times New Roman" pitchFamily="18" charset="0"/>
                <a:cs typeface="Times New Roman" pitchFamily="18" charset="0"/>
              </a:rPr>
              <a:t>Comunism naţional, tranziţie negociată şi conflict cultural</a:t>
            </a:r>
            <a:r>
              <a:rPr lang="ro-RO" sz="6400" dirty="0">
                <a:latin typeface="Times New Roman" pitchFamily="18" charset="0"/>
                <a:cs typeface="Times New Roman" pitchFamily="18" charset="0"/>
              </a:rPr>
              <a:t> sursa: H. </a:t>
            </a:r>
            <a:r>
              <a:rPr lang="ro-RO" sz="6400" dirty="0" err="1">
                <a:latin typeface="Times New Roman" pitchFamily="18" charset="0"/>
                <a:cs typeface="Times New Roman" pitchFamily="18" charset="0"/>
              </a:rPr>
              <a:t>Kitschelt</a:t>
            </a:r>
            <a:r>
              <a:rPr lang="ro-RO" sz="6400" dirty="0">
                <a:latin typeface="Times New Roman" pitchFamily="18" charset="0"/>
                <a:cs typeface="Times New Roman" pitchFamily="18" charset="0"/>
              </a:rPr>
              <a:t> – „</a:t>
            </a:r>
            <a:r>
              <a:rPr lang="ro-RO" sz="6400" dirty="0" err="1">
                <a:latin typeface="Times New Roman" pitchFamily="18" charset="0"/>
                <a:cs typeface="Times New Roman" pitchFamily="18" charset="0"/>
              </a:rPr>
              <a:t>Formation</a:t>
            </a:r>
            <a:r>
              <a:rPr lang="ro-RO" sz="6400" dirty="0">
                <a:latin typeface="Times New Roman" pitchFamily="18" charset="0"/>
                <a:cs typeface="Times New Roman" pitchFamily="18" charset="0"/>
              </a:rPr>
              <a:t> of party </a:t>
            </a:r>
            <a:r>
              <a:rPr lang="ro-RO" sz="6400" dirty="0" err="1">
                <a:latin typeface="Times New Roman" pitchFamily="18" charset="0"/>
                <a:cs typeface="Times New Roman" pitchFamily="18" charset="0"/>
              </a:rPr>
              <a:t>cleavages</a:t>
            </a:r>
            <a:r>
              <a:rPr lang="ro-RO" sz="6400" dirty="0">
                <a:latin typeface="Times New Roman" pitchFamily="18" charset="0"/>
                <a:cs typeface="Times New Roman" pitchFamily="18" charset="0"/>
              </a:rPr>
              <a:t> in </a:t>
            </a:r>
            <a:r>
              <a:rPr lang="ro-RO" sz="6400" dirty="0" err="1">
                <a:latin typeface="Times New Roman" pitchFamily="18" charset="0"/>
                <a:cs typeface="Times New Roman" pitchFamily="18" charset="0"/>
              </a:rPr>
              <a:t>post-communist</a:t>
            </a:r>
            <a:r>
              <a:rPr lang="ro-RO" sz="6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o-RO" sz="6400" dirty="0" err="1">
                <a:latin typeface="Times New Roman" pitchFamily="18" charset="0"/>
                <a:cs typeface="Times New Roman" pitchFamily="18" charset="0"/>
              </a:rPr>
              <a:t>democracies</a:t>
            </a:r>
            <a:r>
              <a:rPr lang="ro-RO" sz="6400" dirty="0"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ro-RO" sz="6400" dirty="0" err="1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ro-RO" sz="6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o-RO" sz="6400" i="1" dirty="0">
                <a:latin typeface="Times New Roman" pitchFamily="18" charset="0"/>
                <a:cs typeface="Times New Roman" pitchFamily="18" charset="0"/>
              </a:rPr>
              <a:t>Party </a:t>
            </a:r>
            <a:r>
              <a:rPr lang="ro-RO" sz="6400" i="1" dirty="0" err="1">
                <a:latin typeface="Times New Roman" pitchFamily="18" charset="0"/>
                <a:cs typeface="Times New Roman" pitchFamily="18" charset="0"/>
              </a:rPr>
              <a:t>Politics</a:t>
            </a:r>
            <a:r>
              <a:rPr lang="ro-RO" sz="6400" dirty="0">
                <a:latin typeface="Times New Roman" pitchFamily="18" charset="0"/>
                <a:cs typeface="Times New Roman" pitchFamily="18" charset="0"/>
              </a:rPr>
              <a:t> vol. 1, nr.4</a:t>
            </a:r>
            <a:r>
              <a:rPr lang="ro-RO" b="1" dirty="0"/>
              <a:t>	  </a:t>
            </a:r>
            <a:endParaRPr lang="ro-RO" dirty="0"/>
          </a:p>
          <a:p>
            <a:r>
              <a:rPr lang="ro-RO" b="1" dirty="0"/>
              <a:t> </a:t>
            </a:r>
            <a:endParaRPr lang="ro-RO" dirty="0"/>
          </a:p>
        </p:txBody>
      </p:sp>
      <p:sp>
        <p:nvSpPr>
          <p:cNvPr id="4" name="Ellipse 3"/>
          <p:cNvSpPr/>
          <p:nvPr/>
        </p:nvSpPr>
        <p:spPr>
          <a:xfrm>
            <a:off x="2267744" y="2132856"/>
            <a:ext cx="1584176" cy="14401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o-RO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endParaRPr lang="ro-RO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o-RO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Libertarieni de </a:t>
            </a:r>
            <a:r>
              <a:rPr lang="ro-RO" sz="14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stînga</a:t>
            </a:r>
            <a:endParaRPr lang="ro-RO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Ellipse 4"/>
          <p:cNvSpPr/>
          <p:nvPr/>
        </p:nvSpPr>
        <p:spPr>
          <a:xfrm>
            <a:off x="3707904" y="3717032"/>
            <a:ext cx="1800200" cy="15121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o-RO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Tradiţionalişti culturalii</a:t>
            </a:r>
            <a:endParaRPr lang="ro-RO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Ellipse 5"/>
          <p:cNvSpPr/>
          <p:nvPr/>
        </p:nvSpPr>
        <p:spPr>
          <a:xfrm>
            <a:off x="5148064" y="1916832"/>
            <a:ext cx="1584176" cy="136815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o-RO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Libertarieni de dreapta</a:t>
            </a:r>
          </a:p>
          <a:p>
            <a:r>
              <a:rPr lang="ro-RO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o-RO" dirty="0"/>
              <a:t>                                                              </a:t>
            </a:r>
          </a:p>
        </p:txBody>
      </p:sp>
      <p:cxnSp>
        <p:nvCxnSpPr>
          <p:cNvPr id="7" name="Connecteur droit 6"/>
          <p:cNvCxnSpPr/>
          <p:nvPr/>
        </p:nvCxnSpPr>
        <p:spPr>
          <a:xfrm flipH="1">
            <a:off x="2051720" y="3140968"/>
            <a:ext cx="4968552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4572000" y="1628800"/>
            <a:ext cx="0" cy="252028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504</Words>
  <Application>Microsoft Office PowerPoint</Application>
  <PresentationFormat>Expunere pe ecran (4:3)</PresentationFormat>
  <Paragraphs>148</Paragraphs>
  <Slides>7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Thème Office</vt:lpstr>
      <vt:lpstr>Clivaje multidimensionale</vt:lpstr>
      <vt:lpstr>Clivajul Rokkan - Lipset</vt:lpstr>
      <vt:lpstr>Clivajul Rokkan Lipset</vt:lpstr>
      <vt:lpstr>Clivajul Rokkan Lipset</vt:lpstr>
      <vt:lpstr>Clivajul Rokkan Lipset</vt:lpstr>
      <vt:lpstr>Clivajele lui Kitschelt I Socialism birocratic şi impolzie </vt:lpstr>
      <vt:lpstr>Clivajele lui Kitschelt  Comunism naţional, tranziţie negociată şi conflict cultural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Clivaje multidimensionale</dc:title>
  <dc:creator>DC</dc:creator>
  <cp:lastModifiedBy>Cristian Pirvulescu</cp:lastModifiedBy>
  <cp:revision>29</cp:revision>
  <dcterms:created xsi:type="dcterms:W3CDTF">2012-10-16T06:06:21Z</dcterms:created>
  <dcterms:modified xsi:type="dcterms:W3CDTF">2020-05-18T10:55:31Z</dcterms:modified>
</cp:coreProperties>
</file>