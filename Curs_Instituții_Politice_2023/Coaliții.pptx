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A5831B-73C1-468F-BDF4-DD35C83E0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E448E96C-74EB-4589-9355-352DE8D10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F629E73-ACE0-4CCF-AB46-1A0FBA3D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9BE478B-EB77-4C69-A8F6-ED42BD01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34DE85C-CCE9-43C4-BBA9-E377D12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6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A9C16E2-0597-4F03-91FF-6D3566AE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9DA2276-0B9B-4DAC-ABD5-789F28887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FB04CBF-2468-4101-8F18-6BC6E596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64245E4-DBD0-463D-BEED-BE430FD6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E6727C7-CD12-4AC6-AABF-5945BDEF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82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8BC95BD-DD68-4EF1-8B21-7150365A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02F5C21-30D2-4222-A250-1C01021D6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01959FE-A2BB-4850-8B7B-1141D023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EFFACFF-F1F3-4FD7-B2C6-CC5FDDEF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F1093D2-24D8-4ECE-97FD-1DDA57D2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0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AE8F55-74BF-487E-A96E-CDE50F17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D553562-5D17-428A-90B0-015D523F0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5EBCCF5-E2A6-4764-82AB-14CDB65C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B01CF882-9641-4CB2-9D2F-8AE9CC3D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6C9388D-DB13-4D71-A502-61CB0682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449FB77-5A33-4010-9AE5-769D2EF2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14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5C8B7F6-18F9-4CDD-A0B4-84350D8FB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E9F35997-0D96-429D-A6CC-97D989CD5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E7D763F8-C046-4D8E-800C-EEC995F83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3F267A12-3AEF-41BB-A20E-B60170497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B2FFC3AF-4077-4740-A8E4-33B98FDF6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CE7396E2-6C72-4A6E-8024-6F2AB66E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8AB6474F-9889-47A1-8464-8741B2AA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B16A36FD-147F-466B-848D-09272791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2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0479283-0710-40B3-9075-83FEE54BC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9B521B4-3C2A-443B-8D71-37B23CA7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806A5F0B-BD63-476A-9523-E0FD3FDE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EB831B3F-8B4A-4FED-BFDD-12837ABD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59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D936FFF8-6471-47A4-89BE-2A0FEE73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2A5414B2-D939-432E-BC91-1D0921D0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DCF1167-60F8-416C-B14C-DA409C08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0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2EFD0F0-E06F-4A7A-B231-C5E0C09B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3379463-7C2D-4B52-96AD-CC1E06AEC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97B9703-A600-4AB3-B0ED-1A0906763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C0D7F2D6-A538-4779-99D0-B0ADD9AC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4C71440E-5BF2-4091-BC75-046F82734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B91D710-199C-4307-B030-D8408225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41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B13E71-DA14-49B0-9FBB-3F1A030A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3FA2905A-567E-428D-8B01-2AD049116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7D4B1DAD-8EF0-4CE9-AF5C-2D1F6682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EBDC92A-712D-4AB1-8458-4C60A23F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75EEA39-3574-466B-9228-3F5CC052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2A83FF0-9F74-4F02-B73C-DA91572F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9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2B9F67F-C225-4B38-A180-74586563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AF91EBF-94C8-496C-8F71-4C63C2DC7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69F56D9-9D65-4135-997C-B3A1F72D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4A2BD61-0FC5-45AE-B90E-2425FB04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33821C5-3A64-4A2D-B9D1-45A36722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2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3E9C44DC-07E3-4F99-8EDB-99471CB9E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79BFF50-7600-4A23-8F19-D8B09F9FF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5229EA2-AB86-4FF0-90A4-BB709206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E683514-C0F5-42AF-A936-38D9D6CB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675448-0867-404C-816E-98FB3696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0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E918B0FB-9F8B-487A-8045-52D480AC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4E7E94-DACE-4D01-B967-54E13A252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F8BD854-9A0E-48B4-A6E4-CABE21073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BF37D-C269-4FDE-A391-B2CDEDEABC1A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552BA84-122C-43E3-8A3C-9F4431821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53FC00E-8FA5-4337-B05D-E86338398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1E19D-9653-4F8D-BDC0-682AEAE21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7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9EDC48-5196-43F9-96FB-222C347D4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b="1" dirty="0">
                <a:latin typeface="Aharoni" panose="02010803020104030203" pitchFamily="2" charset="-79"/>
                <a:cs typeface="Aharoni" panose="02010803020104030203" pitchFamily="2" charset="-79"/>
              </a:rPr>
              <a:t>Coalițiile</a:t>
            </a:r>
            <a:endParaRPr lang="en-US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5478709B-D901-4AA8-AC04-7CA1D90AC4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o-RO" sz="3600" b="1" dirty="0">
                <a:latin typeface="Arial" panose="020B0604020202020204" pitchFamily="34" charset="0"/>
                <a:cs typeface="Arial" panose="020B0604020202020204" pitchFamily="34" charset="0"/>
              </a:rPr>
              <a:t>Formare și tipologie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73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B22EF3B-65BE-4DA2-BF93-BF74E1E2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Formarea guvernelor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4D9C370-1E1D-456E-B1B3-BB3D2DB80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o-RO" dirty="0"/>
              <a:t>În regimurile parlamentare există două tipuri de formare a guvernului:</a:t>
            </a:r>
          </a:p>
          <a:p>
            <a:pPr algn="l"/>
            <a:endParaRPr lang="ro-RO" dirty="0"/>
          </a:p>
          <a:p>
            <a:pPr algn="l"/>
            <a:r>
              <a:rPr lang="ro-RO" dirty="0"/>
              <a:t>1. prin vot încredere</a:t>
            </a:r>
          </a:p>
          <a:p>
            <a:pPr algn="l"/>
            <a:r>
              <a:rPr lang="ro-RO" dirty="0"/>
              <a:t>2. fără vot de încredere (Canada, Suedia) </a:t>
            </a:r>
          </a:p>
          <a:p>
            <a:pPr algn="l"/>
            <a:endParaRPr lang="ro-RO" dirty="0"/>
          </a:p>
          <a:p>
            <a:pPr algn="l"/>
            <a:r>
              <a:rPr lang="ro-RO" dirty="0"/>
              <a:t>Formarea guvernului poate fi inițiată și negociată de un</a:t>
            </a:r>
            <a:r>
              <a:rPr lang="ro-RO" i="1" dirty="0"/>
              <a:t> formator </a:t>
            </a:r>
            <a:r>
              <a:rPr lang="ro-RO" dirty="0"/>
              <a:t>sau poate fi lăsată la îndemâna partidelor parlamentare (Olanda).</a:t>
            </a:r>
          </a:p>
          <a:p>
            <a:pPr algn="l"/>
            <a:r>
              <a:rPr lang="ro-RO" dirty="0"/>
              <a:t>Guvernele pot fi majoritare sau minoritare.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4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1F61051-2492-4417-ACB4-EA96B271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544"/>
          </a:xfrm>
        </p:spPr>
        <p:txBody>
          <a:bodyPr/>
          <a:lstStyle/>
          <a:p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Schimbarea guvernului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AD8D77A-F54D-42F7-9883-EAB050EFA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o-RO" b="1" dirty="0"/>
              <a:t>Prin alegeri</a:t>
            </a:r>
          </a:p>
          <a:p>
            <a:r>
              <a:rPr lang="ro-RO" b="1" dirty="0"/>
              <a:t>Ca urmare a pierderii majorității</a:t>
            </a:r>
          </a:p>
          <a:p>
            <a:pPr lvl="1"/>
            <a:r>
              <a:rPr lang="ro-RO" sz="2800" dirty="0"/>
              <a:t>Prin vot de neîncredere</a:t>
            </a:r>
          </a:p>
          <a:p>
            <a:pPr lvl="1"/>
            <a:r>
              <a:rPr lang="ro-RO" sz="2800" dirty="0"/>
              <a:t>Prin moțiune de cenzură</a:t>
            </a:r>
          </a:p>
          <a:p>
            <a:endParaRPr lang="ro-RO" dirty="0"/>
          </a:p>
          <a:p>
            <a:r>
              <a:rPr lang="ro-RO" dirty="0"/>
              <a:t>Moțiunea de cenzură constructivă (sau votul constructiv de neîncredere) presupune existenta unei majorități formale care să declanșeze procedura. Scopul este de a împiedica crizele guvernamentale provocate de lipsa unei majorități guvernamentale.  Modelul a fost stabilit în Germania și a fost preluat în Ungaria sau Israel.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5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2BF0433-B085-4208-98F9-58693301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Tipuri de guvern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9DEEDF9-A66A-4880-B938-91D22B854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o-RO" b="0" i="1" u="none" strike="noStrike" baseline="0" dirty="0">
                <a:latin typeface="AGaramond-Italic"/>
              </a:rPr>
              <a:t>Guvern tip</a:t>
            </a:r>
            <a:r>
              <a:rPr lang="en-US" b="0" i="1" u="none" strike="noStrike" baseline="0" dirty="0">
                <a:latin typeface="AGaramond-Italic"/>
              </a:rPr>
              <a:t> cabinet</a:t>
            </a:r>
            <a:r>
              <a:rPr lang="ro-RO" b="0" i="1" u="none" strike="noStrike" baseline="0" dirty="0">
                <a:latin typeface="AGaramond-Italic"/>
              </a:rPr>
              <a:t>: </a:t>
            </a:r>
            <a:r>
              <a:rPr lang="ro-RO" b="0" u="none" strike="noStrike" baseline="0" dirty="0">
                <a:latin typeface="AGaramond-Italic"/>
              </a:rPr>
              <a:t>cabinetul </a:t>
            </a:r>
            <a:r>
              <a:rPr lang="ro-RO" dirty="0">
                <a:latin typeface="AGaramond-Italic"/>
              </a:rPr>
              <a:t>determină politica</a:t>
            </a:r>
            <a:r>
              <a:rPr lang="en-US" b="0" u="none" strike="noStrike" baseline="0" dirty="0">
                <a:latin typeface="AGaramond-Italic"/>
              </a:rPr>
              <a:t> general</a:t>
            </a:r>
            <a:r>
              <a:rPr lang="ro-RO" b="0" u="none" strike="noStrike" baseline="0" dirty="0">
                <a:latin typeface="AGaramond-Italic"/>
              </a:rPr>
              <a:t>ă</a:t>
            </a:r>
            <a:r>
              <a:rPr lang="en-US" b="0" u="none" strike="noStrike" baseline="0" dirty="0">
                <a:latin typeface="AGaramond-Italic"/>
              </a:rPr>
              <a:t> </a:t>
            </a:r>
            <a:r>
              <a:rPr lang="ro-RO" b="0" u="none" strike="noStrike" baseline="0" dirty="0">
                <a:latin typeface="AGaramond-Italic"/>
              </a:rPr>
              <a:t>prin</a:t>
            </a:r>
            <a:r>
              <a:rPr lang="en-US" b="0" u="none" strike="noStrike" baseline="0" dirty="0">
                <a:latin typeface="AGaramond-Italic"/>
              </a:rPr>
              <a:t> </a:t>
            </a:r>
            <a:r>
              <a:rPr lang="ro-RO" b="0" u="none" strike="noStrike" baseline="0" dirty="0">
                <a:latin typeface="AGaramond-Italic"/>
              </a:rPr>
              <a:t>dezbatere și negociere (Finlanda)</a:t>
            </a:r>
          </a:p>
          <a:p>
            <a:pPr algn="l"/>
            <a:r>
              <a:rPr lang="ro-RO" i="1" dirty="0">
                <a:latin typeface="AGaramond-Italic"/>
              </a:rPr>
              <a:t>Guvern centrat pe </a:t>
            </a:r>
            <a:r>
              <a:rPr lang="en-US" b="0" i="1" u="none" strike="noStrike" baseline="0" dirty="0">
                <a:latin typeface="AGaramond-Italic"/>
              </a:rPr>
              <a:t>prim-</a:t>
            </a:r>
            <a:r>
              <a:rPr lang="ro-RO" b="0" i="1" u="none" strike="noStrike" baseline="0" dirty="0">
                <a:latin typeface="AGaramond-Italic"/>
              </a:rPr>
              <a:t>ministru (guvern de cancelar)</a:t>
            </a:r>
            <a:r>
              <a:rPr lang="en-US" b="0" i="1" u="none" strike="noStrike" baseline="0" dirty="0">
                <a:latin typeface="AGaramond-Italic"/>
              </a:rPr>
              <a:t>: </a:t>
            </a:r>
            <a:r>
              <a:rPr lang="en-US" b="0" u="none" strike="noStrike" baseline="0" dirty="0">
                <a:latin typeface="AGaramond-Italic"/>
              </a:rPr>
              <a:t>prim-</a:t>
            </a:r>
            <a:r>
              <a:rPr lang="ro-RO" b="0" u="none" strike="noStrike" baseline="0" dirty="0">
                <a:latin typeface="AGaramond-Italic"/>
              </a:rPr>
              <a:t>ministrul este figura dominată</a:t>
            </a:r>
            <a:r>
              <a:rPr lang="en-US" b="0" u="none" strike="noStrike" baseline="0" dirty="0">
                <a:latin typeface="AGaramond-Italic"/>
              </a:rPr>
              <a:t>, care se</a:t>
            </a:r>
            <a:r>
              <a:rPr lang="ro-RO" b="0" u="none" strike="noStrike" baseline="0" dirty="0">
                <a:latin typeface="AGaramond-Italic"/>
              </a:rPr>
              <a:t> ocupă direct </a:t>
            </a:r>
            <a:r>
              <a:rPr lang="en-US" b="0" u="none" strike="noStrike" baseline="0" dirty="0">
                <a:latin typeface="AGaramond-Italic"/>
              </a:rPr>
              <a:t>de </a:t>
            </a:r>
            <a:r>
              <a:rPr lang="ro-RO" b="0" u="none" strike="noStrike" baseline="0" dirty="0">
                <a:latin typeface="AGaramond-Italic"/>
              </a:rPr>
              <a:t>coordonarea miniștrilor (Germania)</a:t>
            </a:r>
            <a:r>
              <a:rPr lang="ro-RO" dirty="0">
                <a:latin typeface="AGaramond-Italic"/>
              </a:rPr>
              <a:t>;</a:t>
            </a:r>
            <a:endParaRPr lang="ro-RO" b="0" u="none" strike="noStrike" baseline="0" dirty="0">
              <a:latin typeface="AGaramond-Italic"/>
            </a:endParaRPr>
          </a:p>
          <a:p>
            <a:pPr algn="l"/>
            <a:r>
              <a:rPr lang="ro-RO" i="1" dirty="0">
                <a:latin typeface="AGaramond-Italic"/>
              </a:rPr>
              <a:t>Guvern ministerial</a:t>
            </a:r>
            <a:r>
              <a:rPr lang="en-US" b="0" i="1" u="none" strike="noStrike" baseline="0" dirty="0">
                <a:latin typeface="AGaramond-Italic"/>
              </a:rPr>
              <a:t>:</a:t>
            </a:r>
            <a:r>
              <a:rPr lang="ro-RO" b="0" i="1" u="none" strike="noStrike" baseline="0" dirty="0">
                <a:latin typeface="AGaramond-Italic"/>
              </a:rPr>
              <a:t> </a:t>
            </a:r>
            <a:r>
              <a:rPr lang="ro-RO" b="0" u="none" strike="noStrike" baseline="0" dirty="0">
                <a:latin typeface="AGaramond-Italic"/>
              </a:rPr>
              <a:t>miniștrii au o largă autonomie în raport cu șeful guvernului (Olanda, Italia în timpul primei republici)</a:t>
            </a:r>
            <a:r>
              <a:rPr lang="ro-RO" b="0" i="1" u="none" strike="noStrike" baseline="0" dirty="0">
                <a:latin typeface="AGaramond-Italic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8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480A828-26BC-4395-9051-DE039C66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7732"/>
            <a:ext cx="10515600" cy="1151466"/>
          </a:xfrm>
        </p:spPr>
        <p:txBody>
          <a:bodyPr/>
          <a:lstStyle/>
          <a:p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Tipuri de coaliții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159CB14-0A5F-45FF-AB9B-EF7700F48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800"/>
            <a:ext cx="10515600" cy="49831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o-RO" b="1" i="1" dirty="0"/>
              <a:t>Coalițiile majoritare – </a:t>
            </a:r>
            <a:r>
              <a:rPr lang="ro-RO" dirty="0"/>
              <a:t>formate din două sau mai multe partidele care dețin împreună  majoritatea în parlament. Acestea pot fi:</a:t>
            </a:r>
          </a:p>
          <a:p>
            <a:pPr lvl="1" algn="just"/>
            <a:r>
              <a:rPr lang="ro-RO" b="1" i="1" dirty="0"/>
              <a:t>Coaliții minimal câștigătoare</a:t>
            </a:r>
            <a:r>
              <a:rPr lang="ro-RO" i="1" dirty="0"/>
              <a:t> -</a:t>
            </a:r>
            <a:r>
              <a:rPr lang="ro-RO" dirty="0"/>
              <a:t> formate din cel mai mic număr de partide care pot forma o majoritate </a:t>
            </a:r>
            <a:r>
              <a:rPr lang="en-US" dirty="0"/>
              <a:t>(de </a:t>
            </a:r>
            <a:r>
              <a:rPr lang="ro-RO" dirty="0"/>
              <a:t>obicei între două și patru partide).</a:t>
            </a:r>
          </a:p>
          <a:p>
            <a:pPr lvl="1" algn="just"/>
            <a:r>
              <a:rPr lang="ro-RO" b="1" i="1" dirty="0"/>
              <a:t>Mari coaliții (</a:t>
            </a:r>
            <a:r>
              <a:rPr lang="de-DE" i="1" dirty="0"/>
              <a:t>Große Koalition</a:t>
            </a:r>
            <a:r>
              <a:rPr lang="ro-RO" i="1" dirty="0"/>
              <a:t>) </a:t>
            </a:r>
            <a:r>
              <a:rPr lang="ro-RO" b="1" i="1" dirty="0"/>
              <a:t>- </a:t>
            </a:r>
            <a:r>
              <a:rPr lang="ro-RO" dirty="0"/>
              <a:t>formate din cele două partide dominante </a:t>
            </a:r>
            <a:r>
              <a:rPr lang="en-US" dirty="0"/>
              <a:t>a</a:t>
            </a:r>
            <a:r>
              <a:rPr lang="ro-RO" dirty="0"/>
              <a:t>le căror orientări ideologice sunt opuse. Acestea apar atunci când nu se pot forma alte tipuri de coaliții din cauza procentului redus de locuri deținute de celelalte partide.</a:t>
            </a:r>
          </a:p>
          <a:p>
            <a:pPr lvl="1" algn="just"/>
            <a:r>
              <a:rPr lang="ro-RO" b="1" i="1" dirty="0"/>
              <a:t>Coalițiile supradimensionate - </a:t>
            </a:r>
            <a:r>
              <a:rPr lang="ro-RO" dirty="0"/>
              <a:t>formate din mai mult decât minimum necesar e partide necesare pentru a forma o majoritate. </a:t>
            </a:r>
          </a:p>
          <a:p>
            <a:pPr lvl="1" algn="just"/>
            <a:r>
              <a:rPr lang="en-US" b="1" i="1" dirty="0"/>
              <a:t>O </a:t>
            </a:r>
            <a:r>
              <a:rPr lang="ro-RO" b="1" i="1" dirty="0"/>
              <a:t>coaliție curcubeu </a:t>
            </a:r>
            <a:r>
              <a:rPr lang="ro-RO" dirty="0"/>
              <a:t>este formată din partide care combină orientări ideologice din întreg spectrul politic. </a:t>
            </a:r>
          </a:p>
          <a:p>
            <a:pPr lvl="2" algn="just"/>
            <a:endParaRPr lang="ro-RO" b="1" i="1" dirty="0"/>
          </a:p>
          <a:p>
            <a:pPr algn="just"/>
            <a:r>
              <a:rPr lang="ro-RO" b="1" i="1" dirty="0"/>
              <a:t>Coalițiile minoritare </a:t>
            </a:r>
            <a:r>
              <a:rPr lang="ro-RO" dirty="0"/>
              <a:t>-  formate de partidele care nu sunt susținute de o majoritate </a:t>
            </a:r>
            <a:r>
              <a:rPr lang="ro-RO" b="1" i="1" dirty="0"/>
              <a:t>parlamentară. </a:t>
            </a:r>
          </a:p>
          <a:p>
            <a:pPr algn="just"/>
            <a:r>
              <a:rPr lang="ro-RO" b="1" i="1" dirty="0"/>
              <a:t>Guverne minoritare monopartidiste</a:t>
            </a:r>
            <a:r>
              <a:rPr lang="ro-RO" i="1" dirty="0"/>
              <a:t> – de obicei un partid dominant. </a:t>
            </a:r>
          </a:p>
          <a:p>
            <a:pPr marL="0" indent="0">
              <a:buNone/>
            </a:pPr>
            <a:r>
              <a:rPr lang="ro-R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5668778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351</Words>
  <Application>Microsoft Office PowerPoint</Application>
  <PresentationFormat>Ecran lat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5</vt:i4>
      </vt:variant>
    </vt:vector>
  </HeadingPairs>
  <TitlesOfParts>
    <vt:vector size="11" baseType="lpstr">
      <vt:lpstr>AGaramond-Italic</vt:lpstr>
      <vt:lpstr>Aharoni</vt:lpstr>
      <vt:lpstr>Arial</vt:lpstr>
      <vt:lpstr>Calibri</vt:lpstr>
      <vt:lpstr>Calibri Light</vt:lpstr>
      <vt:lpstr>Temă Office</vt:lpstr>
      <vt:lpstr>Coalițiile</vt:lpstr>
      <vt:lpstr>Formarea guvernelor</vt:lpstr>
      <vt:lpstr>Schimbarea guvernului</vt:lpstr>
      <vt:lpstr>Tipuri de guvern</vt:lpstr>
      <vt:lpstr>Tipuri de coaliții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Coaliții: formare și tipologie</dc:title>
  <dc:creator>Cristian Pirvulescu</dc:creator>
  <cp:lastModifiedBy>Cristian Pirvulescu</cp:lastModifiedBy>
  <cp:revision>15</cp:revision>
  <dcterms:created xsi:type="dcterms:W3CDTF">2021-12-06T08:03:56Z</dcterms:created>
  <dcterms:modified xsi:type="dcterms:W3CDTF">2021-12-16T00:39:18Z</dcterms:modified>
</cp:coreProperties>
</file>