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308" r:id="rId4"/>
    <p:sldId id="271" r:id="rId5"/>
    <p:sldId id="321" r:id="rId6"/>
    <p:sldId id="368" r:id="rId7"/>
    <p:sldId id="313" r:id="rId8"/>
    <p:sldId id="341" r:id="rId9"/>
    <p:sldId id="325" r:id="rId10"/>
    <p:sldId id="340" r:id="rId11"/>
    <p:sldId id="339" r:id="rId12"/>
    <p:sldId id="369" r:id="rId13"/>
    <p:sldId id="338" r:id="rId14"/>
    <p:sldId id="337" r:id="rId15"/>
    <p:sldId id="336" r:id="rId16"/>
    <p:sldId id="334" r:id="rId17"/>
    <p:sldId id="333" r:id="rId18"/>
    <p:sldId id="332" r:id="rId19"/>
    <p:sldId id="331" r:id="rId20"/>
    <p:sldId id="330" r:id="rId21"/>
    <p:sldId id="329" r:id="rId22"/>
    <p:sldId id="328" r:id="rId23"/>
    <p:sldId id="327" r:id="rId24"/>
    <p:sldId id="326" r:id="rId25"/>
    <p:sldId id="312" r:id="rId26"/>
    <p:sldId id="324" r:id="rId27"/>
    <p:sldId id="323" r:id="rId28"/>
    <p:sldId id="314" r:id="rId29"/>
    <p:sldId id="370" r:id="rId30"/>
    <p:sldId id="371" r:id="rId31"/>
    <p:sldId id="273" r:id="rId32"/>
    <p:sldId id="310" r:id="rId33"/>
    <p:sldId id="274" r:id="rId34"/>
    <p:sldId id="388" r:id="rId35"/>
    <p:sldId id="387" r:id="rId36"/>
    <p:sldId id="389" r:id="rId37"/>
    <p:sldId id="390" r:id="rId38"/>
    <p:sldId id="309" r:id="rId39"/>
  </p:sldIdLst>
  <p:sldSz cx="12192000" cy="6858000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84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952C2899-044B-4E3A-8286-2B248FA3FB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130F0FC7-2960-4AAE-8794-35750DE127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o-RO"/>
              <a:t>Faceți clic pentru a edita stilul de subtitlu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16BAC3EF-C767-4E32-B5A0-A3A11DD5C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D3CAC-4D52-475F-8954-4A86D7B88858}" type="datetimeFigureOut">
              <a:rPr lang="ro-RO" smtClean="0"/>
              <a:t>06.04.2020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54D47065-68E0-4F7C-A86A-F6F3222AF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03648C28-89CB-4924-83FF-A409AF16E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98686-40D7-4BD5-8122-3F4E828692E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689672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797E188D-A24D-4A9D-93EA-2AF61EDD4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ADFD8FE2-AD11-4F90-BEC7-9095FC4DA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3087200E-E59E-4A17-8451-0DC17469D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D3CAC-4D52-475F-8954-4A86D7B88858}" type="datetimeFigureOut">
              <a:rPr lang="ro-RO" smtClean="0"/>
              <a:t>06.04.2020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3C75FCC8-C08A-449F-AF9C-FB1C9BDD5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CD6E9BEE-CD27-40A4-A458-35D7C22E8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98686-40D7-4BD5-8122-3F4E828692E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634795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CBCEE3CE-25B6-4608-A754-5F9485514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8DBF97F1-36E3-4D85-A114-8BD0AFEA6A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CE897946-C8A1-4AEE-B502-B230CD624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D3CAC-4D52-475F-8954-4A86D7B88858}" type="datetimeFigureOut">
              <a:rPr lang="ro-RO" smtClean="0"/>
              <a:t>06.04.2020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26B969A8-2404-404D-8988-EAEC4FEB0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29F13199-3E44-4B07-A5D0-51B128B2C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98686-40D7-4BD5-8122-3F4E828692E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32654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C667A4BF-47BC-4DD5-9FDC-20DB24A3E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4EFD7EB1-FBE7-4627-932A-64D47ED1D6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5843B503-CB24-4DED-829B-A3DF832BE6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7AE3CBCE-80EE-4671-B3FC-3DB2703B5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D3CAC-4D52-475F-8954-4A86D7B88858}" type="datetimeFigureOut">
              <a:rPr lang="ro-RO" smtClean="0"/>
              <a:t>06.04.2020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509AAC85-F949-46E9-8095-66BACD1C1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25BC24A5-DB20-4195-8010-8CBFF2BA3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98686-40D7-4BD5-8122-3F4E828692E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115675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B9C47A0-253C-4DF6-A6B8-4A27D5CAE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28C280AE-AC1A-4B40-B9D1-BD64B0B03A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1BB1916D-8C2A-4DF0-A3CC-784C838C2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text 4">
            <a:extLst>
              <a:ext uri="{FF2B5EF4-FFF2-40B4-BE49-F238E27FC236}">
                <a16:creationId xmlns:a16="http://schemas.microsoft.com/office/drawing/2014/main" id="{C9B6EE83-A949-49E3-8C8A-40A0709460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6" name="Substituent conținut 5">
            <a:extLst>
              <a:ext uri="{FF2B5EF4-FFF2-40B4-BE49-F238E27FC236}">
                <a16:creationId xmlns:a16="http://schemas.microsoft.com/office/drawing/2014/main" id="{FB86DAA7-F37D-40B6-8116-8F7326A081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7" name="Substituent dată 6">
            <a:extLst>
              <a:ext uri="{FF2B5EF4-FFF2-40B4-BE49-F238E27FC236}">
                <a16:creationId xmlns:a16="http://schemas.microsoft.com/office/drawing/2014/main" id="{352EE58E-4614-4203-841A-267D10418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D3CAC-4D52-475F-8954-4A86D7B88858}" type="datetimeFigureOut">
              <a:rPr lang="ro-RO" smtClean="0"/>
              <a:t>06.04.2020</a:t>
            </a:fld>
            <a:endParaRPr lang="ro-RO" dirty="0"/>
          </a:p>
        </p:txBody>
      </p:sp>
      <p:sp>
        <p:nvSpPr>
          <p:cNvPr id="8" name="Substituent subsol 7">
            <a:extLst>
              <a:ext uri="{FF2B5EF4-FFF2-40B4-BE49-F238E27FC236}">
                <a16:creationId xmlns:a16="http://schemas.microsoft.com/office/drawing/2014/main" id="{1E733287-99BD-41F6-AFDD-007F7B95D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9" name="Substituent număr diapozitiv 8">
            <a:extLst>
              <a:ext uri="{FF2B5EF4-FFF2-40B4-BE49-F238E27FC236}">
                <a16:creationId xmlns:a16="http://schemas.microsoft.com/office/drawing/2014/main" id="{D2452672-7B9F-4D77-A010-3EF058149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98686-40D7-4BD5-8122-3F4E828692E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753090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D3EF2EA9-F5E1-40E8-A2A0-6500BBB80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dată 2">
            <a:extLst>
              <a:ext uri="{FF2B5EF4-FFF2-40B4-BE49-F238E27FC236}">
                <a16:creationId xmlns:a16="http://schemas.microsoft.com/office/drawing/2014/main" id="{0CE3450C-8E44-4B5A-BF4C-DACD1B4CF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D3CAC-4D52-475F-8954-4A86D7B88858}" type="datetimeFigureOut">
              <a:rPr lang="ro-RO" smtClean="0"/>
              <a:t>06.04.2020</a:t>
            </a:fld>
            <a:endParaRPr lang="ro-RO" dirty="0"/>
          </a:p>
        </p:txBody>
      </p:sp>
      <p:sp>
        <p:nvSpPr>
          <p:cNvPr id="4" name="Substituent subsol 3">
            <a:extLst>
              <a:ext uri="{FF2B5EF4-FFF2-40B4-BE49-F238E27FC236}">
                <a16:creationId xmlns:a16="http://schemas.microsoft.com/office/drawing/2014/main" id="{A12AF0E6-8787-4ACE-AC46-90C2336D5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C9EBFEF4-CBFB-4E29-889E-950EAE309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98686-40D7-4BD5-8122-3F4E828692E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017192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dată 1">
            <a:extLst>
              <a:ext uri="{FF2B5EF4-FFF2-40B4-BE49-F238E27FC236}">
                <a16:creationId xmlns:a16="http://schemas.microsoft.com/office/drawing/2014/main" id="{650B835C-1C3B-4382-AF74-B453D8BC3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D3CAC-4D52-475F-8954-4A86D7B88858}" type="datetimeFigureOut">
              <a:rPr lang="ro-RO" smtClean="0"/>
              <a:t>06.04.2020</a:t>
            </a:fld>
            <a:endParaRPr lang="ro-RO" dirty="0"/>
          </a:p>
        </p:txBody>
      </p:sp>
      <p:sp>
        <p:nvSpPr>
          <p:cNvPr id="3" name="Substituent subsol 2">
            <a:extLst>
              <a:ext uri="{FF2B5EF4-FFF2-40B4-BE49-F238E27FC236}">
                <a16:creationId xmlns:a16="http://schemas.microsoft.com/office/drawing/2014/main" id="{2816E9C1-5EDC-4360-A4A2-7E63B2BA9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74FBC514-0A2E-4F83-8BB1-ECCCA6024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98686-40D7-4BD5-8122-3F4E828692E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822731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FD35946F-E29E-454C-B51C-5B8FBBF95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63E197B2-11C4-482C-B77B-5479735CFC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5A6E531D-83D3-4250-A0F0-B923182A00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99154D03-8451-4432-B6D1-7C292802C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D3CAC-4D52-475F-8954-4A86D7B88858}" type="datetimeFigureOut">
              <a:rPr lang="ro-RO" smtClean="0"/>
              <a:t>06.04.2020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DD1263F9-6429-47C4-885D-D3289F2BC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28C2F97A-F97F-4C57-838C-B94E3C23F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98686-40D7-4BD5-8122-3F4E828692E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4240808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E80C23EE-9AA8-4A94-8D88-3FE2F766D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imagine 2">
            <a:extLst>
              <a:ext uri="{FF2B5EF4-FFF2-40B4-BE49-F238E27FC236}">
                <a16:creationId xmlns:a16="http://schemas.microsoft.com/office/drawing/2014/main" id="{2009B39A-0736-4ED3-8995-1531984A44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o-RO" dirty="0"/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64D4E655-3D40-4C86-A63E-11B3B46981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5AAB91A6-3157-40BF-B621-5AE1457A7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D3CAC-4D52-475F-8954-4A86D7B88858}" type="datetimeFigureOut">
              <a:rPr lang="ro-RO" smtClean="0"/>
              <a:t>06.04.2020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3DD806BC-CFB1-4CD2-8FDB-A2A842EA1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D2346DF0-09DB-4D9B-8229-B2D23B4B8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98686-40D7-4BD5-8122-3F4E828692E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790592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C4730448-990D-4D4A-A7BC-53F7F26EB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4A9DD9E2-B44C-4FEA-B9B5-7D7691CCF3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FC31CA46-6F35-40BF-935E-F218D51C1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D3CAC-4D52-475F-8954-4A86D7B88858}" type="datetimeFigureOut">
              <a:rPr lang="ro-RO" smtClean="0"/>
              <a:t>06.04.2020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3C2B6E87-AF66-4202-9F74-FCA6BF24E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8CF1102F-3AC6-46A8-9128-E92D3B55C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98686-40D7-4BD5-8122-3F4E828692E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500359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>
            <a:extLst>
              <a:ext uri="{FF2B5EF4-FFF2-40B4-BE49-F238E27FC236}">
                <a16:creationId xmlns:a16="http://schemas.microsoft.com/office/drawing/2014/main" id="{41BB0E54-1870-47EB-A65C-A38A3C8CFC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B456A766-8DDB-4D91-BAA9-8159044085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82BCD492-9C70-410C-949A-210C486F7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D3CAC-4D52-475F-8954-4A86D7B88858}" type="datetimeFigureOut">
              <a:rPr lang="ro-RO" smtClean="0"/>
              <a:t>06.04.2020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DC7DE932-9DB0-4A5D-9009-F7D1BF9A2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9C041D55-F4D9-480F-93AD-5FD9B8AF7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98686-40D7-4BD5-8122-3F4E828692E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1306606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re et table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ro-RO"/>
          </a:p>
        </p:txBody>
      </p:sp>
      <p:sp>
        <p:nvSpPr>
          <p:cNvPr id="3" name="Espace réservé du tableau 2"/>
          <p:cNvSpPr>
            <a:spLocks noGrp="1"/>
          </p:cNvSpPr>
          <p:nvPr>
            <p:ph type="tbl" idx="1"/>
          </p:nvPr>
        </p:nvSpPr>
        <p:spPr>
          <a:xfrm>
            <a:off x="914400" y="1981200"/>
            <a:ext cx="10363200" cy="4114800"/>
          </a:xfrm>
        </p:spPr>
        <p:txBody>
          <a:bodyPr/>
          <a:lstStyle/>
          <a:p>
            <a:pPr lvl="0"/>
            <a:endParaRPr lang="ro-RO" noProof="0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D790C37-A719-40CE-9C97-C1E66803DF9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D5CE891-9CA0-4FD9-B34A-87F3AACD139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A9ACAD2-5A96-4F23-A0D3-17EA5E6ED9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6BA84B-1387-4162-83CC-B57D45118A79}" type="slidenum">
              <a:rPr lang="ro-RO" altLang="ro-RO"/>
              <a:pPr/>
              <a:t>‹#›</a:t>
            </a:fld>
            <a:endParaRPr lang="ro-RO" altLang="ro-RO" dirty="0"/>
          </a:p>
        </p:txBody>
      </p:sp>
    </p:spTree>
    <p:extLst>
      <p:ext uri="{BB962C8B-B14F-4D97-AF65-F5344CB8AC3E}">
        <p14:creationId xmlns:p14="http://schemas.microsoft.com/office/powerpoint/2010/main" val="22844849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re. Text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ro-RO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ro-RO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ro-RO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780D8D-56FA-4D00-AE6E-D7C4E31A0F9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1719EB-7D7C-4CD8-9A1A-4AF1AD537BF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609839-EE6F-4E5C-B9A0-DF086AA7427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E59AF3-79AF-4C0A-BA51-7034E44AB65E}" type="slidenum">
              <a:rPr lang="ro-RO" altLang="ro-RO"/>
              <a:pPr/>
              <a:t>‹#›</a:t>
            </a:fld>
            <a:endParaRPr lang="ro-RO" altLang="ro-RO" dirty="0"/>
          </a:p>
        </p:txBody>
      </p:sp>
    </p:spTree>
    <p:extLst>
      <p:ext uri="{BB962C8B-B14F-4D97-AF65-F5344CB8AC3E}">
        <p14:creationId xmlns:p14="http://schemas.microsoft.com/office/powerpoint/2010/main" val="553000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titlu 1">
            <a:extLst>
              <a:ext uri="{FF2B5EF4-FFF2-40B4-BE49-F238E27FC236}">
                <a16:creationId xmlns:a16="http://schemas.microsoft.com/office/drawing/2014/main" id="{4607CD37-D7EB-47AA-8054-94AD11948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456BB5E0-2700-4BF1-BFBE-631C78B5D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BDE585E4-44C1-445E-BD84-A37F9B5DDF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DD3CAC-4D52-475F-8954-4A86D7B88858}" type="datetimeFigureOut">
              <a:rPr lang="ro-RO" smtClean="0"/>
              <a:t>06.04.2020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38C6C978-738C-4FE8-B444-1DB309C351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BF0183D9-06D6-4574-AA28-C78C25287B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598686-40D7-4BD5-8122-3F4E828692E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959723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ine 4">
            <a:extLst>
              <a:ext uri="{FF2B5EF4-FFF2-40B4-BE49-F238E27FC236}">
                <a16:creationId xmlns:a16="http://schemas.microsoft.com/office/drawing/2014/main" id="{7460391D-6DD0-458F-9A0C-3E7AC41FD40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10" b="33715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6" name="CasetăText 5">
            <a:extLst>
              <a:ext uri="{FF2B5EF4-FFF2-40B4-BE49-F238E27FC236}">
                <a16:creationId xmlns:a16="http://schemas.microsoft.com/office/drawing/2014/main" id="{61199DEC-888F-4658-B488-B91E7CBF7437}"/>
              </a:ext>
            </a:extLst>
          </p:cNvPr>
          <p:cNvSpPr txBox="1"/>
          <p:nvPr/>
        </p:nvSpPr>
        <p:spPr>
          <a:xfrm>
            <a:off x="1177405" y="5780772"/>
            <a:ext cx="710418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200" b="1" dirty="0"/>
              <a:t>Sistemul majoritar relativ plurinominal </a:t>
            </a:r>
          </a:p>
          <a:p>
            <a:r>
              <a:rPr lang="ro-RO" sz="3200" b="1" dirty="0"/>
              <a:t>Alegerile prezidențiale americane</a:t>
            </a:r>
          </a:p>
        </p:txBody>
      </p:sp>
    </p:spTree>
    <p:extLst>
      <p:ext uri="{BB962C8B-B14F-4D97-AF65-F5344CB8AC3E}">
        <p14:creationId xmlns:p14="http://schemas.microsoft.com/office/powerpoint/2010/main" val="951551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D534C2CA-6178-4322-A80C-5FEC46DF33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1"/>
            <a:ext cx="7772400" cy="1484313"/>
          </a:xfrm>
        </p:spPr>
        <p:txBody>
          <a:bodyPr>
            <a:normAutofit/>
          </a:bodyPr>
          <a:lstStyle/>
          <a:p>
            <a:pPr algn="ctr" eaLnBrk="1" hangingPunct="1"/>
            <a:r>
              <a:rPr lang="ro-RO" altLang="ro-RO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Scrutinul plurinominal într-un tur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9CAD2CD3-B7DE-4B4C-A77F-363DF03F2C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74825" y="1700214"/>
            <a:ext cx="8642350" cy="4752975"/>
          </a:xfrm>
        </p:spPr>
        <p:txBody>
          <a:bodyPr/>
          <a:lstStyle/>
          <a:p>
            <a:pPr eaLnBrk="1" hangingPunct="1"/>
            <a:r>
              <a:rPr lang="ro-RO" altLang="ro-RO" dirty="0">
                <a:solidFill>
                  <a:srgbClr val="000066"/>
                </a:solidFill>
              </a:rPr>
              <a:t>Exemplul standard: alegerile prezidențiale din Statele Unite </a:t>
            </a:r>
          </a:p>
          <a:p>
            <a:pPr eaLnBrk="1" hangingPunct="1"/>
            <a:r>
              <a:rPr lang="ro-RO" altLang="ro-RO" dirty="0">
                <a:solidFill>
                  <a:srgbClr val="000066"/>
                </a:solidFill>
              </a:rPr>
              <a:t>Rațiunea scrutinului, câștigarea fiecărui stat, are drept consecință relativizarea procentului </a:t>
            </a:r>
          </a:p>
          <a:p>
            <a:pPr eaLnBrk="1" hangingPunct="1"/>
            <a:r>
              <a:rPr lang="ro-RO" altLang="ro-RO" dirty="0">
                <a:solidFill>
                  <a:srgbClr val="000066"/>
                </a:solidFill>
              </a:rPr>
              <a:t>Ceea ce contează este </a:t>
            </a:r>
            <a:r>
              <a:rPr lang="ro-RO" altLang="ro-RO" i="1" dirty="0">
                <a:solidFill>
                  <a:srgbClr val="000066"/>
                </a:solidFill>
              </a:rPr>
              <a:t>votul electoral </a:t>
            </a:r>
            <a:r>
              <a:rPr lang="ro-RO" altLang="ro-RO" dirty="0">
                <a:solidFill>
                  <a:srgbClr val="000066"/>
                </a:solidFill>
              </a:rPr>
              <a:t>și nu  </a:t>
            </a:r>
            <a:r>
              <a:rPr lang="ro-RO" altLang="ro-RO" i="1" dirty="0">
                <a:solidFill>
                  <a:srgbClr val="000066"/>
                </a:solidFill>
              </a:rPr>
              <a:t>votul popular</a:t>
            </a:r>
          </a:p>
          <a:p>
            <a:pPr eaLnBrk="1" hangingPunct="1"/>
            <a:r>
              <a:rPr lang="ro-RO" altLang="ro-RO" dirty="0">
                <a:solidFill>
                  <a:srgbClr val="000066"/>
                </a:solidFill>
              </a:rPr>
              <a:t>În consecință, importantă devine repartizarea geografică a sufragiilor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8B010227-F452-4F27-B669-46C2B26783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ro-RO" altLang="ro-RO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Alegerile prezidențiale americane din  2000</a:t>
            </a:r>
          </a:p>
        </p:txBody>
      </p:sp>
      <p:graphicFrame>
        <p:nvGraphicFramePr>
          <p:cNvPr id="56341" name="Group 21">
            <a:extLst>
              <a:ext uri="{FF2B5EF4-FFF2-40B4-BE49-F238E27FC236}">
                <a16:creationId xmlns:a16="http://schemas.microsoft.com/office/drawing/2014/main" id="{68D68295-A8FE-434E-BECC-8CC9427F55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4808702"/>
              </p:ext>
            </p:extLst>
          </p:nvPr>
        </p:nvGraphicFramePr>
        <p:xfrm>
          <a:off x="2209800" y="1625600"/>
          <a:ext cx="7772400" cy="3608388"/>
        </p:xfrm>
        <a:graphic>
          <a:graphicData uri="http://schemas.openxmlformats.org/drawingml/2006/table">
            <a:tbl>
              <a:tblPr/>
              <a:tblGrid>
                <a:gridCol w="255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0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5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76338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itchFamily="18" charset="0"/>
                        </a:rPr>
                        <a:t>Votul </a:t>
                      </a:r>
                      <a:r>
                        <a:rPr kumimoji="0" lang="ro-RO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popular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itchFamily="18" charset="0"/>
                        </a:rPr>
                        <a:t>Votul electorilor 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6025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Bush</a:t>
                      </a:r>
                      <a:endParaRPr kumimoji="0" lang="fr-FR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50456002</a:t>
                      </a:r>
                      <a:r>
                        <a:rPr kumimoji="0" lang="ro-RO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271</a:t>
                      </a:r>
                      <a:r>
                        <a:rPr kumimoji="0" lang="ro-RO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6025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itchFamily="18" charset="0"/>
                        </a:rPr>
                        <a:t>Gore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50999897</a:t>
                      </a:r>
                      <a:r>
                        <a:rPr kumimoji="0" lang="ro-RO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266</a:t>
                      </a:r>
                      <a:r>
                        <a:rPr kumimoji="0" lang="ro-RO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5C2CC269-829D-4F69-B5F8-522E479B6A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o-RO" altLang="ro-RO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Alegerile prezidențiale americane din  2004</a:t>
            </a:r>
          </a:p>
        </p:txBody>
      </p:sp>
      <p:graphicFrame>
        <p:nvGraphicFramePr>
          <p:cNvPr id="17411" name="Group 3">
            <a:extLst>
              <a:ext uri="{FF2B5EF4-FFF2-40B4-BE49-F238E27FC236}">
                <a16:creationId xmlns:a16="http://schemas.microsoft.com/office/drawing/2014/main" id="{58483C4F-7C3E-4465-B6C6-E6DD973636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5403806"/>
              </p:ext>
            </p:extLst>
          </p:nvPr>
        </p:nvGraphicFramePr>
        <p:xfrm>
          <a:off x="2209800" y="1981200"/>
          <a:ext cx="7772400" cy="3608388"/>
        </p:xfrm>
        <a:graphic>
          <a:graphicData uri="http://schemas.openxmlformats.org/drawingml/2006/table">
            <a:tbl>
              <a:tblPr/>
              <a:tblGrid>
                <a:gridCol w="255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0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5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7633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itchFamily="18" charset="0"/>
                        </a:rPr>
                        <a:t>Votul </a:t>
                      </a:r>
                      <a:r>
                        <a:rPr kumimoji="0" lang="ro-RO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popular 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itchFamily="18" charset="0"/>
                        </a:rPr>
                        <a:t>Votul electorilor 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602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Bush</a:t>
                      </a:r>
                      <a:endParaRPr kumimoji="0" lang="fr-FR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59459765</a:t>
                      </a:r>
                      <a:endParaRPr kumimoji="0" lang="fr-FR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286</a:t>
                      </a:r>
                      <a:endParaRPr kumimoji="0" lang="fr-FR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602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Kerry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55.949.407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252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ED6D2463-F982-43C8-B16A-87278003B2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ro-RO" altLang="ro-RO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Alegerile prezidențiale americane din  2008</a:t>
            </a:r>
          </a:p>
        </p:txBody>
      </p:sp>
      <p:graphicFrame>
        <p:nvGraphicFramePr>
          <p:cNvPr id="6" name="Group 3">
            <a:extLst>
              <a:ext uri="{FF2B5EF4-FFF2-40B4-BE49-F238E27FC236}">
                <a16:creationId xmlns:a16="http://schemas.microsoft.com/office/drawing/2014/main" id="{50CF8799-7A36-481A-B159-FA7F97788C98}"/>
              </a:ext>
            </a:extLst>
          </p:cNvPr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2860360294"/>
              </p:ext>
            </p:extLst>
          </p:nvPr>
        </p:nvGraphicFramePr>
        <p:xfrm>
          <a:off x="2209800" y="1981200"/>
          <a:ext cx="7772400" cy="3608388"/>
        </p:xfrm>
        <a:graphic>
          <a:graphicData uri="http://schemas.openxmlformats.org/drawingml/2006/table">
            <a:tbl>
              <a:tblPr/>
              <a:tblGrid>
                <a:gridCol w="255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0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5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7633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itchFamily="18" charset="0"/>
                        </a:rPr>
                        <a:t>Votul popular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itchFamily="18" charset="0"/>
                        </a:rPr>
                        <a:t>Votul electorilor 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602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Obama</a:t>
                      </a:r>
                      <a:endParaRPr kumimoji="0" lang="fr-FR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o-RO" sz="2800" b="1" dirty="0"/>
                        <a:t>69456897</a:t>
                      </a:r>
                    </a:p>
                  </a:txBody>
                  <a:tcPr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o-RO" sz="2800" b="1" dirty="0"/>
                        <a:t>365</a:t>
                      </a:r>
                    </a:p>
                  </a:txBody>
                  <a:tcPr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602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itchFamily="18" charset="0"/>
                        </a:rPr>
                        <a:t>McCaine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ro-RO" sz="2800" dirty="0">
                          <a:latin typeface="+mn-lt"/>
                        </a:rPr>
                        <a:t>59934814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+mn-lt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+mn-lt"/>
                        </a:rPr>
                        <a:t>173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+mn-lt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B2AB9605-947F-4CBB-8430-5D3EE00398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ro-RO" altLang="ro-RO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Alegerile prezidențiale americane din  2016</a:t>
            </a:r>
          </a:p>
        </p:txBody>
      </p:sp>
      <p:graphicFrame>
        <p:nvGraphicFramePr>
          <p:cNvPr id="6" name="Group 3">
            <a:extLst>
              <a:ext uri="{FF2B5EF4-FFF2-40B4-BE49-F238E27FC236}">
                <a16:creationId xmlns:a16="http://schemas.microsoft.com/office/drawing/2014/main" id="{C5B1EF08-1D41-44E0-879B-5F8842B0EBB6}"/>
              </a:ext>
            </a:extLst>
          </p:cNvPr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1588198681"/>
              </p:ext>
            </p:extLst>
          </p:nvPr>
        </p:nvGraphicFramePr>
        <p:xfrm>
          <a:off x="2209800" y="1981200"/>
          <a:ext cx="7772400" cy="3608388"/>
        </p:xfrm>
        <a:graphic>
          <a:graphicData uri="http://schemas.openxmlformats.org/drawingml/2006/table">
            <a:tbl>
              <a:tblPr/>
              <a:tblGrid>
                <a:gridCol w="255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0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5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7633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itchFamily="18" charset="0"/>
                        </a:rPr>
                        <a:t>Votul </a:t>
                      </a:r>
                      <a:r>
                        <a:rPr kumimoji="0" lang="ro-RO" sz="28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Popular</a:t>
                      </a:r>
                      <a:endParaRPr kumimoji="0" lang="ro-RO" sz="2800" b="0" i="0" u="none" strike="noStrike" cap="none" normalizeH="0" baseline="0" noProof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itchFamily="18" charset="0"/>
                        </a:rPr>
                        <a:t>Votul electorilor 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602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Clinton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o-RO" sz="2800" b="1" i="0" dirty="0"/>
                        <a:t>65.853.514</a:t>
                      </a:r>
                    </a:p>
                  </a:txBody>
                  <a:tcPr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o-RO" sz="2800" b="0" dirty="0"/>
                        <a:t>232</a:t>
                      </a:r>
                    </a:p>
                  </a:txBody>
                  <a:tcPr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602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itchFamily="18" charset="0"/>
                        </a:rPr>
                        <a:t>Trump</a:t>
                      </a:r>
                      <a:endParaRPr kumimoji="0" lang="fr-FR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ro-RO" sz="2800" b="1" i="0" dirty="0"/>
                        <a:t>62.984.828</a:t>
                      </a:r>
                      <a:endParaRPr kumimoji="0" lang="fr-FR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+mn-lt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ro-RO" sz="2800" b="1" dirty="0"/>
                        <a:t>306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+mn-lt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C162A9A1-66F8-44D8-9102-A6386201F8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19288" y="188914"/>
            <a:ext cx="8208962" cy="1152525"/>
          </a:xfrm>
        </p:spPr>
        <p:txBody>
          <a:bodyPr/>
          <a:lstStyle/>
          <a:p>
            <a:pPr eaLnBrk="1" hangingPunct="1"/>
            <a:r>
              <a:rPr lang="ro-RO" altLang="ro-RO" sz="3200" b="1" dirty="0"/>
              <a:t>Alegerile prezidențiale americane din  2000</a:t>
            </a:r>
            <a:br>
              <a:rPr lang="ro-RO" altLang="ro-RO" sz="3200" b="1" dirty="0"/>
            </a:br>
            <a:endParaRPr lang="ro-RO" altLang="ro-RO" sz="3200" b="1" dirty="0"/>
          </a:p>
        </p:txBody>
      </p:sp>
      <p:pic>
        <p:nvPicPr>
          <p:cNvPr id="38915" name="Picture 5">
            <a:extLst>
              <a:ext uri="{FF2B5EF4-FFF2-40B4-BE49-F238E27FC236}">
                <a16:creationId xmlns:a16="http://schemas.microsoft.com/office/drawing/2014/main" id="{68B96265-0666-457F-966E-E5575EEA35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2314" y="620714"/>
            <a:ext cx="7991475" cy="591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AF6377C-4FAE-43FA-95AF-5E0BDC21402E}"/>
              </a:ext>
            </a:extLst>
          </p:cNvPr>
          <p:cNvSpPr/>
          <p:nvPr/>
        </p:nvSpPr>
        <p:spPr>
          <a:xfrm>
            <a:off x="1919289" y="188913"/>
            <a:ext cx="8137525" cy="100806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ro-RO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Numărul marilor electorii în funcţie de stat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D79A20BD-A054-4F24-9EDD-0DC47A5E62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19288" y="188914"/>
            <a:ext cx="8208962" cy="1152525"/>
          </a:xfrm>
        </p:spPr>
        <p:txBody>
          <a:bodyPr/>
          <a:lstStyle/>
          <a:p>
            <a:pPr eaLnBrk="1" hangingPunct="1"/>
            <a:r>
              <a:rPr lang="ro-RO" altLang="ro-RO" sz="3200" b="1" dirty="0"/>
              <a:t>Alegerile prezidențiale americane din  2000</a:t>
            </a:r>
            <a:br>
              <a:rPr lang="ro-RO" altLang="ro-RO" sz="3200" b="1" dirty="0"/>
            </a:br>
            <a:endParaRPr lang="ro-RO" altLang="ro-RO" sz="32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C12F1A-7F5B-417B-8282-D6E4FB10661C}"/>
              </a:ext>
            </a:extLst>
          </p:cNvPr>
          <p:cNvSpPr/>
          <p:nvPr/>
        </p:nvSpPr>
        <p:spPr>
          <a:xfrm>
            <a:off x="1919289" y="188913"/>
            <a:ext cx="8137525" cy="100806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ro-RO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Alegerile prezidențiale americane din  1928</a:t>
            </a:r>
          </a:p>
        </p:txBody>
      </p:sp>
      <p:pic>
        <p:nvPicPr>
          <p:cNvPr id="39940" name="Picture 2">
            <a:extLst>
              <a:ext uri="{FF2B5EF4-FFF2-40B4-BE49-F238E27FC236}">
                <a16:creationId xmlns:a16="http://schemas.microsoft.com/office/drawing/2014/main" id="{EFC5F1C2-36AD-447F-84E3-821885C725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214439"/>
            <a:ext cx="7620000" cy="442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572A84ED-C57E-4636-B34B-DD252A37A0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19288" y="188914"/>
            <a:ext cx="8208962" cy="1152525"/>
          </a:xfrm>
        </p:spPr>
        <p:txBody>
          <a:bodyPr/>
          <a:lstStyle/>
          <a:p>
            <a:pPr eaLnBrk="1" hangingPunct="1"/>
            <a:r>
              <a:rPr lang="ro-RO" altLang="ro-RO" sz="3200" b="1" dirty="0"/>
              <a:t>Alegerile prezidențiale americane din  2000</a:t>
            </a:r>
            <a:br>
              <a:rPr lang="ro-RO" altLang="ro-RO" sz="3200" b="1" dirty="0"/>
            </a:br>
            <a:endParaRPr lang="ro-RO" altLang="ro-RO" sz="32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3FB0CB-A596-41E8-935B-7F5B0F8CB3A6}"/>
              </a:ext>
            </a:extLst>
          </p:cNvPr>
          <p:cNvSpPr/>
          <p:nvPr/>
        </p:nvSpPr>
        <p:spPr>
          <a:xfrm>
            <a:off x="1919289" y="188913"/>
            <a:ext cx="8137525" cy="100806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ro-RO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Alegerile prezidențiale americane din  1932</a:t>
            </a:r>
          </a:p>
        </p:txBody>
      </p:sp>
      <p:pic>
        <p:nvPicPr>
          <p:cNvPr id="40964" name="Picture 6">
            <a:extLst>
              <a:ext uri="{FF2B5EF4-FFF2-40B4-BE49-F238E27FC236}">
                <a16:creationId xmlns:a16="http://schemas.microsoft.com/office/drawing/2014/main" id="{DEA64488-16E8-4D74-AEE2-D2A9EE6A0F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214439"/>
            <a:ext cx="7620000" cy="442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4BC61C70-812B-44FF-B996-7CFB30F507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19288" y="188914"/>
            <a:ext cx="8208962" cy="1152525"/>
          </a:xfrm>
        </p:spPr>
        <p:txBody>
          <a:bodyPr/>
          <a:lstStyle/>
          <a:p>
            <a:pPr eaLnBrk="1" hangingPunct="1"/>
            <a:r>
              <a:rPr lang="ro-RO" altLang="ro-RO" sz="3200" b="1" dirty="0"/>
              <a:t>Alegerile prezidențiale americane din  2000</a:t>
            </a:r>
            <a:br>
              <a:rPr lang="ro-RO" altLang="ro-RO" sz="3200" b="1" dirty="0"/>
            </a:br>
            <a:endParaRPr lang="ro-RO" altLang="ro-RO" sz="32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176024-142E-43DE-B738-69B424D8529D}"/>
              </a:ext>
            </a:extLst>
          </p:cNvPr>
          <p:cNvSpPr/>
          <p:nvPr/>
        </p:nvSpPr>
        <p:spPr>
          <a:xfrm>
            <a:off x="1919289" y="188913"/>
            <a:ext cx="8137525" cy="100806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ro-RO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Alegerile prezidențiale americane din  1936</a:t>
            </a:r>
          </a:p>
        </p:txBody>
      </p:sp>
      <p:pic>
        <p:nvPicPr>
          <p:cNvPr id="41988" name="Picture 2">
            <a:extLst>
              <a:ext uri="{FF2B5EF4-FFF2-40B4-BE49-F238E27FC236}">
                <a16:creationId xmlns:a16="http://schemas.microsoft.com/office/drawing/2014/main" id="{559A3DF4-E54D-4DF6-8ACC-BA62E72B24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214439"/>
            <a:ext cx="7620000" cy="442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997C4A1F-17C4-43D3-9BEE-611301AE1A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19288" y="188914"/>
            <a:ext cx="8208962" cy="1152525"/>
          </a:xfrm>
        </p:spPr>
        <p:txBody>
          <a:bodyPr/>
          <a:lstStyle/>
          <a:p>
            <a:pPr eaLnBrk="1" hangingPunct="1"/>
            <a:r>
              <a:rPr lang="ro-RO" altLang="ro-RO" sz="3200" b="1" dirty="0"/>
              <a:t>Alegerile prezidențiale americane din  2000</a:t>
            </a:r>
            <a:br>
              <a:rPr lang="ro-RO" altLang="ro-RO" sz="3200" b="1" dirty="0"/>
            </a:br>
            <a:endParaRPr lang="ro-RO" altLang="ro-RO" sz="32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837706-7E08-4EEA-A469-B0132459D7EE}"/>
              </a:ext>
            </a:extLst>
          </p:cNvPr>
          <p:cNvSpPr/>
          <p:nvPr/>
        </p:nvSpPr>
        <p:spPr>
          <a:xfrm>
            <a:off x="1919289" y="188913"/>
            <a:ext cx="8137525" cy="100806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ro-RO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Alegerile prezidențiale americane din  1940</a:t>
            </a:r>
          </a:p>
        </p:txBody>
      </p:sp>
      <p:pic>
        <p:nvPicPr>
          <p:cNvPr id="43012" name="Picture 2">
            <a:extLst>
              <a:ext uri="{FF2B5EF4-FFF2-40B4-BE49-F238E27FC236}">
                <a16:creationId xmlns:a16="http://schemas.microsoft.com/office/drawing/2014/main" id="{2E805916-8FCF-4B50-9E31-1337B72808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214439"/>
            <a:ext cx="7620000" cy="442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Imagine 2">
            <a:extLst>
              <a:ext uri="{FF2B5EF4-FFF2-40B4-BE49-F238E27FC236}">
                <a16:creationId xmlns:a16="http://schemas.microsoft.com/office/drawing/2014/main" id="{4B196494-E369-4F02-83A3-3A045E4F5F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651" y="908051"/>
            <a:ext cx="7345363" cy="5319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5">
            <a:extLst>
              <a:ext uri="{FF2B5EF4-FFF2-40B4-BE49-F238E27FC236}">
                <a16:creationId xmlns:a16="http://schemas.microsoft.com/office/drawing/2014/main" id="{3D99591F-C317-4E56-B291-47F9221C76BE}"/>
              </a:ext>
            </a:extLst>
          </p:cNvPr>
          <p:cNvSpPr/>
          <p:nvPr/>
        </p:nvSpPr>
        <p:spPr>
          <a:xfrm>
            <a:off x="1919289" y="188913"/>
            <a:ext cx="8137525" cy="8636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ro-RO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Alegerile prezidențiale americane din  1944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5742884-87B0-47AA-96D7-D23406B73EC1}"/>
              </a:ext>
            </a:extLst>
          </p:cNvPr>
          <p:cNvSpPr/>
          <p:nvPr/>
        </p:nvSpPr>
        <p:spPr>
          <a:xfrm>
            <a:off x="1648775" y="206374"/>
            <a:ext cx="8137525" cy="100806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ro-RO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Alegerile prezidențiale americane din  1948</a:t>
            </a:r>
          </a:p>
        </p:txBody>
      </p:sp>
      <p:pic>
        <p:nvPicPr>
          <p:cNvPr id="45060" name="Picture 2">
            <a:extLst>
              <a:ext uri="{FF2B5EF4-FFF2-40B4-BE49-F238E27FC236}">
                <a16:creationId xmlns:a16="http://schemas.microsoft.com/office/drawing/2014/main" id="{493A068F-6E12-4B03-A21E-78DB6E9083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214439"/>
            <a:ext cx="7620000" cy="442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852FB2C4-8A9A-45E8-9E84-AF2FB4E6DA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19288" y="188914"/>
            <a:ext cx="8208962" cy="1152525"/>
          </a:xfrm>
        </p:spPr>
        <p:txBody>
          <a:bodyPr/>
          <a:lstStyle/>
          <a:p>
            <a:pPr eaLnBrk="1" hangingPunct="1"/>
            <a:r>
              <a:rPr lang="ro-RO" altLang="ro-RO" sz="3200" b="1" dirty="0"/>
              <a:t>Alegerile prezidențiale americane din  2000</a:t>
            </a:r>
            <a:br>
              <a:rPr lang="ro-RO" altLang="ro-RO" sz="3200" b="1" dirty="0"/>
            </a:br>
            <a:endParaRPr lang="ro-RO" altLang="ro-RO" sz="32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AD1156-0EDE-4EC9-A190-41A4917F1000}"/>
              </a:ext>
            </a:extLst>
          </p:cNvPr>
          <p:cNvSpPr/>
          <p:nvPr/>
        </p:nvSpPr>
        <p:spPr>
          <a:xfrm>
            <a:off x="1919289" y="188913"/>
            <a:ext cx="8137525" cy="100806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ro-RO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Alegerile prezidențiale americane din  1952</a:t>
            </a:r>
          </a:p>
        </p:txBody>
      </p:sp>
      <p:pic>
        <p:nvPicPr>
          <p:cNvPr id="46084" name="Picture 3">
            <a:extLst>
              <a:ext uri="{FF2B5EF4-FFF2-40B4-BE49-F238E27FC236}">
                <a16:creationId xmlns:a16="http://schemas.microsoft.com/office/drawing/2014/main" id="{505DD4DE-2C21-4EE9-85F5-5B1728D0A4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214439"/>
            <a:ext cx="7620000" cy="442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D75C95A8-8F3D-4DB3-BA26-CA40044CCE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19288" y="188914"/>
            <a:ext cx="8208962" cy="1152525"/>
          </a:xfrm>
        </p:spPr>
        <p:txBody>
          <a:bodyPr/>
          <a:lstStyle/>
          <a:p>
            <a:pPr eaLnBrk="1" hangingPunct="1"/>
            <a:r>
              <a:rPr lang="ro-RO" altLang="ro-RO" sz="3200" b="1" dirty="0"/>
              <a:t>Alegerile prezidențiale americane din  2000</a:t>
            </a:r>
            <a:br>
              <a:rPr lang="ro-RO" altLang="ro-RO" sz="3200" b="1" dirty="0"/>
            </a:br>
            <a:endParaRPr lang="ro-RO" altLang="ro-RO" sz="32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55C41B-D76A-446F-8981-6E217E845400}"/>
              </a:ext>
            </a:extLst>
          </p:cNvPr>
          <p:cNvSpPr/>
          <p:nvPr/>
        </p:nvSpPr>
        <p:spPr>
          <a:xfrm>
            <a:off x="1919289" y="188913"/>
            <a:ext cx="8137525" cy="100806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ro-RO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Alegerile prezidențiale americane din  1956</a:t>
            </a:r>
          </a:p>
        </p:txBody>
      </p:sp>
      <p:pic>
        <p:nvPicPr>
          <p:cNvPr id="47108" name="Picture 5">
            <a:extLst>
              <a:ext uri="{FF2B5EF4-FFF2-40B4-BE49-F238E27FC236}">
                <a16:creationId xmlns:a16="http://schemas.microsoft.com/office/drawing/2014/main" id="{F0183708-BF29-4F12-83AB-5BA52190F3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214439"/>
            <a:ext cx="7620000" cy="442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67A9AEDA-EC21-446A-A5C1-CB62A5A77D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19288" y="188914"/>
            <a:ext cx="8208962" cy="1152525"/>
          </a:xfrm>
        </p:spPr>
        <p:txBody>
          <a:bodyPr/>
          <a:lstStyle/>
          <a:p>
            <a:pPr eaLnBrk="1" hangingPunct="1"/>
            <a:r>
              <a:rPr lang="ro-RO" altLang="ro-RO" sz="3200" b="1" dirty="0"/>
              <a:t>Alegerile prezidențiale americane din  2000</a:t>
            </a:r>
            <a:br>
              <a:rPr lang="ro-RO" altLang="ro-RO" sz="3200" b="1" dirty="0"/>
            </a:br>
            <a:endParaRPr lang="ro-RO" altLang="ro-RO" sz="32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40AE16-652F-4236-B6F3-FAD714EACB23}"/>
              </a:ext>
            </a:extLst>
          </p:cNvPr>
          <p:cNvSpPr/>
          <p:nvPr/>
        </p:nvSpPr>
        <p:spPr>
          <a:xfrm>
            <a:off x="1919289" y="188913"/>
            <a:ext cx="8137525" cy="100806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ro-RO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Alegerile prezidențiale americane din  1960</a:t>
            </a:r>
          </a:p>
        </p:txBody>
      </p:sp>
      <p:pic>
        <p:nvPicPr>
          <p:cNvPr id="48132" name="Picture 2">
            <a:extLst>
              <a:ext uri="{FF2B5EF4-FFF2-40B4-BE49-F238E27FC236}">
                <a16:creationId xmlns:a16="http://schemas.microsoft.com/office/drawing/2014/main" id="{0047FBFA-5211-4163-BA82-7AB8018F6A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214439"/>
            <a:ext cx="7620000" cy="442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A256B447-DAC2-44FE-85B6-AAA07FEEB2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19288" y="188914"/>
            <a:ext cx="8208962" cy="1152525"/>
          </a:xfrm>
        </p:spPr>
        <p:txBody>
          <a:bodyPr/>
          <a:lstStyle/>
          <a:p>
            <a:pPr eaLnBrk="1" hangingPunct="1"/>
            <a:r>
              <a:rPr lang="ro-RO" altLang="ro-RO" sz="3200" b="1" dirty="0"/>
              <a:t>Alegerile prezidențiale americane din  2000</a:t>
            </a:r>
            <a:br>
              <a:rPr lang="ro-RO" altLang="ro-RO" sz="3200" b="1" dirty="0"/>
            </a:br>
            <a:endParaRPr lang="ro-RO" altLang="ro-RO" sz="32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9032B8-A681-45C8-8D03-CC417A02D045}"/>
              </a:ext>
            </a:extLst>
          </p:cNvPr>
          <p:cNvSpPr/>
          <p:nvPr/>
        </p:nvSpPr>
        <p:spPr>
          <a:xfrm>
            <a:off x="1919289" y="188913"/>
            <a:ext cx="8137525" cy="100806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ro-RO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Alegerile prezidențiale americane din  1964</a:t>
            </a:r>
          </a:p>
        </p:txBody>
      </p:sp>
      <p:pic>
        <p:nvPicPr>
          <p:cNvPr id="49156" name="Picture 4">
            <a:extLst>
              <a:ext uri="{FF2B5EF4-FFF2-40B4-BE49-F238E27FC236}">
                <a16:creationId xmlns:a16="http://schemas.microsoft.com/office/drawing/2014/main" id="{905F599B-A969-4D94-8B71-5F30E99FD0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214439"/>
            <a:ext cx="7620000" cy="442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81834B61-313C-4A23-A284-EC6425B865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19288" y="188914"/>
            <a:ext cx="8208962" cy="1152525"/>
          </a:xfrm>
        </p:spPr>
        <p:txBody>
          <a:bodyPr/>
          <a:lstStyle/>
          <a:p>
            <a:pPr eaLnBrk="1" hangingPunct="1"/>
            <a:r>
              <a:rPr lang="ro-RO" altLang="ro-RO" sz="3200" b="1" dirty="0"/>
              <a:t>Alegerile prezidențiale americane din  2000</a:t>
            </a:r>
            <a:br>
              <a:rPr lang="ro-RO" altLang="ro-RO" sz="3200" b="1" dirty="0"/>
            </a:br>
            <a:endParaRPr lang="ro-RO" altLang="ro-RO" sz="32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E25134-D8FE-42FF-981C-E356D2CD7BF8}"/>
              </a:ext>
            </a:extLst>
          </p:cNvPr>
          <p:cNvSpPr/>
          <p:nvPr/>
        </p:nvSpPr>
        <p:spPr>
          <a:xfrm>
            <a:off x="1919289" y="188913"/>
            <a:ext cx="8137525" cy="100806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ro-RO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Alegerile prezidențiale americane din  1968</a:t>
            </a:r>
          </a:p>
        </p:txBody>
      </p:sp>
      <p:pic>
        <p:nvPicPr>
          <p:cNvPr id="50180" name="Picture 2">
            <a:extLst>
              <a:ext uri="{FF2B5EF4-FFF2-40B4-BE49-F238E27FC236}">
                <a16:creationId xmlns:a16="http://schemas.microsoft.com/office/drawing/2014/main" id="{D1D84943-3909-447C-B701-3553C1850C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214439"/>
            <a:ext cx="7620000" cy="442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8D4128CF-0699-4178-8F55-A0258ABCB2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19288" y="188914"/>
            <a:ext cx="8208962" cy="1152525"/>
          </a:xfrm>
        </p:spPr>
        <p:txBody>
          <a:bodyPr/>
          <a:lstStyle/>
          <a:p>
            <a:pPr eaLnBrk="1" hangingPunct="1"/>
            <a:r>
              <a:rPr lang="ro-RO" altLang="ro-RO" sz="3200" b="1" dirty="0"/>
              <a:t>Alegerile prezidențiale americane din  2000</a:t>
            </a:r>
            <a:br>
              <a:rPr lang="ro-RO" altLang="ro-RO" sz="3200" b="1" dirty="0"/>
            </a:br>
            <a:endParaRPr lang="ro-RO" altLang="ro-RO" sz="32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D43181-708D-4A97-B607-7316343AD0C8}"/>
              </a:ext>
            </a:extLst>
          </p:cNvPr>
          <p:cNvSpPr/>
          <p:nvPr/>
        </p:nvSpPr>
        <p:spPr>
          <a:xfrm>
            <a:off x="1919289" y="188913"/>
            <a:ext cx="8137525" cy="100806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ro-RO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Alegerile prezidențiale americane din  1972</a:t>
            </a:r>
          </a:p>
        </p:txBody>
      </p:sp>
      <p:pic>
        <p:nvPicPr>
          <p:cNvPr id="51204" name="Picture 2">
            <a:extLst>
              <a:ext uri="{FF2B5EF4-FFF2-40B4-BE49-F238E27FC236}">
                <a16:creationId xmlns:a16="http://schemas.microsoft.com/office/drawing/2014/main" id="{632C22D7-55DC-418A-A395-EEC7F6EBAD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214439"/>
            <a:ext cx="7620000" cy="442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3FBB3CA0-6806-455D-A673-854ABE3DDA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19288" y="188914"/>
            <a:ext cx="8208962" cy="1152525"/>
          </a:xfrm>
        </p:spPr>
        <p:txBody>
          <a:bodyPr/>
          <a:lstStyle/>
          <a:p>
            <a:pPr eaLnBrk="1" hangingPunct="1"/>
            <a:r>
              <a:rPr lang="ro-RO" altLang="ro-RO" sz="3200" b="1" dirty="0"/>
              <a:t>Alegerile prezidențiale americane din  2000</a:t>
            </a:r>
            <a:br>
              <a:rPr lang="ro-RO" altLang="ro-RO" sz="3200" b="1" dirty="0"/>
            </a:br>
            <a:endParaRPr lang="ro-RO" altLang="ro-RO" sz="32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E6169B-9941-4E2E-ADF0-8C8F55CE3027}"/>
              </a:ext>
            </a:extLst>
          </p:cNvPr>
          <p:cNvSpPr/>
          <p:nvPr/>
        </p:nvSpPr>
        <p:spPr>
          <a:xfrm>
            <a:off x="1919289" y="188913"/>
            <a:ext cx="8137525" cy="100806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ro-RO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Alegerile prezidențiale americane din  1976</a:t>
            </a:r>
          </a:p>
        </p:txBody>
      </p:sp>
      <p:pic>
        <p:nvPicPr>
          <p:cNvPr id="52228" name="Picture 2">
            <a:extLst>
              <a:ext uri="{FF2B5EF4-FFF2-40B4-BE49-F238E27FC236}">
                <a16:creationId xmlns:a16="http://schemas.microsoft.com/office/drawing/2014/main" id="{33B22B1B-E029-4F4A-BF61-AF32C3DD31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214439"/>
            <a:ext cx="7620000" cy="442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9451EEAE-B875-4817-B52C-93926E2B58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19288" y="188914"/>
            <a:ext cx="8208962" cy="1152525"/>
          </a:xfrm>
        </p:spPr>
        <p:txBody>
          <a:bodyPr/>
          <a:lstStyle/>
          <a:p>
            <a:pPr eaLnBrk="1" hangingPunct="1"/>
            <a:r>
              <a:rPr lang="ro-RO" altLang="ro-RO" sz="3200" b="1" dirty="0"/>
              <a:t>Alegerile prezidențiale americane din  2000</a:t>
            </a:r>
            <a:br>
              <a:rPr lang="ro-RO" altLang="ro-RO" sz="3200" b="1" dirty="0"/>
            </a:br>
            <a:endParaRPr lang="ro-RO" altLang="ro-RO" sz="32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FE7CA9-0E87-4DBE-B351-5A585E537AE7}"/>
              </a:ext>
            </a:extLst>
          </p:cNvPr>
          <p:cNvSpPr/>
          <p:nvPr/>
        </p:nvSpPr>
        <p:spPr>
          <a:xfrm>
            <a:off x="1919289" y="188913"/>
            <a:ext cx="8137525" cy="100806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ro-RO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Alegerile prezidențiale americane din  1980</a:t>
            </a:r>
          </a:p>
        </p:txBody>
      </p:sp>
      <p:pic>
        <p:nvPicPr>
          <p:cNvPr id="53252" name="Picture 3">
            <a:extLst>
              <a:ext uri="{FF2B5EF4-FFF2-40B4-BE49-F238E27FC236}">
                <a16:creationId xmlns:a16="http://schemas.microsoft.com/office/drawing/2014/main" id="{3EF374F6-3567-4D33-BF9C-0E14D11BB9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214439"/>
            <a:ext cx="7620000" cy="442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7A178E8C-B9A2-4ABE-A257-F65C2CF00B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19288" y="188914"/>
            <a:ext cx="8208962" cy="1152525"/>
          </a:xfrm>
        </p:spPr>
        <p:txBody>
          <a:bodyPr/>
          <a:lstStyle/>
          <a:p>
            <a:pPr eaLnBrk="1" hangingPunct="1"/>
            <a:r>
              <a:rPr lang="ro-RO" altLang="ro-RO" sz="3200" b="1" dirty="0"/>
              <a:t>Alegerile prezidențiale americane din  2000</a:t>
            </a:r>
            <a:br>
              <a:rPr lang="ro-RO" altLang="ro-RO" sz="3200" b="1" dirty="0"/>
            </a:br>
            <a:endParaRPr lang="ro-RO" altLang="ro-RO" sz="32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C6F1CA-E1E5-4286-BDA7-24C4402291B4}"/>
              </a:ext>
            </a:extLst>
          </p:cNvPr>
          <p:cNvSpPr/>
          <p:nvPr/>
        </p:nvSpPr>
        <p:spPr>
          <a:xfrm>
            <a:off x="1919289" y="188913"/>
            <a:ext cx="8137525" cy="100806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ro-RO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Alegerile prezidențiale americane din  1984</a:t>
            </a:r>
          </a:p>
        </p:txBody>
      </p:sp>
      <p:pic>
        <p:nvPicPr>
          <p:cNvPr id="54276" name="Picture 2">
            <a:extLst>
              <a:ext uri="{FF2B5EF4-FFF2-40B4-BE49-F238E27FC236}">
                <a16:creationId xmlns:a16="http://schemas.microsoft.com/office/drawing/2014/main" id="{1819C130-F508-42F7-A4F2-B8BA7E7B35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214439"/>
            <a:ext cx="7620000" cy="442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F889A02F-473E-49B4-ACCB-3497E5B9DA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19288" y="188914"/>
            <a:ext cx="8208962" cy="1152525"/>
          </a:xfrm>
        </p:spPr>
        <p:txBody>
          <a:bodyPr/>
          <a:lstStyle/>
          <a:p>
            <a:pPr eaLnBrk="1" hangingPunct="1"/>
            <a:r>
              <a:rPr lang="ro-RO" altLang="ro-RO" sz="3200" b="1" dirty="0"/>
              <a:t>Alegerile prezidențiale americane din  2000</a:t>
            </a:r>
            <a:br>
              <a:rPr lang="ro-RO" altLang="ro-RO" sz="3200" b="1" dirty="0"/>
            </a:br>
            <a:endParaRPr lang="ro-RO" altLang="ro-RO" sz="32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2C032C-F54A-4C11-B976-866F9BCFB574}"/>
              </a:ext>
            </a:extLst>
          </p:cNvPr>
          <p:cNvSpPr/>
          <p:nvPr/>
        </p:nvSpPr>
        <p:spPr>
          <a:xfrm>
            <a:off x="1919289" y="188913"/>
            <a:ext cx="8137525" cy="100806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ro-RO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Alegerile prezidențiale americane din  1988</a:t>
            </a:r>
          </a:p>
        </p:txBody>
      </p:sp>
      <p:pic>
        <p:nvPicPr>
          <p:cNvPr id="55300" name="Picture 2">
            <a:extLst>
              <a:ext uri="{FF2B5EF4-FFF2-40B4-BE49-F238E27FC236}">
                <a16:creationId xmlns:a16="http://schemas.microsoft.com/office/drawing/2014/main" id="{454972DA-9EF5-42F4-B980-DBC8F27221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214439"/>
            <a:ext cx="7620000" cy="442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F19DB13B-F3A2-4917-8F5E-A4FE20D8CF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19288" y="188914"/>
            <a:ext cx="8208962" cy="1152525"/>
          </a:xfrm>
        </p:spPr>
        <p:txBody>
          <a:bodyPr/>
          <a:lstStyle/>
          <a:p>
            <a:pPr eaLnBrk="1" hangingPunct="1"/>
            <a:r>
              <a:rPr lang="ro-RO" altLang="ro-RO" sz="3200" b="1" dirty="0"/>
              <a:t>Alegerile prezidențiale americane din  2000</a:t>
            </a:r>
            <a:br>
              <a:rPr lang="ro-RO" altLang="ro-RO" sz="3200" b="1" dirty="0"/>
            </a:br>
            <a:endParaRPr lang="ro-RO" altLang="ro-RO" sz="32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05B0E4-0CD1-47A6-94C7-BF814C2F55B2}"/>
              </a:ext>
            </a:extLst>
          </p:cNvPr>
          <p:cNvSpPr/>
          <p:nvPr/>
        </p:nvSpPr>
        <p:spPr>
          <a:xfrm>
            <a:off x="1919289" y="188913"/>
            <a:ext cx="8137525" cy="100806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ro-RO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Alegerile prezidențiale americane din  1992</a:t>
            </a:r>
          </a:p>
        </p:txBody>
      </p:sp>
      <p:pic>
        <p:nvPicPr>
          <p:cNvPr id="56324" name="Picture 2">
            <a:extLst>
              <a:ext uri="{FF2B5EF4-FFF2-40B4-BE49-F238E27FC236}">
                <a16:creationId xmlns:a16="http://schemas.microsoft.com/office/drawing/2014/main" id="{6DA13DD2-08F7-4429-B028-CEBD8D437A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214439"/>
            <a:ext cx="7620000" cy="442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43F6A736-79CD-4A45-AA25-884EE8893B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1143000"/>
          </a:xfrm>
        </p:spPr>
        <p:txBody>
          <a:bodyPr/>
          <a:lstStyle/>
          <a:p>
            <a:pPr eaLnBrk="1" hangingPunct="1"/>
            <a:r>
              <a:rPr lang="ro-RO" altLang="ro-RO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Alegerile prezidențiale americane din  1996</a:t>
            </a:r>
            <a:br>
              <a:rPr lang="ro-RO" altLang="ro-RO" sz="3200" b="1" dirty="0"/>
            </a:br>
            <a:endParaRPr lang="ro-RO" altLang="ro-RO" sz="3200" b="1" dirty="0"/>
          </a:p>
        </p:txBody>
      </p:sp>
      <p:pic>
        <p:nvPicPr>
          <p:cNvPr id="57347" name="Picture 4">
            <a:extLst>
              <a:ext uri="{FF2B5EF4-FFF2-40B4-BE49-F238E27FC236}">
                <a16:creationId xmlns:a16="http://schemas.microsoft.com/office/drawing/2014/main" id="{FE7AF4CE-B531-49D7-B416-5FE39E798A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214439"/>
            <a:ext cx="7620000" cy="442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E250D1E0-7614-4792-A719-ADF411F6AA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1143000"/>
          </a:xfrm>
        </p:spPr>
        <p:txBody>
          <a:bodyPr/>
          <a:lstStyle/>
          <a:p>
            <a:pPr eaLnBrk="1" hangingPunct="1"/>
            <a:r>
              <a:rPr lang="ro-RO" altLang="ro-RO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Alegerile prezidențiale americane din  2000</a:t>
            </a:r>
            <a:br>
              <a:rPr lang="ro-RO" altLang="ro-RO" sz="3200" b="1" dirty="0"/>
            </a:br>
            <a:endParaRPr lang="ro-RO" altLang="ro-RO" sz="3200" b="1" dirty="0"/>
          </a:p>
        </p:txBody>
      </p:sp>
      <p:pic>
        <p:nvPicPr>
          <p:cNvPr id="58371" name="Picture 2">
            <a:extLst>
              <a:ext uri="{FF2B5EF4-FFF2-40B4-BE49-F238E27FC236}">
                <a16:creationId xmlns:a16="http://schemas.microsoft.com/office/drawing/2014/main" id="{E7C2DFD5-15D5-41B3-A3DC-5554A8D13B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214439"/>
            <a:ext cx="7620000" cy="442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64D6234D-F56A-4E0E-951A-F71F72D145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8213" y="333375"/>
            <a:ext cx="7772400" cy="1143000"/>
          </a:xfrm>
        </p:spPr>
        <p:txBody>
          <a:bodyPr/>
          <a:lstStyle/>
          <a:p>
            <a:pPr algn="ctr" eaLnBrk="1" hangingPunct="1"/>
            <a:r>
              <a:rPr lang="ro-RO" altLang="ro-RO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Alegerile prezidențiale americane din  2004</a:t>
            </a:r>
            <a:br>
              <a:rPr lang="ro-RO" altLang="ro-RO" sz="3200" b="1" dirty="0"/>
            </a:br>
            <a:endParaRPr lang="ro-RO" altLang="ro-RO" sz="3200" b="1" dirty="0"/>
          </a:p>
        </p:txBody>
      </p:sp>
      <p:pic>
        <p:nvPicPr>
          <p:cNvPr id="59395" name="Picture 4">
            <a:extLst>
              <a:ext uri="{FF2B5EF4-FFF2-40B4-BE49-F238E27FC236}">
                <a16:creationId xmlns:a16="http://schemas.microsoft.com/office/drawing/2014/main" id="{03FD562B-4DDE-4C46-A045-0F08FCEBB2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214439"/>
            <a:ext cx="7620000" cy="442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0E050286-EFE1-4459-83E2-0527B7A2A0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51088" y="0"/>
            <a:ext cx="7772400" cy="1143000"/>
          </a:xfrm>
        </p:spPr>
        <p:txBody>
          <a:bodyPr/>
          <a:lstStyle/>
          <a:p>
            <a:pPr algn="ctr" eaLnBrk="1" hangingPunct="1"/>
            <a:r>
              <a:rPr lang="ro-RO" altLang="ro-RO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Alegerile prezidențiale americane din  2008</a:t>
            </a:r>
            <a:br>
              <a:rPr lang="ro-RO" altLang="ro-RO" sz="3200" b="1" dirty="0"/>
            </a:br>
            <a:endParaRPr lang="ro-RO" altLang="ro-RO" sz="3200" b="1" dirty="0"/>
          </a:p>
        </p:txBody>
      </p:sp>
      <p:pic>
        <p:nvPicPr>
          <p:cNvPr id="60419" name="Picture 3">
            <a:extLst>
              <a:ext uri="{FF2B5EF4-FFF2-40B4-BE49-F238E27FC236}">
                <a16:creationId xmlns:a16="http://schemas.microsoft.com/office/drawing/2014/main" id="{5882F60F-DD34-4952-AE0F-47B69718FE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1600200"/>
            <a:ext cx="69342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420" name="Picture 8">
            <a:extLst>
              <a:ext uri="{FF2B5EF4-FFF2-40B4-BE49-F238E27FC236}">
                <a16:creationId xmlns:a16="http://schemas.microsoft.com/office/drawing/2014/main" id="{064F3261-739A-49F6-8EBC-2747D7EA02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214439"/>
            <a:ext cx="7620000" cy="442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42" name="Imagine 3">
            <a:extLst>
              <a:ext uri="{FF2B5EF4-FFF2-40B4-BE49-F238E27FC236}">
                <a16:creationId xmlns:a16="http://schemas.microsoft.com/office/drawing/2014/main" id="{622EEAD4-D8B8-466B-8385-04ED369560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289" y="1357313"/>
            <a:ext cx="8353425" cy="488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43" name="Rectangle 2">
            <a:extLst>
              <a:ext uri="{FF2B5EF4-FFF2-40B4-BE49-F238E27FC236}">
                <a16:creationId xmlns:a16="http://schemas.microsoft.com/office/drawing/2014/main" id="{3F90C177-55F9-4B7B-A7D0-A89A4F8F0F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35163" y="359764"/>
            <a:ext cx="7772400" cy="548286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ro-RO" altLang="ro-RO" sz="3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Alegerile prezidențiale americane din  2012</a:t>
            </a:r>
            <a:br>
              <a:rPr lang="ro-RO" altLang="ro-RO" sz="3200" b="1" dirty="0"/>
            </a:br>
            <a:endParaRPr lang="ro-RO" altLang="ro-RO" sz="3200" b="1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6" name="Imagine 3">
            <a:extLst>
              <a:ext uri="{FF2B5EF4-FFF2-40B4-BE49-F238E27FC236}">
                <a16:creationId xmlns:a16="http://schemas.microsoft.com/office/drawing/2014/main" id="{D7850354-E605-4C9C-A119-128D968444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3264" y="1557338"/>
            <a:ext cx="8245475" cy="4672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467" name="Rectangle 2">
            <a:extLst>
              <a:ext uri="{FF2B5EF4-FFF2-40B4-BE49-F238E27FC236}">
                <a16:creationId xmlns:a16="http://schemas.microsoft.com/office/drawing/2014/main" id="{C4284BBE-295B-49EF-BB7A-3321609819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74825" y="628650"/>
            <a:ext cx="7772400" cy="279400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ro-RO" altLang="ro-RO" sz="3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Alegerile prezidențiale americane din  2016</a:t>
            </a:r>
            <a:br>
              <a:rPr lang="ro-RO" altLang="ro-RO" sz="3200" b="1" dirty="0"/>
            </a:br>
            <a:endParaRPr lang="ro-RO" altLang="ro-RO" sz="3200" b="1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30413A4A-8DD6-4758-8349-BA8CAE956C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94282" y="381000"/>
            <a:ext cx="9345118" cy="57150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o-RO" altLang="ro-RO" sz="3200" b="1" dirty="0">
                <a:solidFill>
                  <a:schemeClr val="accent1"/>
                </a:solidFill>
              </a:rPr>
              <a:t>Caracteristici ale alegerilor prezidențiale americane</a:t>
            </a:r>
          </a:p>
          <a:p>
            <a:pPr eaLnBrk="1" hangingPunct="1">
              <a:buFontTx/>
              <a:buNone/>
            </a:pPr>
            <a:endParaRPr lang="ro-RO" altLang="ro-RO" b="1" dirty="0">
              <a:solidFill>
                <a:srgbClr val="000066"/>
              </a:solidFill>
            </a:endParaRPr>
          </a:p>
          <a:p>
            <a:pPr eaLnBrk="1" hangingPunct="1">
              <a:buFontTx/>
              <a:buNone/>
            </a:pPr>
            <a:r>
              <a:rPr lang="ro-RO" altLang="ro-RO" dirty="0">
                <a:solidFill>
                  <a:srgbClr val="000066"/>
                </a:solidFill>
              </a:rPr>
              <a:t>1. Supra-reprezentarea statelor mici</a:t>
            </a:r>
          </a:p>
          <a:p>
            <a:pPr eaLnBrk="1" hangingPunct="1">
              <a:buFontTx/>
              <a:buNone/>
            </a:pPr>
            <a:r>
              <a:rPr lang="ro-RO" altLang="ro-RO" dirty="0">
                <a:solidFill>
                  <a:srgbClr val="000066"/>
                </a:solidFill>
              </a:rPr>
              <a:t>2. Supra-determinarea statelor mari </a:t>
            </a:r>
          </a:p>
          <a:p>
            <a:pPr eaLnBrk="1" hangingPunct="1">
              <a:buFontTx/>
              <a:buNone/>
            </a:pPr>
            <a:r>
              <a:rPr lang="ro-RO" altLang="ro-RO" dirty="0">
                <a:solidFill>
                  <a:srgbClr val="000066"/>
                </a:solidFill>
              </a:rPr>
              <a:t>3. În</a:t>
            </a:r>
            <a:r>
              <a:rPr lang="ro-RO" altLang="ro-RO" dirty="0">
                <a:solidFill>
                  <a:srgbClr val="000066"/>
                </a:solidFill>
                <a:sym typeface="Wingdings" panose="05000000000000000000" pitchFamily="2" charset="2"/>
              </a:rPr>
              <a:t> cazul unei competiții strânse, </a:t>
            </a:r>
            <a:r>
              <a:rPr lang="ro-RO" altLang="ro-RO" dirty="0">
                <a:solidFill>
                  <a:srgbClr val="000066"/>
                </a:solidFill>
              </a:rPr>
              <a:t>esențială este victoria în </a:t>
            </a:r>
            <a:r>
              <a:rPr lang="ro-RO" altLang="ro-RO" i="1" dirty="0">
                <a:solidFill>
                  <a:srgbClr val="000066"/>
                </a:solidFill>
              </a:rPr>
              <a:t>Swing </a:t>
            </a:r>
            <a:r>
              <a:rPr lang="ro-RO" altLang="ro-RO" i="1" dirty="0" err="1">
                <a:solidFill>
                  <a:srgbClr val="000066"/>
                </a:solidFill>
              </a:rPr>
              <a:t>States</a:t>
            </a:r>
            <a:r>
              <a:rPr lang="ro-RO" altLang="ro-RO" i="1" dirty="0">
                <a:solidFill>
                  <a:srgbClr val="000066"/>
                </a:solidFill>
              </a:rPr>
              <a:t> </a:t>
            </a:r>
            <a:r>
              <a:rPr lang="ro-RO" altLang="ro-RO" dirty="0">
                <a:solidFill>
                  <a:srgbClr val="000066"/>
                </a:solidFill>
              </a:rPr>
              <a:t>așa cum au demonstrat și alegerile din</a:t>
            </a:r>
            <a:r>
              <a:rPr lang="ro-RO" altLang="ro-RO" i="1" dirty="0">
                <a:solidFill>
                  <a:srgbClr val="000066"/>
                </a:solidFill>
              </a:rPr>
              <a:t> </a:t>
            </a:r>
            <a:r>
              <a:rPr lang="ro-RO" altLang="ro-RO" dirty="0">
                <a:solidFill>
                  <a:srgbClr val="000066"/>
                </a:solidFill>
              </a:rPr>
              <a:t>2000 (Florida), din 2004 (Ohio) sau din 2016 (</a:t>
            </a:r>
            <a:r>
              <a:rPr lang="ro-RO" altLang="ro-RO" dirty="0">
                <a:solidFill>
                  <a:srgbClr val="002060"/>
                </a:solidFill>
              </a:rPr>
              <a:t>Florida, Michigan, Pennsylvania, Wisconsin</a:t>
            </a:r>
            <a:r>
              <a:rPr lang="ro-RO" altLang="ro-RO" dirty="0">
                <a:solidFill>
                  <a:srgbClr val="000066"/>
                </a:solidFill>
              </a:rPr>
              <a:t>)</a:t>
            </a:r>
          </a:p>
          <a:p>
            <a:pPr eaLnBrk="1" hangingPunct="1"/>
            <a:endParaRPr lang="ro-RO" altLang="ro-RO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8" grpId="0" build="p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F210FA6B-DCDA-48EF-9107-A14BD7A77A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381000"/>
            <a:ext cx="80010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ro-RO" altLang="ro-RO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Rezultatul alegerilor din Florida în 2000</a:t>
            </a:r>
          </a:p>
        </p:txBody>
      </p:sp>
      <p:graphicFrame>
        <p:nvGraphicFramePr>
          <p:cNvPr id="58401" name="Group 33">
            <a:extLst>
              <a:ext uri="{FF2B5EF4-FFF2-40B4-BE49-F238E27FC236}">
                <a16:creationId xmlns:a16="http://schemas.microsoft.com/office/drawing/2014/main" id="{398F351F-BBD3-4156-83DC-11BF8E46D092}"/>
              </a:ext>
            </a:extLst>
          </p:cNvPr>
          <p:cNvGraphicFramePr>
            <a:graphicFrameLocks noGrp="1"/>
          </p:cNvGraphicFramePr>
          <p:nvPr/>
        </p:nvGraphicFramePr>
        <p:xfrm>
          <a:off x="2209800" y="1524000"/>
          <a:ext cx="7772400" cy="4267199"/>
        </p:xfrm>
        <a:graphic>
          <a:graphicData uri="http://schemas.openxmlformats.org/drawingml/2006/table">
            <a:tbl>
              <a:tblPr/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93763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Bush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2.912.790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48.850 </a:t>
                      </a:r>
                      <a:r>
                        <a:rPr kumimoji="0" lang="fr-F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%</a:t>
                      </a:r>
                      <a:endParaRPr kumimoji="0" lang="ro-RO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kumimoji="0" lang="ro-RO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  <a:endParaRPr kumimoji="0" lang="fr-FR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5537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Gore</a:t>
                      </a:r>
                      <a:endParaRPr kumimoji="0" lang="fr-FR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2.912.253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48.841 </a:t>
                      </a:r>
                      <a:r>
                        <a:rPr kumimoji="0" lang="fr-F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%</a:t>
                      </a:r>
                      <a:endParaRPr kumimoji="0" lang="ro-RO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23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Nader </a:t>
                      </a:r>
                      <a:r>
                        <a:rPr kumimoji="0" lang="ro-RO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97.421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1.633 </a:t>
                      </a:r>
                      <a:r>
                        <a:rPr kumimoji="0" lang="fr-F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fr-FR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5537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Buchanan</a:t>
                      </a:r>
                      <a:endParaRPr kumimoji="0" lang="fr-FR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17.412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0.292 </a:t>
                      </a:r>
                      <a:r>
                        <a:rPr kumimoji="0" lang="fr-F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fr-FR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70FE1AB3-2588-4B1D-B840-55E059C23E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609601"/>
            <a:ext cx="7772400" cy="874713"/>
          </a:xfrm>
        </p:spPr>
        <p:txBody>
          <a:bodyPr>
            <a:normAutofit/>
          </a:bodyPr>
          <a:lstStyle/>
          <a:p>
            <a:pPr algn="ctr" eaLnBrk="1" hangingPunct="1"/>
            <a:r>
              <a:rPr lang="ro-RO" altLang="ro-RO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Rezultatul alegerilor din Ohio în 2004</a:t>
            </a:r>
          </a:p>
        </p:txBody>
      </p:sp>
      <p:graphicFrame>
        <p:nvGraphicFramePr>
          <p:cNvPr id="20521" name="Group 41">
            <a:extLst>
              <a:ext uri="{FF2B5EF4-FFF2-40B4-BE49-F238E27FC236}">
                <a16:creationId xmlns:a16="http://schemas.microsoft.com/office/drawing/2014/main" id="{D30A43EF-9096-49EA-B15E-E086FFE8224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209800" y="1981200"/>
          <a:ext cx="7772400" cy="4114801"/>
        </p:xfrm>
        <a:graphic>
          <a:graphicData uri="http://schemas.openxmlformats.org/drawingml/2006/table">
            <a:tbl>
              <a:tblPr/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82663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Bush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2,796,147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51%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457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Kerry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2,659,664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49%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298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Badnarik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14,331</a:t>
                      </a:r>
                      <a:endParaRPr kumimoji="0" lang="fr-FR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0%</a:t>
                      </a:r>
                      <a:endParaRPr kumimoji="0" lang="fr-FR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fr-FR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457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Peroutka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11,614</a:t>
                      </a:r>
                      <a:endParaRPr kumimoji="0" lang="fr-FR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0%</a:t>
                      </a:r>
                      <a:endParaRPr kumimoji="0" lang="fr-FR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fr-FR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2" name="Picture 2" descr="C:\Users\Daniela\Downloads\Swing Votes 2018.png">
            <a:extLst>
              <a:ext uri="{FF2B5EF4-FFF2-40B4-BE49-F238E27FC236}">
                <a16:creationId xmlns:a16="http://schemas.microsoft.com/office/drawing/2014/main" id="{5DC0F82E-9CCA-4060-8A3E-C025D8CA2D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5489" y="1455739"/>
            <a:ext cx="8201025" cy="394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86" name="Picture 2" descr="C:\Users\Daniela\Downloads\Clivajul in funcție de venituri US 2018.png">
            <a:extLst>
              <a:ext uri="{FF2B5EF4-FFF2-40B4-BE49-F238E27FC236}">
                <a16:creationId xmlns:a16="http://schemas.microsoft.com/office/drawing/2014/main" id="{FA3BD579-8B80-4C41-855D-02308297BF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5489" y="1455739"/>
            <a:ext cx="8201025" cy="394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10" name="Picture 2" descr="C:\Users\Daniela\Downloads\Clivaj educațional 2018.png">
            <a:extLst>
              <a:ext uri="{FF2B5EF4-FFF2-40B4-BE49-F238E27FC236}">
                <a16:creationId xmlns:a16="http://schemas.microsoft.com/office/drawing/2014/main" id="{A01C0FFA-A1B1-4DD2-BDEF-AE90074E46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5489" y="1455739"/>
            <a:ext cx="8201025" cy="394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34" name="Picture 2" descr="C:\Users\Daniela\Downloads\Urban Rural 2018.png">
            <a:extLst>
              <a:ext uri="{FF2B5EF4-FFF2-40B4-BE49-F238E27FC236}">
                <a16:creationId xmlns:a16="http://schemas.microsoft.com/office/drawing/2014/main" id="{7EA4929B-AF27-4922-89D9-B31F654AFB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5489" y="1455739"/>
            <a:ext cx="8201025" cy="394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397E7406-1FDC-43F2-A2A2-E8BACB933F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ro-RO" altLang="ro-RO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Consecințele sistemului relativ plurinominal 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5D0F36D5-1F25-47FE-AAEF-0AFAAD7A9A5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209801" y="1981200"/>
            <a:ext cx="7631113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ro-RO" altLang="ro-RO" dirty="0">
                <a:solidFill>
                  <a:srgbClr val="000066"/>
                </a:solidFill>
              </a:rPr>
              <a:t>Întărește și mai mult tendințele sistemului majoritar uninominal, amplificând procentul locurilor în raport cu procentul voturilor pentru primul partid clasat </a:t>
            </a:r>
          </a:p>
          <a:p>
            <a:pPr eaLnBrk="1" hangingPunct="1">
              <a:spcBef>
                <a:spcPct val="50000"/>
              </a:spcBef>
            </a:pPr>
            <a:r>
              <a:rPr lang="ro-RO" altLang="ro-RO" dirty="0">
                <a:solidFill>
                  <a:srgbClr val="000066"/>
                </a:solidFill>
              </a:rPr>
              <a:t>Creează serioase dificultăți pentru partidele mici, nuanțate de polarizarea geografică, culturală și etnică</a:t>
            </a:r>
          </a:p>
          <a:p>
            <a:pPr eaLnBrk="1" hangingPunct="1">
              <a:lnSpc>
                <a:spcPct val="90000"/>
              </a:lnSpc>
            </a:pPr>
            <a:endParaRPr lang="ro-RO" altLang="ro-RO" dirty="0">
              <a:solidFill>
                <a:srgbClr val="00006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7" grpId="0" build="p" autoUpdateAnimBg="0"/>
    </p:bldLst>
  </p:timing>
</p:sld>
</file>

<file path=ppt/theme/theme1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488</Words>
  <Application>Microsoft Office PowerPoint</Application>
  <PresentationFormat>Ecran lat</PresentationFormat>
  <Paragraphs>129</Paragraphs>
  <Slides>38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4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38</vt:i4>
      </vt:variant>
    </vt:vector>
  </HeadingPairs>
  <TitlesOfParts>
    <vt:vector size="43" baseType="lpstr">
      <vt:lpstr>Arial</vt:lpstr>
      <vt:lpstr>Calibri</vt:lpstr>
      <vt:lpstr>Calibri Light</vt:lpstr>
      <vt:lpstr>Times New Roman</vt:lpstr>
      <vt:lpstr>Temă Office</vt:lpstr>
      <vt:lpstr>Prezentare PowerPoint</vt:lpstr>
      <vt:lpstr>Scrutinul plurinominal într-un tur</vt:lpstr>
      <vt:lpstr>Alegerile prezidențiale americane din  2000</vt:lpstr>
      <vt:lpstr>Alegerile prezidențiale americane din  2004</vt:lpstr>
      <vt:lpstr>Alegerile prezidențiale americane din  2008</vt:lpstr>
      <vt:lpstr>Alegerile prezidențiale americane din  2016</vt:lpstr>
      <vt:lpstr>Alegerile prezidențiale americane din  2000 </vt:lpstr>
      <vt:lpstr>Alegerile prezidențiale americane din  2000 </vt:lpstr>
      <vt:lpstr>Alegerile prezidențiale americane din  2000 </vt:lpstr>
      <vt:lpstr>Alegerile prezidențiale americane din  2000 </vt:lpstr>
      <vt:lpstr>Alegerile prezidențiale americane din  2000 </vt:lpstr>
      <vt:lpstr>Prezentare PowerPoint</vt:lpstr>
      <vt:lpstr>Prezentare PowerPoint</vt:lpstr>
      <vt:lpstr>Alegerile prezidențiale americane din  2000 </vt:lpstr>
      <vt:lpstr>Alegerile prezidențiale americane din  2000 </vt:lpstr>
      <vt:lpstr>Alegerile prezidențiale americane din  2000 </vt:lpstr>
      <vt:lpstr>Alegerile prezidențiale americane din  2000 </vt:lpstr>
      <vt:lpstr>Alegerile prezidențiale americane din  2000 </vt:lpstr>
      <vt:lpstr>Alegerile prezidențiale americane din  2000 </vt:lpstr>
      <vt:lpstr>Alegerile prezidențiale americane din  2000 </vt:lpstr>
      <vt:lpstr>Alegerile prezidențiale americane din  2000 </vt:lpstr>
      <vt:lpstr>Alegerile prezidențiale americane din  2000 </vt:lpstr>
      <vt:lpstr>Alegerile prezidențiale americane din  2000 </vt:lpstr>
      <vt:lpstr>Alegerile prezidențiale americane din  2000 </vt:lpstr>
      <vt:lpstr>Alegerile prezidențiale americane din  1996 </vt:lpstr>
      <vt:lpstr>Alegerile prezidențiale americane din  2000 </vt:lpstr>
      <vt:lpstr>Alegerile prezidențiale americane din  2004 </vt:lpstr>
      <vt:lpstr>Alegerile prezidențiale americane din  2008 </vt:lpstr>
      <vt:lpstr>Alegerile prezidențiale americane din  2012 </vt:lpstr>
      <vt:lpstr>Alegerile prezidențiale americane din  2016 </vt:lpstr>
      <vt:lpstr>Prezentare PowerPoint</vt:lpstr>
      <vt:lpstr>Rezultatul alegerilor din Florida în 2000</vt:lpstr>
      <vt:lpstr>Rezultatul alegerilor din Ohio în 2004</vt:lpstr>
      <vt:lpstr>Prezentare PowerPoint</vt:lpstr>
      <vt:lpstr>Prezentare PowerPoint</vt:lpstr>
      <vt:lpstr>Prezentare PowerPoint</vt:lpstr>
      <vt:lpstr>Prezentare PowerPoint</vt:lpstr>
      <vt:lpstr>Consecințele sistemului relativ plurinominal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Prezentare PowerPoint</dc:title>
  <dc:creator>Daniela</dc:creator>
  <cp:lastModifiedBy>Daniela</cp:lastModifiedBy>
  <cp:revision>19</cp:revision>
  <dcterms:created xsi:type="dcterms:W3CDTF">2020-04-06T10:14:47Z</dcterms:created>
  <dcterms:modified xsi:type="dcterms:W3CDTF">2020-04-06T10:35:27Z</dcterms:modified>
</cp:coreProperties>
</file>