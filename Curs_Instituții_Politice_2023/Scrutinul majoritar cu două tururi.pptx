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1" r:id="rId2"/>
    <p:sldId id="392" r:id="rId3"/>
    <p:sldId id="393" r:id="rId4"/>
    <p:sldId id="367" r:id="rId5"/>
    <p:sldId id="394" r:id="rId6"/>
    <p:sldId id="395" r:id="rId7"/>
    <p:sldId id="396" r:id="rId8"/>
    <p:sldId id="397" r:id="rId9"/>
    <p:sldId id="398" r:id="rId10"/>
    <p:sldId id="278" r:id="rId11"/>
    <p:sldId id="279" r:id="rId12"/>
    <p:sldId id="280" r:id="rId13"/>
    <p:sldId id="281" r:id="rId14"/>
    <p:sldId id="282" r:id="rId15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59F8F56-30E5-4751-A846-5CBC57A00D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0480DE35-2BD3-490B-A78D-9280AA716E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1618123-C98E-4CF2-9D4D-5F3243BE2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797C3-3306-42DE-8337-E60F25FE9649}" type="datetimeFigureOut">
              <a:rPr lang="ro-RO" smtClean="0"/>
              <a:t>04.05.2020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50E24E99-35C5-4B62-ADF9-A954C4D5A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E83B936-55F4-4229-BBA4-AD931C87F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0435-C5E8-41BE-8252-4DC818B45A2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92955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1BC504F-4C27-4A2D-B06B-60E2B142E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79AAF78E-4661-4A98-919B-7DCD87EA6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14FE6B45-7FD3-4450-BF00-EC5998BEC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797C3-3306-42DE-8337-E60F25FE9649}" type="datetimeFigureOut">
              <a:rPr lang="ro-RO" smtClean="0"/>
              <a:t>04.05.2020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89035D3F-AC59-46C0-A865-5C2BD5DD7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35774633-4046-4C9F-8B54-796AE6286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0435-C5E8-41BE-8252-4DC818B45A2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90748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3671CBA-F1FF-4847-B562-289A1589B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7ED965D1-368E-4E47-B9C5-4F88D6B31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87389364-25B0-4A41-B057-555AA6EF2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797C3-3306-42DE-8337-E60F25FE9649}" type="datetimeFigureOut">
              <a:rPr lang="ro-RO" smtClean="0"/>
              <a:t>04.05.2020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0BEC5AF3-026F-4DFA-BFD9-3088B5497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80D44536-A5BF-444E-B030-8C4F1B8F9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0435-C5E8-41BE-8252-4DC818B45A2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17225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D2798C2-9848-43E1-943D-F1D382699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885B1738-7D27-4764-A972-6617C75E2B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0185A555-A301-4C72-A09E-68D3DE304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6B8E698-DA70-4B4B-8044-ED06A9B47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797C3-3306-42DE-8337-E60F25FE9649}" type="datetimeFigureOut">
              <a:rPr lang="ro-RO" smtClean="0"/>
              <a:t>04.05.2020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BCE34C52-F230-4BBE-908D-B835B4CCD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1274C7B0-3E82-4FE8-ACDB-DBF5115B1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0435-C5E8-41BE-8252-4DC818B45A2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69675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C2D944E-C7FC-409E-B6BD-CAC5DD3CA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2A91D73-3D15-429C-83A2-98DBA75ED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DBC8BED3-D113-4938-B268-0DAB7609A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2A2D492F-7BD4-456A-B3AE-6D54889B15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08EE6559-C157-49FA-B767-6CD4684DC8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B12462C7-089C-404F-B565-EDE2FD318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797C3-3306-42DE-8337-E60F25FE9649}" type="datetimeFigureOut">
              <a:rPr lang="ro-RO" smtClean="0"/>
              <a:t>04.05.2020</a:t>
            </a:fld>
            <a:endParaRPr lang="ro-RO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0700145E-0D97-41B0-970B-68A1C8EAC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6A5B02CB-5D4A-4369-A590-E796BA990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0435-C5E8-41BE-8252-4DC818B45A2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69398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325F948-1F8F-4CEC-A986-427ADD76C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BF1BD620-E397-40DA-A2C7-7E463140E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797C3-3306-42DE-8337-E60F25FE9649}" type="datetimeFigureOut">
              <a:rPr lang="ro-RO" smtClean="0"/>
              <a:t>04.05.2020</a:t>
            </a:fld>
            <a:endParaRPr lang="ro-RO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AB077B5F-5BCF-4FCF-BDBD-1244106CF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52748FF5-168F-42E7-B2D3-1A975D883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0435-C5E8-41BE-8252-4DC818B45A2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9927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8DE8E755-D8F9-4FFD-AEB0-843C2113D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797C3-3306-42DE-8337-E60F25FE9649}" type="datetimeFigureOut">
              <a:rPr lang="ro-RO" smtClean="0"/>
              <a:t>04.05.2020</a:t>
            </a:fld>
            <a:endParaRPr lang="ro-RO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45894EF-1C91-4022-A78A-C39D8FE27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856D1E8-3F5A-47EC-ADA3-DF317F609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0435-C5E8-41BE-8252-4DC818B45A2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85378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CEECD2E-3AC9-4FF8-B3EC-CEA72AC10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FF69DEB5-5054-4793-B770-4A3D8623B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7CA9A3BB-BA80-40CE-B6D5-6FD1A5BFD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876A15E5-6F13-4B41-9080-ECF07AFA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797C3-3306-42DE-8337-E60F25FE9649}" type="datetimeFigureOut">
              <a:rPr lang="ro-RO" smtClean="0"/>
              <a:t>04.05.2020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7081A9A4-D33D-49D8-B42C-0836C450F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555AEED6-08CB-4BF6-AE59-FB4BF3D39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0435-C5E8-41BE-8252-4DC818B45A2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91509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4048F4D-A635-410D-8B2A-90E3BA36F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2C34C34C-4D04-4F97-BF39-36B9B36D2C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8E507E2-9D28-4498-90DD-3BC85D76F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8BFC63D9-1BD6-4261-BD41-05AA945C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797C3-3306-42DE-8337-E60F25FE9649}" type="datetimeFigureOut">
              <a:rPr lang="ro-RO" smtClean="0"/>
              <a:t>04.05.2020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847D4539-A980-4414-AD1C-8628F9362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E6C5F811-6F38-4802-98A6-5216B9EC3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0435-C5E8-41BE-8252-4DC818B45A2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9680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FD0229D-F09A-46BD-B8A5-9B1B2CC85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BE09E4F4-A7E9-4EA0-A2D1-4BE901973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19038216-31B6-45FA-ADA3-8065A439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797C3-3306-42DE-8337-E60F25FE9649}" type="datetimeFigureOut">
              <a:rPr lang="ro-RO" smtClean="0"/>
              <a:t>04.05.2020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30DB85C0-5B9C-4ACA-8C62-CD7889834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46F28927-9136-4DC4-A48F-8B4AFCFBE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0435-C5E8-41BE-8252-4DC818B45A2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24334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746287DC-CFCF-4742-9AC2-437E725CCE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F8672F7C-6369-4D81-9F3F-1F191BDC1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F01BC269-9470-40AB-82C9-E7B84AF9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797C3-3306-42DE-8337-E60F25FE9649}" type="datetimeFigureOut">
              <a:rPr lang="ro-RO" smtClean="0"/>
              <a:t>04.05.2020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53DFBB13-D90B-4887-A73A-AD0C5C5B3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782E2BC-F0BD-42DA-A333-E02CE1210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0435-C5E8-41BE-8252-4DC818B45A2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09784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ro-RO"/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pPr lvl="0"/>
            <a:endParaRPr lang="ro-RO" noProof="0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828AB1C-6BBB-4288-9D37-624F40FAA4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E1FFA3-29EE-4924-8E4B-6ACED202DE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D2CEC3B-0272-475B-AFBB-B71D0C3732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2EDDC0-A8C3-4428-AE65-73C14A41D306}" type="slidenum">
              <a:rPr lang="ro-RO" altLang="ro-RO"/>
              <a:pPr/>
              <a:t>‹#›</a:t>
            </a:fld>
            <a:endParaRPr lang="ro-RO" altLang="ro-RO"/>
          </a:p>
        </p:txBody>
      </p:sp>
    </p:spTree>
    <p:extLst>
      <p:ext uri="{BB962C8B-B14F-4D97-AF65-F5344CB8AC3E}">
        <p14:creationId xmlns:p14="http://schemas.microsoft.com/office/powerpoint/2010/main" val="520713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83DA24A3-89DA-4731-93C5-F6C02D04C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13DD156-81DB-4C48-9D57-0672869A3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1F3DA30C-356F-4173-BA1A-DAE8F64D8A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0797C3-3306-42DE-8337-E60F25FE9649}" type="datetimeFigureOut">
              <a:rPr lang="ro-RO" smtClean="0"/>
              <a:t>04.05.2020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AE02BB71-0155-441D-A9FE-F9484CEE5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0E6589C4-A298-4299-B44C-AE172310F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B0435-C5E8-41BE-8252-4DC818B45A2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43091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897821B4-D465-48F8-8E38-1D40639E55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altLang="ro-RO" sz="3600" b="1">
                <a:latin typeface="Aharoni" panose="02010803020104030203" pitchFamily="2" charset="-79"/>
                <a:cs typeface="Aharoni" panose="02010803020104030203" pitchFamily="2" charset="-79"/>
              </a:rPr>
              <a:t>Scrutinul majoritar </a:t>
            </a:r>
            <a:r>
              <a:rPr lang="ro-RO" altLang="ro-RO" sz="3600" b="1" dirty="0">
                <a:latin typeface="Aharoni" panose="02010803020104030203" pitchFamily="2" charset="-79"/>
                <a:cs typeface="Aharoni" panose="02010803020104030203" pitchFamily="2" charset="-79"/>
              </a:rPr>
              <a:t>cu două tururi</a:t>
            </a:r>
            <a:r>
              <a:rPr lang="ro-RO" altLang="ro-RO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E9B6E58-FD61-4A20-A7C6-5F9266337A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ro-RO" altLang="ro-RO" sz="1800" b="1" dirty="0">
              <a:solidFill>
                <a:srgbClr val="000066"/>
              </a:solidFill>
            </a:endParaRPr>
          </a:p>
          <a:p>
            <a:pPr eaLnBrk="1" hangingPunct="1">
              <a:buFontTx/>
              <a:buNone/>
            </a:pPr>
            <a:r>
              <a:rPr lang="ro-RO" altLang="ro-RO" sz="1800" b="1" dirty="0">
                <a:solidFill>
                  <a:srgbClr val="000066"/>
                </a:solidFill>
              </a:rPr>
              <a:t>Exemplul arhetipal: cazul </a:t>
            </a:r>
            <a:r>
              <a:rPr lang="ro-RO" altLang="ro-RO" sz="1800" b="1" dirty="0" err="1">
                <a:solidFill>
                  <a:srgbClr val="000066"/>
                </a:solidFill>
              </a:rPr>
              <a:t>Franţei</a:t>
            </a:r>
            <a:r>
              <a:rPr lang="ro-RO" altLang="ro-RO" sz="1800" b="1" dirty="0">
                <a:solidFill>
                  <a:srgbClr val="000066"/>
                </a:solidFill>
              </a:rPr>
              <a:t> </a:t>
            </a:r>
          </a:p>
          <a:p>
            <a:pPr eaLnBrk="1" hangingPunct="1">
              <a:buFontTx/>
              <a:buNone/>
            </a:pPr>
            <a:endParaRPr lang="ro-RO" altLang="ro-RO" sz="1800" b="1" dirty="0">
              <a:solidFill>
                <a:srgbClr val="000066"/>
              </a:solidFill>
            </a:endParaRPr>
          </a:p>
          <a:p>
            <a:pPr eaLnBrk="1" hangingPunct="1">
              <a:buFontTx/>
              <a:buNone/>
            </a:pPr>
            <a:endParaRPr lang="ro-RO" altLang="ro-RO" sz="1800" b="1" dirty="0">
              <a:solidFill>
                <a:srgbClr val="000066"/>
              </a:solidFill>
            </a:endParaRPr>
          </a:p>
          <a:p>
            <a:pPr eaLnBrk="1" hangingPunct="1">
              <a:buFontTx/>
              <a:buNone/>
            </a:pPr>
            <a:r>
              <a:rPr lang="ro-RO" altLang="ro-RO" sz="1800" b="1" dirty="0" err="1">
                <a:solidFill>
                  <a:srgbClr val="000066"/>
                </a:solidFill>
              </a:rPr>
              <a:t>Raţiunea</a:t>
            </a:r>
            <a:r>
              <a:rPr lang="ro-RO" altLang="ro-RO" sz="1800" b="1" dirty="0">
                <a:solidFill>
                  <a:srgbClr val="000066"/>
                </a:solidFill>
              </a:rPr>
              <a:t>: </a:t>
            </a:r>
            <a:r>
              <a:rPr lang="ro-RO" altLang="ro-RO" sz="1800" b="1" dirty="0" err="1">
                <a:solidFill>
                  <a:srgbClr val="000066"/>
                </a:solidFill>
              </a:rPr>
              <a:t>câştigarea</a:t>
            </a:r>
            <a:r>
              <a:rPr lang="ro-RO" altLang="ro-RO" sz="1800" b="1" dirty="0">
                <a:solidFill>
                  <a:srgbClr val="000066"/>
                </a:solidFill>
              </a:rPr>
              <a:t> celui de al doilea tur</a:t>
            </a:r>
          </a:p>
          <a:p>
            <a:pPr eaLnBrk="1" hangingPunct="1"/>
            <a:endParaRPr lang="ro-RO" altLang="ro-RO" sz="1800" b="1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Group 2">
            <a:extLst>
              <a:ext uri="{FF2B5EF4-FFF2-40B4-BE49-F238E27FC236}">
                <a16:creationId xmlns:a16="http://schemas.microsoft.com/office/drawing/2014/main" id="{F123979D-8A79-4FD6-ACE4-E15CF81410D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81201" y="1106489"/>
          <a:ext cx="8207375" cy="5075239"/>
        </p:xfrm>
        <a:graphic>
          <a:graphicData uri="http://schemas.openxmlformats.org/drawingml/2006/table">
            <a:tbl>
              <a:tblPr/>
              <a:tblGrid>
                <a:gridCol w="164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262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1993</a:t>
                      </a:r>
                      <a:endParaRPr kumimoji="0" lang="fr-F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</a:t>
                      </a:r>
                      <a:r>
                        <a:rPr kumimoji="0" lang="ro-RO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oturi</a:t>
                      </a:r>
                      <a:endParaRPr kumimoji="0" lang="fr-F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%</a:t>
                      </a:r>
                      <a:r>
                        <a:rPr kumimoji="0" lang="ro-RO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</a:rPr>
                        <a:t> în voturi</a:t>
                      </a:r>
                      <a:endParaRPr kumimoji="0" lang="fr-FR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Locuri</a:t>
                      </a:r>
                      <a:endParaRPr kumimoji="0" lang="fr-F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%</a:t>
                      </a:r>
                      <a:r>
                        <a:rPr kumimoji="0" lang="ro-RO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</a:rPr>
                        <a:t> în locuri</a:t>
                      </a:r>
                      <a:endParaRPr kumimoji="0" lang="fr-FR" sz="16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05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BE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RPR</a:t>
                      </a:r>
                      <a:endParaRPr kumimoji="0" lang="fr-FR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5 032 496</a:t>
                      </a:r>
                      <a:endParaRPr kumimoji="0" lang="fr-F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19,83</a:t>
                      </a:r>
                      <a:endParaRPr kumimoji="0" lang="fr-FR" sz="1600" b="1" i="0" u="none" strike="noStrike" cap="none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242</a:t>
                      </a:r>
                      <a:endParaRPr kumimoji="0" lang="fr-F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41,94</a:t>
                      </a:r>
                      <a:endParaRPr kumimoji="0" lang="fr-FR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47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UDF</a:t>
                      </a:r>
                      <a:endParaRPr kumimoji="0" lang="fr-FR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4 731 013</a:t>
                      </a:r>
                      <a:endParaRPr kumimoji="0" lang="fr-F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18,64</a:t>
                      </a:r>
                      <a:endParaRPr kumimoji="0" lang="fr-FR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207</a:t>
                      </a:r>
                      <a:endParaRPr kumimoji="0" lang="fr-F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35,87</a:t>
                      </a:r>
                      <a:endParaRPr kumimoji="0" lang="fr-FR" sz="16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64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PS</a:t>
                      </a:r>
                      <a:endParaRPr kumimoji="0" lang="fr-FR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4 415 495</a:t>
                      </a:r>
                      <a:endParaRPr kumimoji="0" lang="fr-F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17,39</a:t>
                      </a:r>
                      <a:endParaRPr kumimoji="0" lang="fr-FR" sz="1600" b="1" i="0" u="none" strike="noStrike" cap="none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53</a:t>
                      </a:r>
                      <a:endParaRPr kumimoji="0" lang="fr-F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9,18</a:t>
                      </a:r>
                      <a:endParaRPr kumimoji="0" lang="fr-FR" sz="16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77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MRG</a:t>
                      </a:r>
                      <a:endParaRPr kumimoji="0" lang="fr-F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459 483</a:t>
                      </a:r>
                      <a:endParaRPr kumimoji="0" lang="fr-F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1,81</a:t>
                      </a:r>
                      <a:endParaRPr kumimoji="0" lang="fr-FR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kumimoji="0" lang="fr-F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2,42</a:t>
                      </a:r>
                      <a:endParaRPr kumimoji="0" lang="fr-FR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05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FN</a:t>
                      </a:r>
                      <a:endParaRPr kumimoji="0" lang="fr-FR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3 152 543</a:t>
                      </a:r>
                      <a:endParaRPr kumimoji="0" lang="fr-F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12,42</a:t>
                      </a:r>
                      <a:endParaRPr kumimoji="0" lang="fr-FR" sz="1600" b="1" i="0" u="none" strike="noStrike" cap="none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ro-RO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fr-F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ro-RO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fr-FR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64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Ver</a:t>
                      </a:r>
                      <a:r>
                        <a:rPr kumimoji="0" lang="ro-RO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zi</a:t>
                      </a:r>
                      <a:endParaRPr kumimoji="0" lang="fr-F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1 022 196</a:t>
                      </a:r>
                      <a:endParaRPr kumimoji="0" lang="fr-F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4,02</a:t>
                      </a:r>
                      <a:endParaRPr kumimoji="0" lang="fr-FR" sz="1600" b="1" i="0" u="none" strike="noStrike" cap="none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ro-RO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fr-F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fr-FR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07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GE</a:t>
                      </a:r>
                      <a:endParaRPr kumimoji="0" lang="fr-FR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917 228</a:t>
                      </a:r>
                      <a:endParaRPr kumimoji="0" lang="fr-F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3,61</a:t>
                      </a:r>
                      <a:endParaRPr kumimoji="0" lang="fr-FR" sz="1600" b="1" i="0" u="none" strike="noStrike" cap="none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ro-RO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fr-F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ro-RO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fr-FR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05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PCF</a:t>
                      </a:r>
                      <a:endParaRPr kumimoji="0" lang="fr-FR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2 331 399</a:t>
                      </a:r>
                      <a:endParaRPr kumimoji="0" lang="fr-F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9,18</a:t>
                      </a:r>
                      <a:endParaRPr kumimoji="0" lang="fr-FR" sz="1600" b="1" i="0" u="none" strike="noStrike" cap="none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</a:t>
                      </a:r>
                      <a:endParaRPr kumimoji="0" lang="fr-F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4,15</a:t>
                      </a:r>
                      <a:endParaRPr kumimoji="0" lang="fr-FR" sz="16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05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Diver</a:t>
                      </a:r>
                      <a:r>
                        <a:rPr kumimoji="0" lang="ro-RO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şi </a:t>
                      </a:r>
                      <a:r>
                        <a:rPr kumimoji="0" lang="fr-F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dr</a:t>
                      </a:r>
                      <a:r>
                        <a:rPr kumimoji="0" lang="ro-RO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eapta </a:t>
                      </a:r>
                      <a:endParaRPr kumimoji="0" lang="fr-FR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1 118 032</a:t>
                      </a:r>
                      <a:endParaRPr kumimoji="0" lang="fr-F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4,4</a:t>
                      </a:r>
                      <a:endParaRPr kumimoji="0" lang="fr-FR" sz="1600" b="1" i="0" u="none" strike="noStrike" cap="none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35</a:t>
                      </a:r>
                      <a:endParaRPr kumimoji="0" lang="fr-F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6,06</a:t>
                      </a:r>
                      <a:endParaRPr kumimoji="0" lang="fr-FR" sz="16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805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Extr</a:t>
                      </a:r>
                      <a:r>
                        <a:rPr kumimoji="0" lang="ro-RO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ema stângă</a:t>
                      </a:r>
                      <a:endParaRPr kumimoji="0" lang="fr-FR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432 282</a:t>
                      </a:r>
                      <a:endParaRPr kumimoji="0" lang="fr-F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1,66</a:t>
                      </a:r>
                      <a:endParaRPr kumimoji="0" lang="fr-FR" sz="1600" b="1" i="0" u="none" strike="noStrike" cap="none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ro-RO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fr-F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fr-FR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805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Alţii </a:t>
                      </a:r>
                      <a:endParaRPr kumimoji="0" lang="fr-F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1 633 347</a:t>
                      </a:r>
                      <a:endParaRPr kumimoji="0" lang="fr-F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7,04</a:t>
                      </a:r>
                      <a:endParaRPr kumimoji="0" lang="fr-FR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fr-F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0,34</a:t>
                      </a:r>
                      <a:endParaRPr kumimoji="0" lang="fr-FR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2786" name="Rectangle 2">
            <a:extLst>
              <a:ext uri="{FF2B5EF4-FFF2-40B4-BE49-F238E27FC236}">
                <a16:creationId xmlns:a16="http://schemas.microsoft.com/office/drawing/2014/main" id="{1E5B9336-B550-46BC-BC71-141F50C277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pPr eaLnBrk="1" hangingPunct="1"/>
            <a:r>
              <a:rPr lang="ro-RO" altLang="ro-RO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Alegerile legislative franceze din 1993</a:t>
            </a:r>
            <a:br>
              <a:rPr lang="ro-RO" altLang="ro-RO" sz="3200" b="1" dirty="0"/>
            </a:br>
            <a:endParaRPr lang="ro-RO" altLang="ro-RO" sz="32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re 1">
            <a:extLst>
              <a:ext uri="{FF2B5EF4-FFF2-40B4-BE49-F238E27FC236}">
                <a16:creationId xmlns:a16="http://schemas.microsoft.com/office/drawing/2014/main" id="{3D27A5F5-2594-4562-B77A-A5371323B6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5617" y="333375"/>
            <a:ext cx="10561983" cy="801688"/>
          </a:xfrm>
        </p:spPr>
        <p:txBody>
          <a:bodyPr>
            <a:noAutofit/>
          </a:bodyPr>
          <a:lstStyle/>
          <a:p>
            <a:r>
              <a:rPr lang="ro-RO" altLang="ro-RO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din Franța 21 aprilie și 5 mai 2002</a:t>
            </a:r>
            <a:endParaRPr lang="ro-RO" altLang="ro-RO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731" name="Rectangle 4">
            <a:extLst>
              <a:ext uri="{FF2B5EF4-FFF2-40B4-BE49-F238E27FC236}">
                <a16:creationId xmlns:a16="http://schemas.microsoft.com/office/drawing/2014/main" id="{7126B164-F787-4417-95B4-A935B6276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o-RO" altLang="ro-RO" sz="2400"/>
          </a:p>
        </p:txBody>
      </p:sp>
      <p:sp>
        <p:nvSpPr>
          <p:cNvPr id="73732" name="Rectangle 5">
            <a:extLst>
              <a:ext uri="{FF2B5EF4-FFF2-40B4-BE49-F238E27FC236}">
                <a16:creationId xmlns:a16="http://schemas.microsoft.com/office/drawing/2014/main" id="{B61226B4-0D63-4FE4-A882-E38C5FED8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o-RO" altLang="ro-RO" sz="2400"/>
          </a:p>
        </p:txBody>
      </p:sp>
      <p:sp>
        <p:nvSpPr>
          <p:cNvPr id="73733" name="Rectangle 6">
            <a:extLst>
              <a:ext uri="{FF2B5EF4-FFF2-40B4-BE49-F238E27FC236}">
                <a16:creationId xmlns:a16="http://schemas.microsoft.com/office/drawing/2014/main" id="{08791436-5DB4-4217-9E2E-9C4AA5F7F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o-RO" altLang="ro-RO" sz="2400"/>
          </a:p>
        </p:txBody>
      </p:sp>
      <p:graphicFrame>
        <p:nvGraphicFramePr>
          <p:cNvPr id="19" name="Tableau 18">
            <a:extLst>
              <a:ext uri="{FF2B5EF4-FFF2-40B4-BE49-F238E27FC236}">
                <a16:creationId xmlns:a16="http://schemas.microsoft.com/office/drawing/2014/main" id="{1D4E6B46-4B83-4A00-83DE-C444DAB9AB5E}"/>
              </a:ext>
            </a:extLst>
          </p:cNvPr>
          <p:cNvGraphicFramePr>
            <a:graphicFrameLocks noGrp="1"/>
          </p:cNvGraphicFramePr>
          <p:nvPr/>
        </p:nvGraphicFramePr>
        <p:xfrm>
          <a:off x="2208214" y="1397001"/>
          <a:ext cx="8135937" cy="2924175"/>
        </p:xfrm>
        <a:graphic>
          <a:graphicData uri="http://schemas.openxmlformats.org/drawingml/2006/table">
            <a:tbl>
              <a:tblPr/>
              <a:tblGrid>
                <a:gridCol w="3959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93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2228B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Candidatul și partidul politic</a:t>
                      </a:r>
                      <a:endParaRPr kumimoji="0" lang="ro-RO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2228B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1776" marR="1776" marT="1776" marB="17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22228B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Turul I</a:t>
                      </a:r>
                      <a:endParaRPr kumimoji="0" lang="ro-RO" sz="1600" b="0" i="0" u="none" strike="noStrike" cap="none" normalizeH="0" baseline="0">
                        <a:ln>
                          <a:noFill/>
                        </a:ln>
                        <a:solidFill>
                          <a:srgbClr val="22228B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1776" marR="1776" marT="1776" marB="17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22228B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Turul II</a:t>
                      </a:r>
                      <a:endParaRPr kumimoji="0" lang="ro-RO" sz="1600" b="0" i="0" u="none" strike="noStrike" cap="none" normalizeH="0" baseline="0">
                        <a:ln>
                          <a:noFill/>
                        </a:ln>
                        <a:solidFill>
                          <a:srgbClr val="22228B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1776" marR="1776" marT="1776" marB="17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3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776" marR="1776" marT="1776" marB="17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22228B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Voturi</a:t>
                      </a:r>
                      <a:endParaRPr kumimoji="0" lang="ro-RO" sz="1600" b="0" i="0" u="none" strike="noStrike" cap="none" normalizeH="0" baseline="0">
                        <a:ln>
                          <a:noFill/>
                        </a:ln>
                        <a:solidFill>
                          <a:srgbClr val="22228B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1776" marR="1776" marT="1776" marB="17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22228B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% </a:t>
                      </a:r>
                      <a:endParaRPr kumimoji="0" lang="ro-RO" sz="1600" b="0" i="0" u="none" strike="noStrike" cap="none" normalizeH="0" baseline="0">
                        <a:ln>
                          <a:noFill/>
                        </a:ln>
                        <a:solidFill>
                          <a:srgbClr val="22228B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1776" marR="1776" marT="1776" marB="17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22228B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Voturi</a:t>
                      </a:r>
                      <a:endParaRPr kumimoji="0" lang="ro-RO" sz="1600" b="0" i="0" u="none" strike="noStrike" cap="none" normalizeH="0" baseline="0">
                        <a:ln>
                          <a:noFill/>
                        </a:ln>
                        <a:solidFill>
                          <a:srgbClr val="22228B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1776" marR="1776" marT="1776" marB="17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22228B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% </a:t>
                      </a:r>
                      <a:endParaRPr kumimoji="0" lang="ro-RO" sz="1600" b="0" i="0" u="none" strike="noStrike" cap="none" normalizeH="0" baseline="0">
                        <a:ln>
                          <a:noFill/>
                        </a:ln>
                        <a:solidFill>
                          <a:srgbClr val="22228B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1776" marR="1776" marT="1776" marB="17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2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Jacques Chirac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Adunarea pentru Republică </a:t>
                      </a:r>
                      <a:r>
                        <a:rPr kumimoji="0" lang="ro-RO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(RPR – </a:t>
                      </a:r>
                      <a:r>
                        <a:rPr kumimoji="0" lang="ro-RO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Rassemblement</a:t>
                      </a:r>
                      <a:r>
                        <a:rPr kumimoji="0" lang="ro-RO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o-RO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pour</a:t>
                      </a:r>
                      <a:r>
                        <a:rPr kumimoji="0" lang="ro-RO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la </a:t>
                      </a:r>
                      <a:r>
                        <a:rPr kumimoji="0" lang="ro-RO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Republique</a:t>
                      </a:r>
                      <a:r>
                        <a:rPr kumimoji="0" lang="ro-RO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1776" marR="1776" marT="1776" marB="17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5 665 855</a:t>
                      </a:r>
                      <a:endParaRPr kumimoji="0" lang="ro-RO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1776" marR="1776" marT="1776" marB="17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19,88 %</a:t>
                      </a:r>
                      <a:endParaRPr kumimoji="0" lang="ro-RO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1776" marR="1776" marT="1776" marB="17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25 537 956</a:t>
                      </a:r>
                      <a:endParaRPr kumimoji="0" lang="ro-RO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1776" marR="1776" marT="1776" marB="17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82,21 %</a:t>
                      </a:r>
                      <a:endParaRPr kumimoji="0" lang="ro-RO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1776" marR="1776" marT="1776" marB="17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83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Jean-Marie Le Pen </a:t>
                      </a:r>
                      <a:br>
                        <a:rPr kumimoji="0" 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ro-RO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Frontul național </a:t>
                      </a:r>
                      <a:r>
                        <a:rPr kumimoji="0" 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(Front national) </a:t>
                      </a:r>
                      <a:endParaRPr kumimoji="0" lang="ro-RO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1776" marR="1776" marT="1776" marB="17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4 804 713</a:t>
                      </a:r>
                      <a:endParaRPr kumimoji="0" lang="ro-RO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1776" marR="1776" marT="1776" marB="17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16,86 %</a:t>
                      </a:r>
                      <a:endParaRPr kumimoji="0" lang="ro-RO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1776" marR="1776" marT="1776" marB="17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5 525 032</a:t>
                      </a:r>
                      <a:endParaRPr kumimoji="0" lang="ro-RO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1776" marR="1776" marT="1776" marB="17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17,79 %</a:t>
                      </a:r>
                      <a:endParaRPr kumimoji="0" lang="ro-RO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1776" marR="1776" marT="1776" marB="17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3764" name="Rectangle 7">
            <a:extLst>
              <a:ext uri="{FF2B5EF4-FFF2-40B4-BE49-F238E27FC236}">
                <a16:creationId xmlns:a16="http://schemas.microsoft.com/office/drawing/2014/main" id="{7854A897-F85E-4199-8375-14C6B6004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o-RO" altLang="ro-RO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re 1">
            <a:extLst>
              <a:ext uri="{FF2B5EF4-FFF2-40B4-BE49-F238E27FC236}">
                <a16:creationId xmlns:a16="http://schemas.microsoft.com/office/drawing/2014/main" id="{7054B637-D7C8-4486-B755-F074852587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7930" y="169308"/>
            <a:ext cx="11516139" cy="936625"/>
          </a:xfrm>
        </p:spPr>
        <p:txBody>
          <a:bodyPr>
            <a:noAutofit/>
          </a:bodyPr>
          <a:lstStyle/>
          <a:p>
            <a:pPr algn="ctr"/>
            <a:r>
              <a:rPr lang="ro-RO" altLang="ro-RO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din Franța din 21 aprilie 2002, </a:t>
            </a:r>
            <a:br>
              <a:rPr lang="ro-RO" altLang="ro-RO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o-RO" altLang="ro-RO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restul candidaților;  tabelul 1</a:t>
            </a:r>
          </a:p>
        </p:txBody>
      </p:sp>
      <p:graphicFrame>
        <p:nvGraphicFramePr>
          <p:cNvPr id="6" name="Espace réservé du tableau 5">
            <a:extLst>
              <a:ext uri="{FF2B5EF4-FFF2-40B4-BE49-F238E27FC236}">
                <a16:creationId xmlns:a16="http://schemas.microsoft.com/office/drawing/2014/main" id="{0E15C4EF-8517-4D48-AD3C-7A374A9982CC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1774825" y="1196976"/>
          <a:ext cx="8758238" cy="4541839"/>
        </p:xfrm>
        <a:graphic>
          <a:graphicData uri="http://schemas.openxmlformats.org/drawingml/2006/table">
            <a:tbl>
              <a:tblPr/>
              <a:tblGrid>
                <a:gridCol w="5502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3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2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211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Turul I</a:t>
                      </a: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4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Candidatul și partidul politic</a:t>
                      </a:r>
                      <a:endParaRPr kumimoji="0" lang="ro-RO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Voturi</a:t>
                      </a: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%</a:t>
                      </a: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Lionel Jospin </a:t>
                      </a:r>
                      <a:b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ro-RO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Partidul socialist (Parti socialiste)</a:t>
                      </a: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4 610 113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16,18 %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Francois Bayrou </a:t>
                      </a:r>
                      <a:b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ro-RO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Uniunea pentru democrație franceză </a:t>
                      </a: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Union pour la democratie francaise</a:t>
                      </a: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1 949 170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6,84 %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Arlette Laguiller </a:t>
                      </a:r>
                      <a:b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ro-RO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Lupta muncitorească </a:t>
                      </a: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(Lutte ouvriere)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1 630 045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5,72 %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Jean-Pierre </a:t>
                      </a:r>
                      <a:r>
                        <a:rPr kumimoji="0" lang="ro-RO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Chevenement</a:t>
                      </a:r>
                      <a: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b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ro-RO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Mișcarea cetățenilor</a:t>
                      </a:r>
                      <a: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(</a:t>
                      </a:r>
                      <a:r>
                        <a:rPr kumimoji="0" lang="ro-RO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Mouvement</a:t>
                      </a:r>
                      <a: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des </a:t>
                      </a:r>
                      <a:r>
                        <a:rPr kumimoji="0" lang="ro-RO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citoyens</a:t>
                      </a:r>
                      <a: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 </a:t>
                      </a:r>
                      <a:endParaRPr kumimoji="0" lang="ro-RO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1 518 528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5,33 %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Noel Mamere 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Verzii  (Les Verts)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1 495 724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5,25 %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Olivier Besancenot </a:t>
                      </a:r>
                      <a:b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Liga comunistă revoluționară (Ligue communiste revolutionnaire)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1 210 562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4,25 %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9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Jean Saint-Josse </a:t>
                      </a:r>
                      <a:b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ro-RO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Vanătoare, pescuit, natură și tradiție </a:t>
                      </a: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(Chasse, peche, nature et traditions)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1 204 689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4,23 %</a:t>
                      </a:r>
                      <a:endParaRPr kumimoji="0" lang="ro-RO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re 1">
            <a:extLst>
              <a:ext uri="{FF2B5EF4-FFF2-40B4-BE49-F238E27FC236}">
                <a16:creationId xmlns:a16="http://schemas.microsoft.com/office/drawing/2014/main" id="{491DC38A-E3CB-44BE-BDD4-928368597E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115889"/>
            <a:ext cx="7772400" cy="1152525"/>
          </a:xfrm>
        </p:spPr>
        <p:txBody>
          <a:bodyPr/>
          <a:lstStyle/>
          <a:p>
            <a:r>
              <a:rPr lang="ro-RO" altLang="ro-RO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din Franța din 21 aprilie 2002, restul candidaților;  tabelul 2</a:t>
            </a:r>
            <a:endParaRPr lang="ro-RO" altLang="ro-RO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Espace réservé du tableau 3">
            <a:extLst>
              <a:ext uri="{FF2B5EF4-FFF2-40B4-BE49-F238E27FC236}">
                <a16:creationId xmlns:a16="http://schemas.microsoft.com/office/drawing/2014/main" id="{C0A4A8F9-6851-4897-8BEA-06F2212922FB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1844676" y="1628775"/>
          <a:ext cx="8137525" cy="4656138"/>
        </p:xfrm>
        <a:graphic>
          <a:graphicData uri="http://schemas.openxmlformats.org/drawingml/2006/table">
            <a:tbl>
              <a:tblPr/>
              <a:tblGrid>
                <a:gridCol w="5113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281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Turul I</a:t>
                      </a:r>
                    </a:p>
                  </a:txBody>
                  <a:tcPr marL="3384" marR="3384" marT="3384" marB="33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2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Candidatul și partidul politic</a:t>
                      </a:r>
                      <a:endParaRPr kumimoji="0" 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4" marB="33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Voturi</a:t>
                      </a:r>
                    </a:p>
                  </a:txBody>
                  <a:tcPr marL="3384" marR="3384" marT="3384" marB="33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%</a:t>
                      </a:r>
                    </a:p>
                  </a:txBody>
                  <a:tcPr marL="3384" marR="3384" marT="3384" marB="33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7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Alain Madelin </a:t>
                      </a:r>
                      <a:b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ro-RO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Democrație liberală </a:t>
                      </a: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(Democratie liberale)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4" marB="33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1 113 484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4" marB="33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3,91 %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4" marB="33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7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Robert Hue </a:t>
                      </a:r>
                      <a:b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ro-RO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Partidul comunist </a:t>
                      </a: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(Parti communist)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4" marB="33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960 480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4" marB="33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3,37 %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4" marB="33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7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Bruno Megret </a:t>
                      </a:r>
                      <a:b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ro-RO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Mișcarea național republicană</a:t>
                      </a: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(Mouvement national republicain)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4" marB="33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667 026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4" marB="33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2,34 %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4" marB="33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7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Christine Taubira </a:t>
                      </a:r>
                      <a:b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ro-RO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Partidul radical de stânga </a:t>
                      </a: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(Parti radical de gauche)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4" marB="33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660 447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4" marB="33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2,32 %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4" marB="33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12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Corinne</a:t>
                      </a:r>
                      <a: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o-RO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Lepage</a:t>
                      </a:r>
                      <a: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b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ro-RO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Cetățenie acțiune participare pentru secolul al XXI-lea </a:t>
                      </a:r>
                      <a: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ro-RO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Citoyennete</a:t>
                      </a:r>
                      <a: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o-RO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action</a:t>
                      </a:r>
                      <a: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o-RO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participation</a:t>
                      </a:r>
                      <a: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o-RO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pour</a:t>
                      </a:r>
                      <a: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le </a:t>
                      </a:r>
                      <a:r>
                        <a:rPr kumimoji="0" lang="ro-RO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XXIe</a:t>
                      </a:r>
                      <a: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o-RO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siecle</a:t>
                      </a:r>
                      <a: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ro-RO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4" marB="33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535 837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4" marB="33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1,88 %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4" marB="33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Christine Boutin </a:t>
                      </a:r>
                      <a:b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ro-RO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Forumul republicanilor sociali </a:t>
                      </a: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(Forum des republicains sociaux)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4" marB="33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339 112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4" marB="33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1,19 %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4" marB="33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97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Daniel Gluckstein </a:t>
                      </a:r>
                      <a:b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ro-RO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Partidul muncitorilor </a:t>
                      </a: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(Parti des travailleurs)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4" marB="33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132 686</a:t>
                      </a:r>
                      <a:endParaRPr kumimoji="0" lang="ro-RO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4" marB="33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0,47 %</a:t>
                      </a:r>
                      <a:endParaRPr kumimoji="0" lang="ro-RO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4" marB="33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Group 2">
            <a:extLst>
              <a:ext uri="{FF2B5EF4-FFF2-40B4-BE49-F238E27FC236}">
                <a16:creationId xmlns:a16="http://schemas.microsoft.com/office/drawing/2014/main" id="{8E2AE070-D437-4A62-9CAF-5B5C7422C26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57400" y="1371601"/>
          <a:ext cx="7772400" cy="4576763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Vo</a:t>
                      </a:r>
                      <a:r>
                        <a:rPr kumimoji="0" lang="ro-RO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turi</a:t>
                      </a:r>
                      <a:endParaRPr kumimoji="0" lang="ro-RO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% </a:t>
                      </a: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</a:rPr>
                        <a:t>în voturi 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Locuri </a:t>
                      </a: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%</a:t>
                      </a: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</a:rPr>
                        <a:t>în locuri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UMP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8408023</a:t>
                      </a: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33,3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357</a:t>
                      </a: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61,87</a:t>
                      </a:r>
                      <a:endParaRPr kumimoji="0" lang="fr-FR" sz="14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41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PS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6086599</a:t>
                      </a: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24,11</a:t>
                      </a:r>
                      <a:endParaRPr kumimoji="0" lang="fr-FR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140</a:t>
                      </a: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24,26</a:t>
                      </a:r>
                      <a:endParaRPr kumimoji="0" lang="fr-FR" sz="14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FN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2862960</a:t>
                      </a: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11,34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41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UDF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1226462</a:t>
                      </a: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4,86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29</a:t>
                      </a: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5,03</a:t>
                      </a:r>
                      <a:endParaRPr kumimoji="0" lang="fr-FR" sz="14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541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PCF</a:t>
                      </a:r>
                      <a:endParaRPr kumimoji="0" lang="fr-F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1216178</a:t>
                      </a: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4,82</a:t>
                      </a:r>
                      <a:endParaRPr kumimoji="0" lang="fr-FR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</a:t>
                      </a: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3,64</a:t>
                      </a:r>
                      <a:endParaRPr kumimoji="0" lang="fr-FR" sz="14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Verzii</a:t>
                      </a:r>
                      <a:endParaRPr kumimoji="0" lang="fr-F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1138222</a:t>
                      </a: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4,51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0,52</a:t>
                      </a:r>
                      <a:endParaRPr kumimoji="0" lang="fr-FR" sz="14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Dive</a:t>
                      </a:r>
                      <a:r>
                        <a:rPr kumimoji="0" lang="ro-RO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şi dreapta </a:t>
                      </a:r>
                      <a:endParaRPr kumimoji="0" lang="fr-F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921973</a:t>
                      </a: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3,65</a:t>
                      </a:r>
                      <a:endParaRPr kumimoji="0" lang="fr-FR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1,73</a:t>
                      </a:r>
                      <a:endParaRPr kumimoji="0" lang="fr-FR" sz="14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541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CPNT</a:t>
                      </a:r>
                      <a:endParaRPr kumimoji="0" lang="fr-F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422448</a:t>
                      </a: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1,67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ro-RO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541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PRG</a:t>
                      </a:r>
                      <a:endParaRPr kumimoji="0" lang="fr-F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388891</a:t>
                      </a: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1,54</a:t>
                      </a:r>
                      <a:endParaRPr kumimoji="0" lang="fr-FR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1,21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Dive</a:t>
                      </a:r>
                      <a:r>
                        <a:rPr kumimoji="0" lang="ro-RO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şi stânga</a:t>
                      </a:r>
                      <a:endParaRPr kumimoji="0" lang="fr-F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275553</a:t>
                      </a: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1,09</a:t>
                      </a:r>
                      <a:endParaRPr kumimoji="0" lang="fr-FR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1,04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541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Diver</a:t>
                      </a: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şi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194946</a:t>
                      </a: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0,77</a:t>
                      </a:r>
                      <a:endParaRPr kumimoji="0" lang="fr-FR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0,17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541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RPF</a:t>
                      </a:r>
                      <a:endParaRPr kumimoji="0" lang="fr-F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94222</a:t>
                      </a: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0,37</a:t>
                      </a:r>
                      <a:endParaRPr kumimoji="0" lang="fr-FR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0,35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113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Régionali</a:t>
                      </a:r>
                      <a:r>
                        <a:rPr kumimoji="0" lang="ro-RO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şti</a:t>
                      </a:r>
                      <a:endParaRPr kumimoji="0" lang="fr-F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66240</a:t>
                      </a: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0,26</a:t>
                      </a:r>
                      <a:endParaRPr kumimoji="0" lang="fr-FR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0,17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Extr</a:t>
                      </a:r>
                      <a:r>
                        <a:rPr kumimoji="0" lang="ro-RO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r>
                        <a:rPr kumimoji="0" lang="ro-RO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ma</a:t>
                      </a: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dreaptă 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59549</a:t>
                      </a: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0,24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76900" name="Rectangle 2">
            <a:extLst>
              <a:ext uri="{FF2B5EF4-FFF2-40B4-BE49-F238E27FC236}">
                <a16:creationId xmlns:a16="http://schemas.microsoft.com/office/drawing/2014/main" id="{757F817D-554A-4874-B4F1-E42A107B9D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16050" y="228600"/>
            <a:ext cx="9251950" cy="8969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o-RO" altLang="ro-RO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Alegerile legislative franceze din 9 și 16 iunie 2002</a:t>
            </a:r>
            <a:br>
              <a:rPr lang="ro-RO" altLang="ro-RO" sz="3200" b="1" dirty="0"/>
            </a:br>
            <a:endParaRPr lang="ro-RO" altLang="ro-RO" sz="32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u 1">
            <a:extLst>
              <a:ext uri="{FF2B5EF4-FFF2-40B4-BE49-F238E27FC236}">
                <a16:creationId xmlns:a16="http://schemas.microsoft.com/office/drawing/2014/main" id="{0FC59962-31CB-44B2-A3A7-FC6AAAAC8D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626" y="0"/>
            <a:ext cx="10774017" cy="1143000"/>
          </a:xfrm>
        </p:spPr>
        <p:txBody>
          <a:bodyPr>
            <a:normAutofit/>
          </a:bodyPr>
          <a:lstStyle/>
          <a:p>
            <a:r>
              <a:rPr lang="ro-RO" altLang="ro-RO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din Franța 22 aprilie și 6 mai 2017</a:t>
            </a:r>
            <a:endParaRPr lang="ro-RO" altLang="ro-RO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au 18">
            <a:extLst>
              <a:ext uri="{FF2B5EF4-FFF2-40B4-BE49-F238E27FC236}">
                <a16:creationId xmlns:a16="http://schemas.microsoft.com/office/drawing/2014/main" id="{B6A5A07B-CA94-43FD-B243-110105F0A9FD}"/>
              </a:ext>
            </a:extLst>
          </p:cNvPr>
          <p:cNvGraphicFramePr>
            <a:graphicFrameLocks noGrp="1"/>
          </p:cNvGraphicFramePr>
          <p:nvPr/>
        </p:nvGraphicFramePr>
        <p:xfrm>
          <a:off x="1703388" y="1628775"/>
          <a:ext cx="8713786" cy="2935288"/>
        </p:xfrm>
        <a:graphic>
          <a:graphicData uri="http://schemas.openxmlformats.org/drawingml/2006/table">
            <a:tbl>
              <a:tblPr/>
              <a:tblGrid>
                <a:gridCol w="4240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2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07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51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9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2228B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Candidatul și partidul politic</a:t>
                      </a:r>
                      <a:endParaRPr kumimoji="0" lang="ro-RO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2228B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1776" marR="1776" marT="1776" marB="17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22228B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Turul I</a:t>
                      </a:r>
                      <a:endParaRPr kumimoji="0" lang="ro-RO" sz="1600" b="0" i="0" u="none" strike="noStrike" cap="none" normalizeH="0" baseline="0">
                        <a:ln>
                          <a:noFill/>
                        </a:ln>
                        <a:solidFill>
                          <a:srgbClr val="22228B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1776" marR="1776" marT="1776" marB="17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22228B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Turul II</a:t>
                      </a:r>
                      <a:endParaRPr kumimoji="0" lang="ro-RO" sz="1600" b="0" i="0" u="none" strike="noStrike" cap="none" normalizeH="0" baseline="0">
                        <a:ln>
                          <a:noFill/>
                        </a:ln>
                        <a:solidFill>
                          <a:srgbClr val="22228B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1776" marR="1776" marT="1776" marB="17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3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776" marR="1776" marT="1776" marB="17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22228B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Voturi</a:t>
                      </a:r>
                      <a:endParaRPr kumimoji="0" lang="ro-RO" sz="1600" b="0" i="0" u="none" strike="noStrike" cap="none" normalizeH="0" baseline="0">
                        <a:ln>
                          <a:noFill/>
                        </a:ln>
                        <a:solidFill>
                          <a:srgbClr val="22228B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1776" marR="1776" marT="1776" marB="17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22228B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% </a:t>
                      </a:r>
                      <a:endParaRPr kumimoji="0" lang="ro-RO" sz="1600" b="0" i="0" u="none" strike="noStrike" cap="none" normalizeH="0" baseline="0">
                        <a:ln>
                          <a:noFill/>
                        </a:ln>
                        <a:solidFill>
                          <a:srgbClr val="22228B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1776" marR="1776" marT="1776" marB="17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22228B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Voturi</a:t>
                      </a:r>
                      <a:endParaRPr kumimoji="0" lang="ro-RO" sz="1600" b="0" i="0" u="none" strike="noStrike" cap="none" normalizeH="0" baseline="0">
                        <a:ln>
                          <a:noFill/>
                        </a:ln>
                        <a:solidFill>
                          <a:srgbClr val="22228B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1776" marR="1776" marT="1776" marB="17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22228B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% </a:t>
                      </a:r>
                      <a:endParaRPr kumimoji="0" lang="ro-RO" sz="1600" b="0" i="0" u="none" strike="noStrike" cap="none" normalizeH="0" baseline="0">
                        <a:ln>
                          <a:noFill/>
                        </a:ln>
                        <a:solidFill>
                          <a:srgbClr val="22228B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1776" marR="1776" marT="1776" marB="177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964">
                <a:tc>
                  <a:txBody>
                    <a:bodyPr/>
                    <a:lstStyle/>
                    <a:p>
                      <a:pPr algn="l"/>
                      <a:r>
                        <a:rPr lang="ro-RO" sz="1800" b="1" dirty="0">
                          <a:solidFill>
                            <a:schemeClr val="tx1"/>
                          </a:solidFill>
                        </a:rPr>
                        <a:t>Emmanuel</a:t>
                      </a:r>
                      <a:r>
                        <a:rPr lang="ro-RO" sz="1800" b="1" baseline="0" dirty="0">
                          <a:solidFill>
                            <a:schemeClr val="tx1"/>
                          </a:solidFill>
                        </a:rPr>
                        <a:t> Macron </a:t>
                      </a:r>
                    </a:p>
                    <a:p>
                      <a:pPr algn="l"/>
                      <a:r>
                        <a:rPr lang="ro-RO" sz="1800" b="0" i="1" baseline="0" dirty="0">
                          <a:solidFill>
                            <a:schemeClr val="tx1"/>
                          </a:solidFill>
                        </a:rPr>
                        <a:t>La </a:t>
                      </a:r>
                      <a:r>
                        <a:rPr lang="ro-RO" sz="1800" b="0" i="1" baseline="0" dirty="0" err="1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ro-RO" sz="1800" b="0" i="1" dirty="0" err="1"/>
                        <a:t>épublique</a:t>
                      </a:r>
                      <a:r>
                        <a:rPr lang="ro-RO" sz="1800" b="0" i="1" dirty="0"/>
                        <a:t> en</a:t>
                      </a:r>
                      <a:r>
                        <a:rPr lang="ro-RO" sz="1800" b="0" i="1" baseline="0" dirty="0">
                          <a:solidFill>
                            <a:schemeClr val="tx1"/>
                          </a:solidFill>
                        </a:rPr>
                        <a:t> Marche  </a:t>
                      </a:r>
                      <a:r>
                        <a:rPr lang="ro-RO" sz="1800" b="0" i="0" baseline="0" dirty="0">
                          <a:solidFill>
                            <a:schemeClr val="tx1"/>
                          </a:solidFill>
                        </a:rPr>
                        <a:t>(LRM)</a:t>
                      </a:r>
                      <a:endParaRPr lang="fr-FR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17" marB="457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</a:pPr>
                      <a:r>
                        <a:rPr lang="ro-RO" sz="1600" b="0" dirty="0">
                          <a:solidFill>
                            <a:schemeClr val="tx1"/>
                          </a:solidFill>
                        </a:rPr>
                        <a:t>8 656 346</a:t>
                      </a:r>
                    </a:p>
                  </a:txBody>
                  <a:tcPr marL="91449" marR="91449" marT="45717" marB="457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</a:pPr>
                      <a:r>
                        <a:rPr lang="ro-RO" sz="1600" b="1" dirty="0">
                          <a:solidFill>
                            <a:schemeClr val="tx1"/>
                          </a:solidFill>
                        </a:rPr>
                        <a:t>24,01</a:t>
                      </a:r>
                    </a:p>
                  </a:txBody>
                  <a:tcPr marL="91449" marR="91449" marT="45717" marB="457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</a:pPr>
                      <a:r>
                        <a:rPr lang="ro-RO" sz="1600" b="0">
                          <a:solidFill>
                            <a:schemeClr val="tx1"/>
                          </a:solidFill>
                        </a:rPr>
                        <a:t>20 743 128</a:t>
                      </a:r>
                    </a:p>
                  </a:txBody>
                  <a:tcPr marL="91449" marR="91449" marT="45717" marB="457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</a:pPr>
                      <a:r>
                        <a:rPr lang="ro-RO" sz="1600" b="1" dirty="0">
                          <a:solidFill>
                            <a:schemeClr val="tx1"/>
                          </a:solidFill>
                        </a:rPr>
                        <a:t>66,10 </a:t>
                      </a:r>
                    </a:p>
                  </a:txBody>
                  <a:tcPr marL="91449" marR="91449" marT="45717" marB="457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57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 Marine</a:t>
                      </a:r>
                      <a:r>
                        <a:rPr lang="ro-RO" sz="1800" b="0" baseline="0" dirty="0">
                          <a:solidFill>
                            <a:schemeClr val="tx1"/>
                          </a:solidFill>
                        </a:rPr>
                        <a:t> Le Pen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i="1" baseline="0" dirty="0">
                          <a:solidFill>
                            <a:schemeClr val="tx1"/>
                          </a:solidFill>
                        </a:rPr>
                        <a:t>Le Front National </a:t>
                      </a:r>
                      <a:r>
                        <a:rPr lang="ro-RO" sz="1800" b="0" i="0" baseline="0" dirty="0">
                          <a:solidFill>
                            <a:schemeClr val="tx1"/>
                          </a:solidFill>
                        </a:rPr>
                        <a:t>(FN)</a:t>
                      </a:r>
                      <a:endParaRPr lang="ro-RO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17" marB="457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b="0" dirty="0">
                          <a:solidFill>
                            <a:schemeClr val="tx1"/>
                          </a:solidFill>
                        </a:rPr>
                        <a:t>7 678 491</a:t>
                      </a:r>
                    </a:p>
                    <a:p>
                      <a:pPr algn="ctr">
                        <a:spcBef>
                          <a:spcPts val="0"/>
                        </a:spcBef>
                      </a:pPr>
                      <a:endParaRPr lang="fr-FR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17" marB="457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b="1" dirty="0">
                          <a:solidFill>
                            <a:schemeClr val="tx1"/>
                          </a:solidFill>
                        </a:rPr>
                        <a:t>21,30 </a:t>
                      </a:r>
                    </a:p>
                  </a:txBody>
                  <a:tcPr marL="91449" marR="91449" marT="45717" marB="457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b="0" dirty="0">
                          <a:solidFill>
                            <a:schemeClr val="tx1"/>
                          </a:solidFill>
                        </a:rPr>
                        <a:t>10 638 475</a:t>
                      </a:r>
                    </a:p>
                    <a:p>
                      <a:pPr algn="ctr">
                        <a:spcBef>
                          <a:spcPts val="0"/>
                        </a:spcBef>
                      </a:pPr>
                      <a:endParaRPr lang="ro-RO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17" marB="457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</a:pPr>
                      <a:r>
                        <a:rPr lang="ro-RO" sz="1600" b="1" dirty="0"/>
                        <a:t>33,90</a:t>
                      </a:r>
                      <a:endParaRPr lang="ro-RO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9" marR="91449" marT="45717" marB="457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u 1">
            <a:extLst>
              <a:ext uri="{FF2B5EF4-FFF2-40B4-BE49-F238E27FC236}">
                <a16:creationId xmlns:a16="http://schemas.microsoft.com/office/drawing/2014/main" id="{C4F0C990-0ED2-42A0-AA01-10B08D93B5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53975"/>
            <a:ext cx="91440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o-RO" altLang="ro-RO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Alegerile prezidențiale din Franța </a:t>
            </a:r>
            <a:br>
              <a:rPr lang="ro-RO" altLang="ro-RO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o-RO" altLang="ro-RO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 aprilie 2017, turul 1, ceilalți candidați</a:t>
            </a:r>
          </a:p>
        </p:txBody>
      </p:sp>
      <p:graphicFrame>
        <p:nvGraphicFramePr>
          <p:cNvPr id="5" name="Espace réservé du tableau 5">
            <a:extLst>
              <a:ext uri="{FF2B5EF4-FFF2-40B4-BE49-F238E27FC236}">
                <a16:creationId xmlns:a16="http://schemas.microsoft.com/office/drawing/2014/main" id="{4A28DE23-0858-4389-9269-CD8C36E2F0DD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1631950" y="1196976"/>
          <a:ext cx="8928100" cy="5530849"/>
        </p:xfrm>
        <a:graphic>
          <a:graphicData uri="http://schemas.openxmlformats.org/drawingml/2006/table">
            <a:tbl>
              <a:tblPr/>
              <a:tblGrid>
                <a:gridCol w="5645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3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9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29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Turul I</a:t>
                      </a: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5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Candidatul și  partidul politic</a:t>
                      </a:r>
                      <a:endParaRPr kumimoji="0" lang="ro-RO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Voturi</a:t>
                      </a: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%</a:t>
                      </a: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6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100" b="1" dirty="0">
                          <a:latin typeface="+mj-lt"/>
                        </a:rPr>
                        <a:t>François Fillon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100" b="1" i="1" dirty="0">
                          <a:latin typeface="+mj-lt"/>
                        </a:rPr>
                        <a:t>Republicanii </a:t>
                      </a:r>
                      <a:r>
                        <a:rPr lang="ro-RO" sz="1100" b="1" i="1" dirty="0" err="1">
                          <a:latin typeface="+mj-lt"/>
                        </a:rPr>
                        <a:t>Les</a:t>
                      </a:r>
                      <a:r>
                        <a:rPr lang="ro-RO" sz="1100" b="1" i="1" dirty="0">
                          <a:latin typeface="+mj-lt"/>
                        </a:rPr>
                        <a:t> </a:t>
                      </a:r>
                      <a:r>
                        <a:rPr lang="ro-RO" sz="1100" b="1" i="1" dirty="0" err="1">
                          <a:latin typeface="+mj-lt"/>
                        </a:rPr>
                        <a:t>Républicains</a:t>
                      </a:r>
                      <a:r>
                        <a:rPr lang="ro-RO" sz="1100" i="1" dirty="0">
                          <a:latin typeface="+mj-lt"/>
                        </a:rPr>
                        <a:t> </a:t>
                      </a:r>
                      <a:r>
                        <a:rPr lang="ro-RO" sz="1100" dirty="0">
                          <a:latin typeface="+mj-lt"/>
                        </a:rPr>
                        <a:t>(</a:t>
                      </a:r>
                      <a:r>
                        <a:rPr lang="ro-RO" sz="1100" b="1" dirty="0">
                          <a:latin typeface="+mj-lt"/>
                        </a:rPr>
                        <a:t>LR</a:t>
                      </a:r>
                      <a:r>
                        <a:rPr lang="ro-RO" sz="1100" dirty="0">
                          <a:latin typeface="+mj-lt"/>
                        </a:rPr>
                        <a:t>)</a:t>
                      </a:r>
                      <a:endParaRPr lang="fr-FR" sz="1100" b="1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 marL="91431" marR="91431" marT="45725" marB="457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100" b="1" dirty="0">
                          <a:latin typeface="+mj-lt"/>
                        </a:rPr>
                        <a:t>7 212 995</a:t>
                      </a:r>
                    </a:p>
                  </a:txBody>
                  <a:tcPr marL="91431" marR="91431" marT="45725" marB="457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1100" b="1" dirty="0">
                          <a:latin typeface="+mj-lt"/>
                        </a:rPr>
                        <a:t>20,01</a:t>
                      </a:r>
                    </a:p>
                  </a:txBody>
                  <a:tcPr marL="91431" marR="91431" marT="45725" marB="457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b="1" dirty="0">
                          <a:latin typeface="+mj-lt"/>
                        </a:rPr>
                        <a:t>   Jean-Luc Mélenchon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b="1" dirty="0">
                          <a:latin typeface="+mj-lt"/>
                        </a:rPr>
                        <a:t>   Franța nesupusă - </a:t>
                      </a:r>
                      <a:r>
                        <a:rPr lang="fr-FR" sz="1100" b="1" i="1" dirty="0">
                          <a:latin typeface="+mj-lt"/>
                        </a:rPr>
                        <a:t>La France insoumise</a:t>
                      </a:r>
                      <a:r>
                        <a:rPr lang="fr-FR" sz="1100" i="1" dirty="0">
                          <a:latin typeface="+mj-lt"/>
                        </a:rPr>
                        <a:t> </a:t>
                      </a:r>
                      <a:r>
                        <a:rPr lang="fr-FR" sz="1100" dirty="0">
                          <a:latin typeface="+mj-lt"/>
                        </a:rPr>
                        <a:t>(</a:t>
                      </a:r>
                      <a:r>
                        <a:rPr lang="fr-FR" sz="1100" b="1" dirty="0">
                          <a:latin typeface="+mj-lt"/>
                        </a:rPr>
                        <a:t>FI</a:t>
                      </a:r>
                      <a:r>
                        <a:rPr lang="fr-FR" sz="1100" dirty="0">
                          <a:latin typeface="+mj-lt"/>
                        </a:rPr>
                        <a:t>)</a:t>
                      </a:r>
                      <a:endParaRPr kumimoji="0" lang="ro-RO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ro-RO" sz="1100" b="1">
                          <a:latin typeface="+mj-lt"/>
                        </a:rPr>
                        <a:t>7 059 951</a:t>
                      </a:r>
                    </a:p>
                  </a:txBody>
                  <a:tcPr marL="91431" marR="91431" marT="45725" marB="457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ro-RO" sz="1100" b="1" dirty="0">
                          <a:latin typeface="+mj-lt"/>
                        </a:rPr>
                        <a:t>19,58 </a:t>
                      </a:r>
                    </a:p>
                  </a:txBody>
                  <a:tcPr marL="91431" marR="91431" marT="45725" marB="457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b="1" dirty="0" err="1">
                          <a:latin typeface="+mj-lt"/>
                        </a:rPr>
                        <a:t>Benoît</a:t>
                      </a:r>
                      <a:r>
                        <a:rPr lang="ro-RO" sz="1100" b="1" dirty="0">
                          <a:latin typeface="+mj-lt"/>
                        </a:rPr>
                        <a:t> </a:t>
                      </a:r>
                      <a:r>
                        <a:rPr lang="ro-RO" sz="1100" b="1" dirty="0" err="1">
                          <a:latin typeface="+mj-lt"/>
                        </a:rPr>
                        <a:t>Hamon</a:t>
                      </a:r>
                      <a:b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</a:br>
                      <a: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Partidul socialist – </a:t>
                      </a:r>
                      <a:r>
                        <a:rPr kumimoji="0" lang="ro-RO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Parti</a:t>
                      </a:r>
                      <a: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 socialiste (PS)</a:t>
                      </a:r>
                      <a:endParaRPr kumimoji="0" lang="ro-RO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o-RO" sz="1100" b="1">
                          <a:latin typeface="+mj-lt"/>
                        </a:rPr>
                        <a:t>2 291 288</a:t>
                      </a:r>
                    </a:p>
                  </a:txBody>
                  <a:tcPr marL="91431" marR="91431" marT="45725" marB="457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o-RO" sz="1100" b="1" dirty="0">
                          <a:latin typeface="+mj-lt"/>
                        </a:rPr>
                        <a:t>6,36 </a:t>
                      </a:r>
                    </a:p>
                  </a:txBody>
                  <a:tcPr marL="91431" marR="91431" marT="45725" marB="457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b="1" dirty="0">
                          <a:latin typeface="+mj-lt"/>
                        </a:rPr>
                        <a:t>Nicolas </a:t>
                      </a:r>
                      <a:r>
                        <a:rPr lang="ro-RO" sz="1100" b="1" dirty="0" err="1">
                          <a:latin typeface="+mj-lt"/>
                        </a:rPr>
                        <a:t>Dupont-Aignan</a:t>
                      </a:r>
                      <a:endParaRPr lang="ro-RO" sz="1100" b="1" dirty="0">
                        <a:latin typeface="+mj-lt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b="1" dirty="0">
                          <a:latin typeface="+mj-lt"/>
                        </a:rPr>
                        <a:t>Franța, ridică-te </a:t>
                      </a:r>
                      <a:r>
                        <a:rPr lang="ro-RO" sz="1100" dirty="0">
                          <a:latin typeface="+mj-lt"/>
                        </a:rPr>
                        <a:t>- </a:t>
                      </a:r>
                      <a:r>
                        <a:rPr lang="ro-RO" sz="1100" b="1" i="1" dirty="0" err="1">
                          <a:latin typeface="+mj-lt"/>
                        </a:rPr>
                        <a:t>Debout</a:t>
                      </a:r>
                      <a:r>
                        <a:rPr lang="ro-RO" sz="1100" b="1" i="1" dirty="0">
                          <a:latin typeface="+mj-lt"/>
                        </a:rPr>
                        <a:t> la France </a:t>
                      </a:r>
                      <a:r>
                        <a:rPr lang="ro-RO" sz="1100" b="1" dirty="0">
                          <a:latin typeface="+mj-lt"/>
                        </a:rPr>
                        <a:t>(DLF)</a:t>
                      </a:r>
                      <a:endParaRPr kumimoji="0" lang="ro-RO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o-RO" sz="1100" b="1" dirty="0"/>
                        <a:t>1 695 000</a:t>
                      </a:r>
                    </a:p>
                  </a:txBody>
                  <a:tcPr marL="91431" marR="91431" marT="45725" marB="457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o-RO" sz="1100" b="1" dirty="0"/>
                        <a:t>4,70</a:t>
                      </a:r>
                    </a:p>
                  </a:txBody>
                  <a:tcPr marL="91431" marR="91431" marT="45725" marB="457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18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b="1" dirty="0">
                          <a:latin typeface="+mj-lt"/>
                        </a:rPr>
                        <a:t>Jean </a:t>
                      </a:r>
                      <a:r>
                        <a:rPr lang="ro-RO" sz="1100" b="1" dirty="0" err="1">
                          <a:latin typeface="+mj-lt"/>
                        </a:rPr>
                        <a:t>Lassalle</a:t>
                      </a:r>
                      <a:r>
                        <a:rPr lang="ro-RO" sz="1100" dirty="0">
                          <a:latin typeface="+mj-lt"/>
                        </a:rPr>
                        <a:t>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Să rezistăm! </a:t>
                      </a:r>
                      <a:r>
                        <a:rPr lang="ro-RO" sz="1100" b="1" kern="1200" baseline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- </a:t>
                      </a:r>
                      <a:r>
                        <a:rPr lang="ro-RO" sz="1100" b="1" i="1" dirty="0" err="1">
                          <a:latin typeface="+mj-lt"/>
                        </a:rPr>
                        <a:t>Résistons</a:t>
                      </a:r>
                      <a:endParaRPr kumimoji="0" lang="ro-RO" sz="11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o-RO" sz="1100" b="1"/>
                        <a:t>435 301</a:t>
                      </a:r>
                    </a:p>
                  </a:txBody>
                  <a:tcPr marL="91431" marR="91431" marT="45725" marB="457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o-RO" sz="1100" b="1" dirty="0"/>
                        <a:t>1,21</a:t>
                      </a:r>
                    </a:p>
                  </a:txBody>
                  <a:tcPr marL="91431" marR="91431" marT="45725" marB="457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b="1" dirty="0">
                          <a:latin typeface="+mj-lt"/>
                        </a:rPr>
                        <a:t>Philippe </a:t>
                      </a:r>
                      <a:r>
                        <a:rPr lang="ro-RO" sz="1100" b="1" dirty="0" err="1">
                          <a:latin typeface="+mj-lt"/>
                        </a:rPr>
                        <a:t>Poutou</a:t>
                      </a:r>
                      <a:endParaRPr lang="ro-RO" sz="1100" b="1" dirty="0">
                        <a:latin typeface="+mj-lt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b="1" dirty="0">
                          <a:latin typeface="+mj-lt"/>
                        </a:rPr>
                        <a:t>Noul partid anticapitalist - </a:t>
                      </a:r>
                      <a:r>
                        <a:rPr lang="ro-RO" sz="1100" b="1" i="1" dirty="0" err="1">
                          <a:latin typeface="+mj-lt"/>
                        </a:rPr>
                        <a:t>Nouveau</a:t>
                      </a:r>
                      <a:r>
                        <a:rPr lang="ro-RO" sz="1100" b="1" i="1" dirty="0">
                          <a:latin typeface="+mj-lt"/>
                        </a:rPr>
                        <a:t> </a:t>
                      </a:r>
                      <a:r>
                        <a:rPr lang="ro-RO" sz="1100" b="1" i="1" dirty="0" err="1">
                          <a:latin typeface="+mj-lt"/>
                        </a:rPr>
                        <a:t>Parti</a:t>
                      </a:r>
                      <a:r>
                        <a:rPr lang="ro-RO" sz="1100" b="1" i="1" dirty="0">
                          <a:latin typeface="+mj-lt"/>
                        </a:rPr>
                        <a:t> anticapitaliste</a:t>
                      </a:r>
                      <a:r>
                        <a:rPr lang="ro-RO" sz="1100" i="1" dirty="0">
                          <a:latin typeface="+mj-lt"/>
                        </a:rPr>
                        <a:t> </a:t>
                      </a:r>
                      <a:r>
                        <a:rPr lang="ro-RO" sz="1100" b="1" dirty="0">
                          <a:latin typeface="+mj-lt"/>
                        </a:rPr>
                        <a:t>(NPA</a:t>
                      </a:r>
                      <a: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)</a:t>
                      </a:r>
                      <a:endParaRPr kumimoji="0" lang="ro-RO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o-RO" sz="1100" b="1" dirty="0"/>
                        <a:t>394 505</a:t>
                      </a:r>
                    </a:p>
                  </a:txBody>
                  <a:tcPr marL="91431" marR="91431" marT="45725" marB="457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o-RO" sz="1100" b="1" dirty="0"/>
                        <a:t>1,09</a:t>
                      </a:r>
                    </a:p>
                  </a:txBody>
                  <a:tcPr marL="91431" marR="91431" marT="45725" marB="457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9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 </a:t>
                      </a:r>
                      <a:r>
                        <a:rPr lang="ro-RO" sz="1100" b="1" dirty="0">
                          <a:latin typeface="+mj-lt"/>
                        </a:rPr>
                        <a:t>François </a:t>
                      </a:r>
                      <a:r>
                        <a:rPr lang="ro-RO" sz="1100" b="1" dirty="0" err="1">
                          <a:latin typeface="+mj-lt"/>
                        </a:rPr>
                        <a:t>Asselineau</a:t>
                      </a:r>
                      <a:b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</a:br>
                      <a: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Uniunea populară republicană - </a:t>
                      </a:r>
                      <a:r>
                        <a:rPr lang="ro-RO" sz="1100" b="1" i="1" dirty="0" err="1">
                          <a:latin typeface="+mj-lt"/>
                        </a:rPr>
                        <a:t>l'Union</a:t>
                      </a:r>
                      <a:r>
                        <a:rPr lang="ro-RO" sz="1100" b="1" i="1" dirty="0">
                          <a:latin typeface="+mj-lt"/>
                        </a:rPr>
                        <a:t> </a:t>
                      </a:r>
                      <a:r>
                        <a:rPr lang="ro-RO" sz="1100" b="1" i="1" dirty="0" err="1">
                          <a:latin typeface="+mj-lt"/>
                        </a:rPr>
                        <a:t>populaire</a:t>
                      </a:r>
                      <a:r>
                        <a:rPr lang="ro-RO" sz="1100" b="1" i="1" dirty="0">
                          <a:latin typeface="+mj-lt"/>
                        </a:rPr>
                        <a:t> </a:t>
                      </a:r>
                      <a:r>
                        <a:rPr lang="ro-RO" sz="1100" b="1" i="1" dirty="0" err="1">
                          <a:latin typeface="+mj-lt"/>
                        </a:rPr>
                        <a:t>républicaine</a:t>
                      </a:r>
                      <a:r>
                        <a:rPr lang="ro-RO" sz="1100" b="1" i="1" dirty="0">
                          <a:latin typeface="+mj-lt"/>
                        </a:rPr>
                        <a:t> </a:t>
                      </a:r>
                      <a:r>
                        <a:rPr lang="ro-RO" sz="1100" b="1" dirty="0">
                          <a:latin typeface="+mj-lt"/>
                        </a:rPr>
                        <a:t>(UPR)</a:t>
                      </a:r>
                      <a:endParaRPr kumimoji="0" lang="ro-RO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o-RO" sz="1100" b="1" dirty="0"/>
                        <a:t>332 547</a:t>
                      </a:r>
                    </a:p>
                  </a:txBody>
                  <a:tcPr marL="91431" marR="91431" marT="45725" marB="457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o-RO" sz="1100" b="1" dirty="0"/>
                        <a:t>0,92</a:t>
                      </a:r>
                    </a:p>
                  </a:txBody>
                  <a:tcPr marL="91431" marR="91431" marT="45725" marB="457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9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b="1" dirty="0">
                          <a:latin typeface="+mj-lt"/>
                        </a:rPr>
                        <a:t>Nathalie </a:t>
                      </a:r>
                      <a:r>
                        <a:rPr lang="ro-RO" sz="1100" b="1" dirty="0" err="1">
                          <a:latin typeface="+mj-lt"/>
                        </a:rPr>
                        <a:t>Arthaud</a:t>
                      </a:r>
                      <a:endParaRPr lang="ro-RO" sz="1100" b="1" dirty="0">
                        <a:latin typeface="+mj-lt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b="1" dirty="0">
                          <a:latin typeface="+mj-lt"/>
                        </a:rPr>
                        <a:t>Lupta muncitorească - </a:t>
                      </a:r>
                      <a:r>
                        <a:rPr lang="ro-RO" sz="1100" b="1" i="1" dirty="0" err="1">
                          <a:latin typeface="+mj-lt"/>
                        </a:rPr>
                        <a:t>Lutte</a:t>
                      </a:r>
                      <a:r>
                        <a:rPr lang="ro-RO" sz="1100" b="1" i="1" dirty="0">
                          <a:latin typeface="+mj-lt"/>
                        </a:rPr>
                        <a:t> </a:t>
                      </a:r>
                      <a:r>
                        <a:rPr lang="ro-RO" sz="1100" b="1" i="1" dirty="0" err="1">
                          <a:latin typeface="+mj-lt"/>
                        </a:rPr>
                        <a:t>ouvrière</a:t>
                      </a:r>
                      <a:r>
                        <a:rPr lang="ro-RO" sz="1100" i="1" dirty="0">
                          <a:latin typeface="+mj-lt"/>
                        </a:rPr>
                        <a:t> </a:t>
                      </a:r>
                      <a:r>
                        <a:rPr lang="ro-RO" sz="1100" b="1" dirty="0">
                          <a:latin typeface="+mj-lt"/>
                        </a:rPr>
                        <a:t>(LO)</a:t>
                      </a:r>
                      <a:endParaRPr kumimoji="0" lang="ro-RO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o-RO" sz="1100" b="1" dirty="0"/>
                        <a:t>232 384</a:t>
                      </a:r>
                    </a:p>
                  </a:txBody>
                  <a:tcPr marL="91431" marR="91431" marT="45725" marB="457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o-RO" sz="1100" b="1" dirty="0"/>
                        <a:t>0,64</a:t>
                      </a:r>
                    </a:p>
                  </a:txBody>
                  <a:tcPr marL="91431" marR="91431" marT="45725" marB="457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9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b="1" dirty="0">
                          <a:latin typeface="+mj-lt"/>
                        </a:rPr>
                        <a:t>Jacques </a:t>
                      </a:r>
                      <a:r>
                        <a:rPr lang="ro-RO" sz="1100" b="1" dirty="0" err="1">
                          <a:latin typeface="+mj-lt"/>
                        </a:rPr>
                        <a:t>Cheminade</a:t>
                      </a:r>
                      <a:endParaRPr lang="ro-RO" sz="1100" b="1" dirty="0">
                        <a:latin typeface="+mj-lt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b="1" dirty="0">
                          <a:latin typeface="+mj-lt"/>
                        </a:rPr>
                        <a:t>Solidaritate și progres - </a:t>
                      </a:r>
                      <a:r>
                        <a:rPr lang="ro-RO" sz="1100" b="1" dirty="0" err="1">
                          <a:latin typeface="+mj-lt"/>
                        </a:rPr>
                        <a:t>S</a:t>
                      </a:r>
                      <a:r>
                        <a:rPr lang="ro-RO" sz="1100" b="1" i="1" dirty="0" err="1">
                          <a:latin typeface="+mj-lt"/>
                        </a:rPr>
                        <a:t>olidarité</a:t>
                      </a:r>
                      <a:r>
                        <a:rPr lang="ro-RO" sz="1100" b="1" i="1" dirty="0">
                          <a:latin typeface="+mj-lt"/>
                        </a:rPr>
                        <a:t> et </a:t>
                      </a:r>
                      <a:r>
                        <a:rPr lang="ro-RO" sz="1100" b="1" i="1" dirty="0" err="1">
                          <a:latin typeface="+mj-lt"/>
                        </a:rPr>
                        <a:t>progrès</a:t>
                      </a:r>
                      <a:r>
                        <a:rPr lang="ro-RO" sz="1100" dirty="0">
                          <a:latin typeface="+mj-lt"/>
                        </a:rPr>
                        <a:t> (</a:t>
                      </a:r>
                      <a:r>
                        <a:rPr lang="ro-RO" sz="1100" b="1" dirty="0">
                          <a:latin typeface="+mj-lt"/>
                        </a:rPr>
                        <a:t>SP)</a:t>
                      </a:r>
                      <a:endParaRPr kumimoji="0" lang="ro-RO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3384" marR="3384" marT="3383" marB="33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o-RO" sz="1100" b="1" dirty="0"/>
                        <a:t>65 586</a:t>
                      </a:r>
                    </a:p>
                  </a:txBody>
                  <a:tcPr marL="91431" marR="91431" marT="45725" marB="457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o-RO" sz="1100" b="1" dirty="0"/>
                        <a:t>0,18</a:t>
                      </a:r>
                    </a:p>
                  </a:txBody>
                  <a:tcPr marL="91431" marR="91431" marT="45725" marB="457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Group 2">
            <a:extLst>
              <a:ext uri="{FF2B5EF4-FFF2-40B4-BE49-F238E27FC236}">
                <a16:creationId xmlns:a16="http://schemas.microsoft.com/office/drawing/2014/main" id="{A29EBBCA-AE1D-4DB9-9679-4E3A7DF1C1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03388" y="1371601"/>
          <a:ext cx="8856663" cy="5133993"/>
        </p:xfrm>
        <a:graphic>
          <a:graphicData uri="http://schemas.openxmlformats.org/drawingml/2006/table">
            <a:tbl>
              <a:tblPr/>
              <a:tblGrid>
                <a:gridCol w="1213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3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3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4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4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45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32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79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Vo</a:t>
                      </a: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turi I tur</a:t>
                      </a:r>
                      <a:endParaRPr kumimoji="0" lang="ro-RO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% </a:t>
                      </a: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</a:rPr>
                        <a:t>în voturi 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Vo</a:t>
                      </a: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turi II tur</a:t>
                      </a:r>
                      <a:endParaRPr kumimoji="0" lang="ro-RO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% </a:t>
                      </a: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</a:rPr>
                        <a:t>în voturi 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locuri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%</a:t>
                      </a: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itchFamily="18" charset="0"/>
                        </a:rPr>
                        <a:t>în locuri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LRM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6 391 269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28,21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7 826 432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43,06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100" b="1" i="0" dirty="0">
                          <a:latin typeface="+mj-lt"/>
                        </a:rPr>
                        <a:t>308 (303)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b="1" dirty="0"/>
                        <a:t>53.38 </a:t>
                      </a:r>
                      <a:endParaRPr kumimoji="0" lang="fr-F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MoDem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 dirty="0"/>
                        <a:t>932 227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4,12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1 100 790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6,06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100" b="1" i="0" dirty="0">
                          <a:latin typeface="+mj-lt"/>
                        </a:rPr>
                        <a:t>42 (45)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b="1" dirty="0"/>
                        <a:t>7.28</a:t>
                      </a:r>
                      <a:endParaRPr kumimoji="0" lang="fr-F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LR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 dirty="0"/>
                        <a:t>3 573 427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15,77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4 040 016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22,23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100" b="1" i="0" dirty="0">
                          <a:latin typeface="+mj-lt"/>
                        </a:rPr>
                        <a:t>112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dirty="0"/>
                        <a:t>19.41</a:t>
                      </a:r>
                      <a:endParaRPr kumimoji="0" lang="fr-F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549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PS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1 685 677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7,44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1 032 985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5,68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100" b="1" i="0" dirty="0">
                          <a:latin typeface="+mj-lt"/>
                        </a:rPr>
                        <a:t>30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dirty="0"/>
                        <a:t>5.20 </a:t>
                      </a:r>
                      <a:endParaRPr kumimoji="0" lang="fr-F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9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UD</a:t>
                      </a: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687 225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3,03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551 760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3,04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100" b="1" i="0" dirty="0">
                          <a:latin typeface="+mj-lt"/>
                        </a:rPr>
                        <a:t>18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dirty="0"/>
                        <a:t>3.12</a:t>
                      </a:r>
                      <a:endParaRPr kumimoji="0" lang="fr-F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9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 dirty="0"/>
                        <a:t>2 497 622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 dirty="0"/>
                        <a:t>11,03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 dirty="0"/>
                        <a:t>883 786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 dirty="0"/>
                        <a:t>4,86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100" b="1" i="0" dirty="0">
                          <a:latin typeface="+mj-lt"/>
                        </a:rPr>
                        <a:t>17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dirty="0"/>
                        <a:t>2.95</a:t>
                      </a:r>
                      <a:endParaRPr kumimoji="0" lang="fr-F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07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Dive</a:t>
                      </a:r>
                      <a: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şi stânga</a:t>
                      </a:r>
                      <a:endParaRPr kumimoji="0" lang="fr-F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 dirty="0">
                          <a:latin typeface="+mj-lt"/>
                        </a:rPr>
                        <a:t>362 281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 dirty="0">
                          <a:latin typeface="+mj-lt"/>
                        </a:rPr>
                        <a:t>1,60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 dirty="0">
                          <a:latin typeface="+mj-lt"/>
                        </a:rPr>
                        <a:t>263 619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 dirty="0">
                          <a:latin typeface="+mj-lt"/>
                        </a:rPr>
                        <a:t>1,45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100" b="1" i="0" dirty="0">
                          <a:latin typeface="+mj-lt"/>
                        </a:rPr>
                        <a:t>12 (13)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dirty="0"/>
                        <a:t>2.08 </a:t>
                      </a:r>
                      <a:endParaRPr kumimoji="0" lang="fr-F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79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PCI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615 487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2,72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217 833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1,20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100" b="1" i="0" dirty="0">
                          <a:latin typeface="+mj-lt"/>
                        </a:rPr>
                        <a:t>10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o-RO" sz="1100" dirty="0"/>
                        <a:t>1.73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3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FN</a:t>
                      </a:r>
                      <a:endParaRPr kumimoji="0" lang="fr-F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2 990 454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13,20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 dirty="0"/>
                        <a:t>1 590 858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8,75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100" b="1" dirty="0">
                          <a:latin typeface="+mj-lt"/>
                        </a:rPr>
                        <a:t>8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dirty="0"/>
                        <a:t>1.39</a:t>
                      </a:r>
                      <a:endParaRPr kumimoji="0" lang="fr-F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671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Times New Roman" pitchFamily="18" charset="0"/>
                        </a:rPr>
                        <a:t>Dive</a:t>
                      </a:r>
                      <a:r>
                        <a:rPr kumimoji="0" lang="ro-RO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şi dreapta</a:t>
                      </a:r>
                      <a:endParaRPr kumimoji="0" lang="fr-FR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 dirty="0">
                          <a:latin typeface="+mj-lt"/>
                        </a:rPr>
                        <a:t>625 345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>
                          <a:latin typeface="+mj-lt"/>
                        </a:rPr>
                        <a:t>2,76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>
                          <a:latin typeface="+mj-lt"/>
                        </a:rPr>
                        <a:t>306 240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>
                          <a:latin typeface="+mj-lt"/>
                        </a:rPr>
                        <a:t>1,68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100" b="1" dirty="0">
                          <a:latin typeface="+mj-lt"/>
                        </a:rPr>
                        <a:t>6 (7)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dirty="0"/>
                        <a:t>1.04</a:t>
                      </a:r>
                      <a:endParaRPr kumimoji="0" lang="fr-F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343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Régionali</a:t>
                      </a:r>
                      <a: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şti</a:t>
                      </a:r>
                      <a:endParaRPr kumimoji="0" lang="fr-F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 dirty="0">
                          <a:latin typeface="+mj-lt"/>
                        </a:rPr>
                        <a:t>204 049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 dirty="0">
                          <a:latin typeface="+mj-lt"/>
                        </a:rPr>
                        <a:t>0,90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 dirty="0">
                          <a:latin typeface="+mj-lt"/>
                        </a:rPr>
                        <a:t>137 453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 dirty="0">
                          <a:latin typeface="+mj-lt"/>
                        </a:rPr>
                        <a:t>0,76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100" b="1" dirty="0">
                          <a:latin typeface="+mj-lt"/>
                        </a:rPr>
                        <a:t>5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dirty="0"/>
                        <a:t>0.87</a:t>
                      </a:r>
                      <a:endParaRPr kumimoji="0" lang="fr-F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343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Diver</a:t>
                      </a:r>
                      <a: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şi</a:t>
                      </a:r>
                      <a:endParaRPr kumimoji="0" lang="fr-F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>
                          <a:latin typeface="+mj-lt"/>
                        </a:rPr>
                        <a:t>500 309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>
                          <a:latin typeface="+mj-lt"/>
                        </a:rPr>
                        <a:t>2,21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>
                          <a:latin typeface="+mj-lt"/>
                        </a:rPr>
                        <a:t>100 574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>
                          <a:latin typeface="+mj-lt"/>
                        </a:rPr>
                        <a:t>0,55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100" b="1" dirty="0">
                          <a:latin typeface="+mj-lt"/>
                        </a:rPr>
                        <a:t>3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dirty="0"/>
                        <a:t>0.52 </a:t>
                      </a:r>
                      <a:endParaRPr kumimoji="0" lang="fr-F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343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PRG</a:t>
                      </a:r>
                      <a:endParaRPr kumimoji="0" lang="fr-F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>
                          <a:latin typeface="+mj-lt"/>
                        </a:rPr>
                        <a:t>106 311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>
                          <a:latin typeface="+mj-lt"/>
                        </a:rPr>
                        <a:t>0,47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>
                          <a:latin typeface="+mj-lt"/>
                        </a:rPr>
                        <a:t>64 860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>
                          <a:latin typeface="+mj-lt"/>
                        </a:rPr>
                        <a:t>0,36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100" b="1" dirty="0">
                          <a:latin typeface="+mj-lt"/>
                        </a:rPr>
                        <a:t>3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dirty="0"/>
                        <a:t>0.52 </a:t>
                      </a:r>
                      <a:endParaRPr kumimoji="0" lang="fr-F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9077">
                <a:tc>
                  <a:txBody>
                    <a:bodyPr/>
                    <a:lstStyle/>
                    <a:p>
                      <a:r>
                        <a:rPr lang="ro-RO" sz="1100" b="1" dirty="0" err="1">
                          <a:solidFill>
                            <a:srgbClr val="002060"/>
                          </a:solidFill>
                          <a:latin typeface="+mj-lt"/>
                        </a:rPr>
                        <a:t>Ecolo</a:t>
                      </a:r>
                      <a:endParaRPr lang="ro-RO" sz="1100" b="1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 dirty="0">
                          <a:solidFill>
                            <a:srgbClr val="002060"/>
                          </a:solidFill>
                          <a:latin typeface="+mj-lt"/>
                        </a:rPr>
                        <a:t>973 527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>
                          <a:solidFill>
                            <a:srgbClr val="002060"/>
                          </a:solidFill>
                          <a:latin typeface="+mj-lt"/>
                        </a:rPr>
                        <a:t>4,30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>
                          <a:solidFill>
                            <a:srgbClr val="002060"/>
                          </a:solidFill>
                          <a:latin typeface="+mj-lt"/>
                        </a:rPr>
                        <a:t>23 197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>
                          <a:solidFill>
                            <a:srgbClr val="002060"/>
                          </a:solidFill>
                          <a:latin typeface="+mj-lt"/>
                        </a:rPr>
                        <a:t>0,13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100" b="1" dirty="0">
                          <a:solidFill>
                            <a:srgbClr val="002060"/>
                          </a:solidFill>
                          <a:latin typeface="+mj-lt"/>
                        </a:rPr>
                        <a:t>1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dirty="0"/>
                        <a:t>0.17</a:t>
                      </a:r>
                      <a:endParaRPr kumimoji="0" lang="fr-F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9077">
                <a:tc>
                  <a:txBody>
                    <a:bodyPr/>
                    <a:lstStyle/>
                    <a:p>
                      <a:r>
                        <a:rPr lang="ro-RO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DLF</a:t>
                      </a:r>
                      <a:endParaRPr lang="ro-RO" sz="1100" dirty="0">
                        <a:latin typeface="+mj-lt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 dirty="0"/>
                        <a:t>265 420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1,17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17 344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/>
                        <a:t>0,10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100" b="1" dirty="0">
                          <a:latin typeface="+mj-lt"/>
                        </a:rPr>
                        <a:t>1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o-RO" sz="1100" dirty="0"/>
                        <a:t>0.17</a:t>
                      </a:r>
                      <a:endParaRPr kumimoji="0" lang="fr-F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907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Extr</a:t>
                      </a:r>
                      <a:r>
                        <a:rPr kumimoji="0" lang="ro-RO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e</a:t>
                      </a:r>
                      <a:r>
                        <a:rPr kumimoji="0" lang="ro-RO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</a:t>
                      </a:r>
                      <a:r>
                        <a:rPr kumimoji="0" lang="ro-RO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dreaptă </a:t>
                      </a:r>
                      <a:endParaRPr kumimoji="0" lang="fr-F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37" marR="91437"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>
                          <a:latin typeface="+mj-lt"/>
                        </a:rPr>
                        <a:t>68 320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>
                          <a:latin typeface="+mj-lt"/>
                        </a:rPr>
                        <a:t>0,30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>
                          <a:latin typeface="+mj-lt"/>
                        </a:rPr>
                        <a:t>19 030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1100">
                          <a:latin typeface="+mj-lt"/>
                        </a:rPr>
                        <a:t>0,10 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100" b="1" dirty="0">
                          <a:latin typeface="+mj-lt"/>
                        </a:rPr>
                        <a:t>1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o-RO" sz="1100" dirty="0"/>
                        <a:t>0.17</a:t>
                      </a:r>
                    </a:p>
                  </a:txBody>
                  <a:tcPr marL="91437" marR="91437" marT="45719" marB="457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80020" name="Rectangle 2">
            <a:extLst>
              <a:ext uri="{FF2B5EF4-FFF2-40B4-BE49-F238E27FC236}">
                <a16:creationId xmlns:a16="http://schemas.microsoft.com/office/drawing/2014/main" id="{9898EC9C-7353-4F56-AE18-D44A8A843A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16050" y="228600"/>
            <a:ext cx="9251950" cy="8969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o-RO" altLang="ro-RO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Alegerile legislative franceze din 11 și 18 iunie 2017</a:t>
            </a:r>
            <a:br>
              <a:rPr lang="ro-RO" altLang="ro-RO" sz="3200" b="1" dirty="0"/>
            </a:br>
            <a:endParaRPr lang="ro-RO" altLang="ro-RO" sz="32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60691CCD-1421-4667-895E-B8C16506A9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altLang="ro-RO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Consecinţe</a:t>
            </a:r>
            <a:endParaRPr lang="ro-RO" altLang="ro-RO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4224BA1-19EC-4FCC-90EF-3DE16D38BE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o-RO" altLang="ro-RO">
                <a:solidFill>
                  <a:srgbClr val="000066"/>
                </a:solidFill>
              </a:rPr>
              <a:t>Amplificarea procentajului în locuri în raport cu procentajul în voturi pentru primul partid sau prima alianţă </a:t>
            </a:r>
          </a:p>
          <a:p>
            <a:pPr eaLnBrk="1" hangingPunct="1"/>
            <a:r>
              <a:rPr lang="ro-RO" altLang="ro-RO">
                <a:solidFill>
                  <a:srgbClr val="000066"/>
                </a:solidFill>
              </a:rPr>
              <a:t>Dificultăţi pentru partidele să constituie alianţe </a:t>
            </a:r>
          </a:p>
          <a:p>
            <a:pPr eaLnBrk="1" hangingPunct="1"/>
            <a:r>
              <a:rPr lang="ro-RO" altLang="ro-RO">
                <a:solidFill>
                  <a:srgbClr val="000066"/>
                </a:solidFill>
              </a:rPr>
              <a:t>Bipolarizarea scrutinului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5FC3E5B7-AD05-4160-B034-8AD97FAA30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altLang="ro-RO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Efectele scrutinului majoritar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A59DFEC4-795D-4566-9405-ABC2F0B1D5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o-RO" altLang="ro-RO">
                <a:solidFill>
                  <a:srgbClr val="000066"/>
                </a:solidFill>
              </a:rPr>
              <a:t>Suprareprezentarea primului partid datorită surplusului de locuri rezultat din aplicarea principiului “câștigătorul ia totul”</a:t>
            </a:r>
          </a:p>
          <a:p>
            <a:pPr eaLnBrk="1" hangingPunct="1"/>
            <a:r>
              <a:rPr lang="ro-RO" altLang="ro-RO">
                <a:solidFill>
                  <a:srgbClr val="000066"/>
                </a:solidFill>
              </a:rPr>
              <a:t>Frecventa subreprezentare a celui de al doilea partid </a:t>
            </a:r>
          </a:p>
          <a:p>
            <a:pPr eaLnBrk="1" hangingPunct="1"/>
            <a:r>
              <a:rPr lang="ro-RO" altLang="ro-RO">
                <a:solidFill>
                  <a:srgbClr val="000066"/>
                </a:solidFill>
              </a:rPr>
              <a:t>Performanţa politică a partidelor depinde de repartiţia geografică a sufragiilor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7FC2E59-2D29-472E-B25A-285AB2F668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304800"/>
            <a:ext cx="7772400" cy="5791200"/>
          </a:xfrm>
        </p:spPr>
        <p:txBody>
          <a:bodyPr/>
          <a:lstStyle/>
          <a:p>
            <a:pPr eaLnBrk="1" hangingPunct="1"/>
            <a:r>
              <a:rPr lang="ro-RO" altLang="ro-RO">
                <a:solidFill>
                  <a:srgbClr val="000066"/>
                </a:solidFill>
              </a:rPr>
              <a:t>Slaba reprezentare a terţelor partide (mai puţin a celor puternice la nivel local) </a:t>
            </a:r>
          </a:p>
          <a:p>
            <a:pPr eaLnBrk="1" hangingPunct="1"/>
            <a:r>
              <a:rPr lang="ro-RO" altLang="ro-RO">
                <a:solidFill>
                  <a:srgbClr val="000066"/>
                </a:solidFill>
              </a:rPr>
              <a:t>Imprimă o tendinţă bipartidistă sau bipolaristă </a:t>
            </a:r>
          </a:p>
          <a:p>
            <a:pPr eaLnBrk="1" hangingPunct="1"/>
            <a:r>
              <a:rPr lang="ro-RO" altLang="ro-RO">
                <a:solidFill>
                  <a:srgbClr val="000066"/>
                </a:solidFill>
              </a:rPr>
              <a:t>Accentuează rolul alianţelor în cazul scrutinului uninominal în două tururi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17D88C7C-9251-412F-ABCB-C05051094A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alt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Avantaje</a:t>
            </a:r>
            <a:r>
              <a:rPr lang="ro-RO" altLang="ro-RO" sz="3600" b="1" dirty="0"/>
              <a:t> 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1FD3851B-9B65-4DB6-AF84-40088484E6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o-RO" altLang="ro-RO">
                <a:solidFill>
                  <a:srgbClr val="000066"/>
                </a:solidFill>
              </a:rPr>
              <a:t>Asigură degajarea unei majorităţi guvernamentale clare </a:t>
            </a:r>
          </a:p>
          <a:p>
            <a:pPr eaLnBrk="1" hangingPunct="1"/>
            <a:r>
              <a:rPr lang="ro-RO" altLang="ro-RO">
                <a:solidFill>
                  <a:srgbClr val="000066"/>
                </a:solidFill>
              </a:rPr>
              <a:t>Permite concentrarea votului aspra reprezentantului și a guvernului, nu a partidului </a:t>
            </a:r>
          </a:p>
          <a:p>
            <a:pPr eaLnBrk="1" hangingPunct="1"/>
            <a:r>
              <a:rPr lang="ro-RO" altLang="ro-RO">
                <a:solidFill>
                  <a:srgbClr val="000066"/>
                </a:solidFill>
              </a:rPr>
              <a:t>Creează aleşi ai circumscripției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B033C7EF-082E-49D9-BA5F-50D56AD959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o-RO" alt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Dezavantaje 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60BF852-13B5-4D1A-89D2-26CB22A5D5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o-RO" altLang="ro-RO">
                <a:solidFill>
                  <a:srgbClr val="000066"/>
                </a:solidFill>
              </a:rPr>
              <a:t>Este injust în privinţa reprezentativităţii, excluzând de la viaţa politică minorităţile </a:t>
            </a:r>
          </a:p>
          <a:p>
            <a:pPr eaLnBrk="1" hangingPunct="1"/>
            <a:r>
              <a:rPr lang="ro-RO" altLang="ro-RO">
                <a:solidFill>
                  <a:srgbClr val="000066"/>
                </a:solidFill>
              </a:rPr>
              <a:t>Alegătorii nu sunt capabili să se adapteze politicilor naționale</a:t>
            </a:r>
          </a:p>
          <a:p>
            <a:pPr eaLnBrk="1" hangingPunct="1"/>
            <a:r>
              <a:rPr lang="ro-RO" altLang="ro-RO">
                <a:solidFill>
                  <a:srgbClr val="000066"/>
                </a:solidFill>
              </a:rPr>
              <a:t>Guvernul rămâne minoritar în voturi, cu o legitimitate fragilă, uşor de basculat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 autoUpdateAnimBg="0"/>
    </p:bldLst>
  </p:timing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1121</Words>
  <Application>Microsoft Office PowerPoint</Application>
  <PresentationFormat>Ecran lat</PresentationFormat>
  <Paragraphs>413</Paragraphs>
  <Slides>14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14</vt:i4>
      </vt:variant>
    </vt:vector>
  </HeadingPairs>
  <TitlesOfParts>
    <vt:vector size="20" baseType="lpstr">
      <vt:lpstr>Aharoni</vt:lpstr>
      <vt:lpstr>Arial</vt:lpstr>
      <vt:lpstr>Calibri</vt:lpstr>
      <vt:lpstr>Calibri Light</vt:lpstr>
      <vt:lpstr>Times New Roman</vt:lpstr>
      <vt:lpstr>Temă Office</vt:lpstr>
      <vt:lpstr>Scrutinul majoritar cu două tururi </vt:lpstr>
      <vt:lpstr>Alegerile legislative franceze din 1993 </vt:lpstr>
      <vt:lpstr>Alegerile prezidențiale din Franța 21 aprilie și 5 mai 2002</vt:lpstr>
      <vt:lpstr>Alegerile prezidențiale din Franța din 21 aprilie 2002,  restul candidaților;  tabelul 1</vt:lpstr>
      <vt:lpstr>Alegerile prezidențiale din Franța din 21 aprilie 2002, restul candidaților;  tabelul 2</vt:lpstr>
      <vt:lpstr>Alegerile legislative franceze din 9 și 16 iunie 2002 </vt:lpstr>
      <vt:lpstr>Alegerile prezidențiale din Franța 22 aprilie și 6 mai 2017</vt:lpstr>
      <vt:lpstr>Alegerile prezidențiale din Franța  22 aprilie 2017, turul 1, ceilalți candidați</vt:lpstr>
      <vt:lpstr>Alegerile legislative franceze din 11 și 18 iunie 2017 </vt:lpstr>
      <vt:lpstr>Consecinţe</vt:lpstr>
      <vt:lpstr>Efectele scrutinului majoritar</vt:lpstr>
      <vt:lpstr>Prezentare PowerPoint</vt:lpstr>
      <vt:lpstr>Avantaje </vt:lpstr>
      <vt:lpstr>Dezavantaje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Scrutinul uninominal cu două tururi </dc:title>
  <dc:creator>Daniela</dc:creator>
  <cp:lastModifiedBy>Daniela</cp:lastModifiedBy>
  <cp:revision>7</cp:revision>
  <dcterms:created xsi:type="dcterms:W3CDTF">2020-04-27T10:50:11Z</dcterms:created>
  <dcterms:modified xsi:type="dcterms:W3CDTF">2020-05-04T10:52:55Z</dcterms:modified>
</cp:coreProperties>
</file>