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2" r:id="rId20"/>
    <p:sldId id="303" r:id="rId21"/>
    <p:sldId id="304" r:id="rId22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8232571-0DF1-4A05-9F85-35B75E93D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0B49E0FB-17D5-4C7D-BE24-0B06A96E5B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63992CC1-F74A-44C8-90F3-3A379F82C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7D89-2F37-40DC-BB97-8D06D1E5C63F}" type="datetimeFigureOut">
              <a:rPr lang="ro-RO" smtClean="0"/>
              <a:t>04.05.2020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CA126D11-2BB5-4420-9BB7-1F7DE5D8C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9BC5ACF-CEE8-43F3-871D-171039727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2A97C-9EAF-432C-A07D-4DD73936B6B0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4038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A463305-D933-4ED0-A7D6-88F7CB55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C29AADD-8AB6-454A-940D-4237D50EE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250B3A5-507C-4CC5-A189-00B56CC87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7D89-2F37-40DC-BB97-8D06D1E5C63F}" type="datetimeFigureOut">
              <a:rPr lang="ro-RO" smtClean="0"/>
              <a:t>04.05.2020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2CDACF65-3DA3-4464-A431-6442F744E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4D8E530-34A4-4CFE-B769-A9A96C862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2A97C-9EAF-432C-A07D-4DD73936B6B0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97406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C9A2F2A-40E7-4A5D-8493-3CBC325FB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754A113-B31F-4FFC-B4A3-E9CEAD265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62F9EDB-693A-48EF-97A5-73D7757B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7D89-2F37-40DC-BB97-8D06D1E5C63F}" type="datetimeFigureOut">
              <a:rPr lang="ro-RO" smtClean="0"/>
              <a:t>04.05.2020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6F549BC-FB69-4D0A-BD06-DB676877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B14E781-BE93-44A1-936B-02347CF2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2A97C-9EAF-432C-A07D-4DD73936B6B0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229362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2AC2C72-1756-421B-BC7B-FFF44C11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D481EBC-9191-4416-A779-2D7669A590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F35295C0-8981-45F4-BC77-4519B69BE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B4BE6D58-014B-4FC2-8860-A16BDB649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7D89-2F37-40DC-BB97-8D06D1E5C63F}" type="datetimeFigureOut">
              <a:rPr lang="ro-RO" smtClean="0"/>
              <a:t>04.05.2020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0487F508-2A31-46CB-A612-24B275339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64A78FEA-6926-404A-A1B8-56E37141D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2A97C-9EAF-432C-A07D-4DD73936B6B0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282243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0D27D04-B879-4E5B-A021-E93B1FD2B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D98024B-A7E5-4432-A539-F350BF348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F736D7D8-5A8C-45EA-AED3-AC4DA9720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DA8F5187-93DC-460F-A182-CF0D4D0C58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F3AF3FA2-0A4F-47CA-BCEE-82507E3221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1DCD6035-4096-4845-80D1-F835685EF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7D89-2F37-40DC-BB97-8D06D1E5C63F}" type="datetimeFigureOut">
              <a:rPr lang="ro-RO" smtClean="0"/>
              <a:t>04.05.2020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511BB973-E11B-4BAD-96B8-6B2C99729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6E00E24D-42F4-4942-B64B-73C4523BC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2A97C-9EAF-432C-A07D-4DD73936B6B0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73611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DA780A7-6965-4C49-996F-6916943B7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638598DD-FF44-4507-9C22-D85AD28B4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7D89-2F37-40DC-BB97-8D06D1E5C63F}" type="datetimeFigureOut">
              <a:rPr lang="ro-RO" smtClean="0"/>
              <a:t>04.05.2020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EA5422F-21E4-4165-9596-05485C25A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64720AE8-A820-46E1-9E8F-84E7632BB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2A97C-9EAF-432C-A07D-4DD73936B6B0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39580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1B0FB6D6-9D84-4121-9F0D-A3B8A2C45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7D89-2F37-40DC-BB97-8D06D1E5C63F}" type="datetimeFigureOut">
              <a:rPr lang="ro-RO" smtClean="0"/>
              <a:t>04.05.2020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486EB54C-25E3-473D-8206-8A80A890D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272F7B90-5E7E-400B-B283-C71CC996F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2A97C-9EAF-432C-A07D-4DD73936B6B0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9957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90C7497-4D7E-4E78-9BC3-CDB6D4B42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AF6A3D1-72D6-45CE-8D4C-16213A381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57221D33-26FB-4DF4-9C07-81CA3AF40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6073BF8-3E2C-4307-AF6D-E6BDC70D3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7D89-2F37-40DC-BB97-8D06D1E5C63F}" type="datetimeFigureOut">
              <a:rPr lang="ro-RO" smtClean="0"/>
              <a:t>04.05.2020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AEDDE28F-E97D-4372-8D4D-8381A7034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86FB219-3832-4AC0-AB28-B91A84911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2A97C-9EAF-432C-A07D-4DD73936B6B0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439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2BC020B-3933-4895-A46E-CDDDFA523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BA6EF6EC-BE3A-4874-9C05-0A1E403EA8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21A64E26-9838-45FE-9FCD-62273405D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764ABAF-0217-4AD1-9844-0723E17C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7D89-2F37-40DC-BB97-8D06D1E5C63F}" type="datetimeFigureOut">
              <a:rPr lang="ro-RO" smtClean="0"/>
              <a:t>04.05.2020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A04447B-74E7-4D19-B082-E8B3E614D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521BE34F-7244-46F7-819B-FD1F4D858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2A97C-9EAF-432C-A07D-4DD73936B6B0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046195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1B3D7E1-F563-4C3E-9E0C-53836DFCC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5F0C2D9-7353-4AD3-A5EC-5ADF78B62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D7A7203E-25DB-4E2F-B11F-7A17BBA87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7D89-2F37-40DC-BB97-8D06D1E5C63F}" type="datetimeFigureOut">
              <a:rPr lang="ro-RO" smtClean="0"/>
              <a:t>04.05.2020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4B4792F1-42A5-43EA-BE1A-16B1123B5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3DB6D50A-21D3-4FAA-B2E2-F77FDDB7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2A97C-9EAF-432C-A07D-4DD73936B6B0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053944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6F55C98D-05F3-4C78-BBFA-CE79CEAA4B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E8ADEF5B-28B4-4DD0-926D-D09C47AF1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593A56FF-0788-47B1-9FD5-63D85F61B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D7D89-2F37-40DC-BB97-8D06D1E5C63F}" type="datetimeFigureOut">
              <a:rPr lang="ro-RO" smtClean="0"/>
              <a:t>04.05.2020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CCCCB94A-2060-4EFA-AA0C-3D851E881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4DEFEC06-D43E-4BBB-A451-92857E1F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2A97C-9EAF-432C-A07D-4DD73936B6B0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00311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ro-RO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pPr lvl="0"/>
            <a:endParaRPr lang="ro-RO" noProof="0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828AB1C-6BBB-4288-9D37-624F40FAA4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E1FFA3-29EE-4924-8E4B-6ACED202DE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2CEC3B-0272-475B-AFBB-B71D0C3732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2EDDC0-A8C3-4428-AE65-73C14A41D306}" type="slidenum">
              <a:rPr lang="ro-RO" altLang="ro-RO"/>
              <a:pPr/>
              <a:t>‹#›</a:t>
            </a:fld>
            <a:endParaRPr lang="ro-RO" altLang="ro-RO" dirty="0"/>
          </a:p>
        </p:txBody>
      </p:sp>
    </p:spTree>
    <p:extLst>
      <p:ext uri="{BB962C8B-B14F-4D97-AF65-F5344CB8AC3E}">
        <p14:creationId xmlns:p14="http://schemas.microsoft.com/office/powerpoint/2010/main" val="2967354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73346AD9-A738-414B-9065-C74A2C02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E603EF6-24DA-4F46-AE94-879480261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C5CA634-66F8-49F6-9F47-3E499C0B14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D7D89-2F37-40DC-BB97-8D06D1E5C63F}" type="datetimeFigureOut">
              <a:rPr lang="ro-RO" smtClean="0"/>
              <a:t>04.05.2020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4342CA0-CF33-42A4-BE1D-673352B656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2525173-4419-4AFB-8FB1-49DD28C1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2A97C-9EAF-432C-A07D-4DD73936B6B0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67847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AA7A7CB3-3B12-42D8-936B-DE0D9EEC36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altLang="ro-RO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Scrutinul proporțional</a:t>
            </a:r>
            <a:r>
              <a:rPr lang="ro-RO" alt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ACF8F61-A0E5-4050-B25D-3714F74A4B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7850" y="1981200"/>
            <a:ext cx="84963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o-RO" altLang="ro-RO" sz="2400" b="1" dirty="0">
                <a:solidFill>
                  <a:srgbClr val="000066"/>
                </a:solidFill>
              </a:rPr>
              <a:t>Urmăreşte să asigure reprezentativitatea, deci legitimitatea democratică a guvernării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 sz="2400" b="1" dirty="0">
                <a:solidFill>
                  <a:srgbClr val="000066"/>
                </a:solidFill>
              </a:rPr>
              <a:t>Asigură accesul tuturor grupurilor politice și de opinie reprezentative în Parlament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 sz="2400" b="1" dirty="0">
                <a:solidFill>
                  <a:srgbClr val="000066"/>
                </a:solidFill>
              </a:rPr>
              <a:t>Poate fi:</a:t>
            </a:r>
          </a:p>
          <a:p>
            <a:pPr eaLnBrk="1" hangingPunct="1">
              <a:lnSpc>
                <a:spcPct val="90000"/>
              </a:lnSpc>
              <a:buFontTx/>
              <a:buChar char="-"/>
            </a:pPr>
            <a:r>
              <a:rPr lang="ro-RO" altLang="ro-RO" sz="2400" b="1" dirty="0">
                <a:solidFill>
                  <a:srgbClr val="000066"/>
                </a:solidFill>
              </a:rPr>
              <a:t>scrutin proporțional absolut</a:t>
            </a:r>
          </a:p>
          <a:p>
            <a:pPr eaLnBrk="1" hangingPunct="1">
              <a:lnSpc>
                <a:spcPct val="90000"/>
              </a:lnSpc>
              <a:buFontTx/>
              <a:buChar char="-"/>
            </a:pPr>
            <a:r>
              <a:rPr lang="ro-RO" altLang="ro-RO" sz="2400" b="1" dirty="0">
                <a:solidFill>
                  <a:srgbClr val="000066"/>
                </a:solidFill>
              </a:rPr>
              <a:t>scrutin proporțional relativ cu limită majoritară (prag electoral)</a:t>
            </a:r>
          </a:p>
          <a:p>
            <a:pPr eaLnBrk="1" hangingPunct="1">
              <a:lnSpc>
                <a:spcPct val="90000"/>
              </a:lnSpc>
              <a:buFontTx/>
              <a:buChar char="-"/>
            </a:pPr>
            <a:r>
              <a:rPr lang="ro-RO" altLang="ro-RO" sz="2400" b="1" dirty="0">
                <a:solidFill>
                  <a:srgbClr val="000066"/>
                </a:solidFill>
              </a:rPr>
              <a:t>scrutin proporțional relativ cu primă majoritară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o-RO" altLang="ro-RO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9C4DBDE1-6248-4099-B27B-1FC7845B55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228600"/>
            <a:ext cx="7772400" cy="1143000"/>
          </a:xfrm>
        </p:spPr>
        <p:txBody>
          <a:bodyPr/>
          <a:lstStyle/>
          <a:p>
            <a:pPr eaLnBrk="1" hangingPunct="1"/>
            <a:r>
              <a:rPr lang="ro-RO" altLang="ro-RO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Scrutinul proporțional este, de regulă, scrutin de liste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F190BB3A-C6CA-4F93-AAA9-2000AFBCB3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4825" y="1447800"/>
            <a:ext cx="8713788" cy="4876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o-RO" sz="2400" b="1" dirty="0">
                <a:solidFill>
                  <a:srgbClr val="000066"/>
                </a:solidFill>
              </a:rPr>
              <a:t>Din această regulă rezultă.</a:t>
            </a:r>
          </a:p>
          <a:p>
            <a:pPr eaLnBrk="1" hangingPunct="1">
              <a:lnSpc>
                <a:spcPct val="90000"/>
              </a:lnSpc>
              <a:buFontTx/>
              <a:buChar char="-"/>
              <a:defRPr/>
            </a:pPr>
            <a:r>
              <a:rPr lang="ro-RO" sz="2400" b="1" dirty="0">
                <a:solidFill>
                  <a:srgbClr val="000066"/>
                </a:solidFill>
              </a:rPr>
              <a:t>importanta </a:t>
            </a:r>
            <a:r>
              <a:rPr lang="ro-RO" sz="2400" b="1" i="1" dirty="0">
                <a:solidFill>
                  <a:srgbClr val="000066"/>
                </a:solidFill>
              </a:rPr>
              <a:t>magnitudinii </a:t>
            </a:r>
            <a:r>
              <a:rPr lang="ro-RO" sz="2400" b="1" dirty="0">
                <a:solidFill>
                  <a:srgbClr val="000066"/>
                </a:solidFill>
              </a:rPr>
              <a:t>pentru asigurarea  proporţionalităţii</a:t>
            </a:r>
          </a:p>
          <a:p>
            <a:pPr marL="0" indent="0">
              <a:buNone/>
              <a:defRPr/>
            </a:pPr>
            <a:r>
              <a:rPr lang="ro-RO" sz="2400" b="1" dirty="0">
                <a:solidFill>
                  <a:srgbClr val="000066"/>
                </a:solidFill>
              </a:rPr>
              <a:t>Magnitudinea – numărul de locuri de distribuit într-o circumscripție. Cu cât numărul de mandate este mai mare, cu atât magnitudinea creste. 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o-RO" sz="2400" b="1" dirty="0">
                <a:solidFill>
                  <a:srgbClr val="000066"/>
                </a:solidFill>
              </a:rPr>
              <a:t>- Modalitatea de repartizare a locurilor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o-RO" sz="2400" b="1" dirty="0">
                <a:solidFill>
                  <a:srgbClr val="000066"/>
                </a:solidFill>
              </a:rPr>
              <a:t>Pentru a realiza repartiţia mandatelor sunt folosite: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o-RO" sz="2400" b="1" dirty="0">
                <a:solidFill>
                  <a:srgbClr val="000066"/>
                </a:solidFill>
              </a:rPr>
              <a:t>- metodele prin coeficienţi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o-RO" sz="2400" b="1" dirty="0">
                <a:solidFill>
                  <a:srgbClr val="000066"/>
                </a:solidFill>
              </a:rPr>
              <a:t>- metodele prin divizori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o-RO" sz="2400" b="1" dirty="0">
                <a:solidFill>
                  <a:srgbClr val="000066"/>
                </a:solidFill>
              </a:rPr>
              <a:t>sau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o-RO" sz="2400" b="1" dirty="0">
                <a:solidFill>
                  <a:srgbClr val="000066"/>
                </a:solidFill>
              </a:rPr>
              <a:t>- metoda celui mai mare rest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o-RO" sz="2400" b="1" dirty="0">
                <a:solidFill>
                  <a:srgbClr val="000066"/>
                </a:solidFill>
              </a:rPr>
              <a:t>- metoda celei mai mari medii </a:t>
            </a:r>
          </a:p>
          <a:p>
            <a:pPr eaLnBrk="1" hangingPunct="1">
              <a:lnSpc>
                <a:spcPct val="90000"/>
              </a:lnSpc>
              <a:defRPr/>
            </a:pPr>
            <a:endParaRPr lang="ro-RO" dirty="0">
              <a:solidFill>
                <a:srgbClr val="0000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CBFA4153-77C0-401F-9466-13382AC3E8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0"/>
            <a:ext cx="8134350" cy="863600"/>
          </a:xfrm>
        </p:spPr>
        <p:txBody>
          <a:bodyPr/>
          <a:lstStyle/>
          <a:p>
            <a:pPr eaLnBrk="1" hangingPunct="1"/>
            <a:r>
              <a:rPr lang="ro-RO" altLang="ro-RO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Alegerile federale belgiene din mai 2019</a:t>
            </a:r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EE7F7E8C-89BD-4B57-A4B5-5DE5A7D3A567}"/>
              </a:ext>
            </a:extLst>
          </p:cNvPr>
          <p:cNvGraphicFramePr>
            <a:graphicFrameLocks noGrp="1"/>
          </p:cNvGraphicFramePr>
          <p:nvPr/>
        </p:nvGraphicFramePr>
        <p:xfrm>
          <a:off x="2138363" y="765175"/>
          <a:ext cx="8367712" cy="5974694"/>
        </p:xfrm>
        <a:graphic>
          <a:graphicData uri="http://schemas.openxmlformats.org/drawingml/2006/table">
            <a:tbl>
              <a:tblPr/>
              <a:tblGrid>
                <a:gridCol w="3176587">
                  <a:extLst>
                    <a:ext uri="{9D8B030D-6E8A-4147-A177-3AD203B41FA5}">
                      <a16:colId xmlns:a16="http://schemas.microsoft.com/office/drawing/2014/main" val="1250856165"/>
                    </a:ext>
                  </a:extLst>
                </a:gridCol>
                <a:gridCol w="1484313">
                  <a:extLst>
                    <a:ext uri="{9D8B030D-6E8A-4147-A177-3AD203B41FA5}">
                      <a16:colId xmlns:a16="http://schemas.microsoft.com/office/drawing/2014/main" val="2017804631"/>
                    </a:ext>
                  </a:extLst>
                </a:gridCol>
                <a:gridCol w="1339850">
                  <a:extLst>
                    <a:ext uri="{9D8B030D-6E8A-4147-A177-3AD203B41FA5}">
                      <a16:colId xmlns:a16="http://schemas.microsoft.com/office/drawing/2014/main" val="1962310602"/>
                    </a:ext>
                  </a:extLst>
                </a:gridCol>
                <a:gridCol w="1341437">
                  <a:extLst>
                    <a:ext uri="{9D8B030D-6E8A-4147-A177-3AD203B41FA5}">
                      <a16:colId xmlns:a16="http://schemas.microsoft.com/office/drawing/2014/main" val="2468807979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787157491"/>
                    </a:ext>
                  </a:extLst>
                </a:gridCol>
              </a:tblGrid>
              <a:tr h="382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ro-RO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r>
                        <a:rPr kumimoji="0" lang="ro-RO" altLang="ro-RO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Partide și alianțe </a:t>
                      </a:r>
                      <a:endParaRPr kumimoji="0" lang="ro-RO" altLang="ro-RO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ro-RO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kumimoji="0" lang="ro-RO" altLang="ro-RO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oturi</a:t>
                      </a:r>
                      <a:r>
                        <a:rPr kumimoji="0" lang="ro-RO" altLang="ro-RO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endParaRPr kumimoji="0" lang="ro-RO" altLang="ro-RO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  <a:endParaRPr kumimoji="0" lang="ro-RO" altLang="ro-RO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Locuri </a:t>
                      </a:r>
                      <a:endParaRPr kumimoji="0" lang="ro-RO" altLang="ro-RO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  <a:endParaRPr kumimoji="0" lang="ro-RO" altLang="ro-RO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880113"/>
                  </a:ext>
                </a:extLst>
              </a:tr>
              <a:tr h="382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Noua Alianță Flamandă (NVA)</a:t>
                      </a:r>
                      <a:endParaRPr kumimoji="0" lang="ro-RO" altLang="ro-RO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1 086 787 </a:t>
                      </a:r>
                      <a:endParaRPr kumimoji="0" lang="ro-RO" altLang="ro-RO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16,03</a:t>
                      </a:r>
                      <a:endParaRPr kumimoji="0" lang="ro-RO" altLang="ro-RO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kumimoji="0" lang="ro-RO" altLang="ro-RO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16,6</a:t>
                      </a:r>
                      <a:endParaRPr kumimoji="0" lang="ro-RO" altLang="ro-RO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792302"/>
                  </a:ext>
                </a:extLst>
              </a:tr>
              <a:tr h="341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Vlaams Belang </a:t>
                      </a:r>
                      <a:r>
                        <a:rPr kumimoji="0" lang="nl-NL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(VB) 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810 177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11,95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817526"/>
                  </a:ext>
                </a:extLst>
              </a:tr>
              <a:tr h="341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Partidul socialist (PS)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641 623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9,46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13,5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183239"/>
                  </a:ext>
                </a:extLst>
              </a:tr>
              <a:tr h="563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Creștin-democrații flamanzi (CD&amp;V)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602 520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8,89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038294"/>
                  </a:ext>
                </a:extLst>
              </a:tr>
              <a:tr h="563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Partidul Muncii din Belgia (PTB/PvdA)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584 621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8,62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457408"/>
                  </a:ext>
                </a:extLst>
              </a:tr>
              <a:tr h="661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Liberalii și Democrații Flamanzi Open Vlde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579 334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8,54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38157"/>
                  </a:ext>
                </a:extLst>
              </a:tr>
              <a:tr h="341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Mișcarea reformatoare (MR)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512 825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7,56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9,3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333011"/>
                  </a:ext>
                </a:extLst>
              </a:tr>
              <a:tr h="341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Socialiștii flamanzi (sp.a)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455 034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6,71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444425"/>
                  </a:ext>
                </a:extLst>
              </a:tr>
              <a:tr h="341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Ecolo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416 452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6,14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8,6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440138"/>
                  </a:ext>
                </a:extLst>
              </a:tr>
              <a:tr h="341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Gronen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413 836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6.10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5,4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076199"/>
                  </a:ext>
                </a:extLst>
              </a:tr>
              <a:tr h="341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CDH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250 861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3,70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3,3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68121"/>
                  </a:ext>
                </a:extLst>
              </a:tr>
              <a:tr h="341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DeFi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150 394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2.22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1,3</a:t>
                      </a:r>
                      <a:endParaRPr kumimoji="0" lang="ro-RO" altLang="ro-RO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4249913"/>
                  </a:ext>
                </a:extLst>
              </a:tr>
              <a:tr h="341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Prezența la vot </a:t>
                      </a:r>
                      <a:endParaRPr kumimoji="0" lang="ro-RO" altLang="ro-RO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7 218 633</a:t>
                      </a:r>
                      <a:endParaRPr kumimoji="0" lang="ro-RO" altLang="ro-RO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90,01 </a:t>
                      </a:r>
                      <a:endParaRPr kumimoji="0" lang="ro-RO" altLang="ro-RO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150</a:t>
                      </a:r>
                      <a:endParaRPr kumimoji="0" lang="ro-RO" altLang="ro-RO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100%</a:t>
                      </a:r>
                      <a:endParaRPr kumimoji="0" lang="ro-RO" altLang="ro-RO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622152"/>
                  </a:ext>
                </a:extLst>
              </a:tr>
              <a:tr h="341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Indice de disproporție</a:t>
                      </a: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16,2/2=8,1</a:t>
                      </a:r>
                    </a:p>
                  </a:txBody>
                  <a:tcPr marL="60283" marR="60283" marT="30141" marB="3014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4278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0E581DA6-FD2E-41D6-BF6B-D3E500240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o-RO" altLang="ro-RO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Repartizarea mandatelor prin metoda coeficientului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130BDF2-505A-4486-96DA-3CFAE3B881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4826" y="1981200"/>
            <a:ext cx="8893175" cy="4114800"/>
          </a:xfrm>
        </p:spPr>
        <p:txBody>
          <a:bodyPr/>
          <a:lstStyle/>
          <a:p>
            <a:pPr eaLnBrk="1" hangingPunct="1"/>
            <a:endParaRPr lang="ro-RO" altLang="ro-RO">
              <a:solidFill>
                <a:srgbClr val="000066"/>
              </a:solidFill>
            </a:endParaRPr>
          </a:p>
          <a:p>
            <a:pPr eaLnBrk="1" hangingPunct="1"/>
            <a:r>
              <a:rPr lang="ro-RO" altLang="ro-RO"/>
              <a:t>Coeficientul </a:t>
            </a:r>
            <a:r>
              <a:rPr lang="ro-RO" altLang="ro-RO">
                <a:solidFill>
                  <a:srgbClr val="000066"/>
                </a:solidFill>
              </a:rPr>
              <a:t>Hare : 	Q: V/S</a:t>
            </a:r>
          </a:p>
          <a:p>
            <a:pPr eaLnBrk="1" hangingPunct="1"/>
            <a:r>
              <a:rPr lang="ro-RO" altLang="ro-RO"/>
              <a:t>Coeficientul</a:t>
            </a:r>
            <a:r>
              <a:rPr lang="ro-RO" altLang="ro-RO">
                <a:solidFill>
                  <a:srgbClr val="000066"/>
                </a:solidFill>
              </a:rPr>
              <a:t> Hagenbach-Bischoff : Q = V/S + 1</a:t>
            </a:r>
          </a:p>
          <a:p>
            <a:pPr eaLnBrk="1" hangingPunct="1"/>
            <a:r>
              <a:rPr lang="ro-RO" altLang="ro-RO"/>
              <a:t>Coeficientul</a:t>
            </a:r>
            <a:r>
              <a:rPr lang="ro-RO" altLang="ro-RO">
                <a:solidFill>
                  <a:srgbClr val="000066"/>
                </a:solidFill>
              </a:rPr>
              <a:t> Imperiali : Q = V/S + 2</a:t>
            </a:r>
          </a:p>
          <a:p>
            <a:pPr eaLnBrk="1" hangingPunct="1"/>
            <a:r>
              <a:rPr lang="ro-RO" altLang="ro-RO"/>
              <a:t>Coeficientul</a:t>
            </a:r>
            <a:r>
              <a:rPr lang="ro-RO" altLang="ro-RO">
                <a:solidFill>
                  <a:srgbClr val="000066"/>
                </a:solidFill>
              </a:rPr>
              <a:t> Droop : Q = (V/(S + 1)) + 1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6051E1D4-B340-45EA-9032-0B07FEC302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4826" y="609600"/>
            <a:ext cx="8569325" cy="1143000"/>
          </a:xfrm>
        </p:spPr>
        <p:txBody>
          <a:bodyPr/>
          <a:lstStyle/>
          <a:p>
            <a:pPr eaLnBrk="1" hangingPunct="1"/>
            <a:r>
              <a:rPr lang="ro-RO" altLang="ro-RO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Coeficientul Hare și cel mai mare rest</a:t>
            </a:r>
            <a:r>
              <a:rPr lang="ro-RO" altLang="ro-RO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3F5A7C05-291F-4DDA-8FFF-363980E126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ro-RO" altLang="ro-RO" u="sng">
                <a:solidFill>
                  <a:srgbClr val="000066"/>
                </a:solidFill>
              </a:rPr>
              <a:t>4 partide și 10 locuri</a:t>
            </a:r>
            <a:br>
              <a:rPr lang="ro-RO" altLang="ro-RO">
                <a:solidFill>
                  <a:srgbClr val="000066"/>
                </a:solidFill>
              </a:rPr>
            </a:br>
            <a:endParaRPr lang="ro-RO" altLang="ro-RO">
              <a:solidFill>
                <a:srgbClr val="000066"/>
              </a:solidFill>
            </a:endParaRPr>
          </a:p>
          <a:p>
            <a:pPr algn="just" eaLnBrk="1" hangingPunct="1">
              <a:buFontTx/>
              <a:buNone/>
            </a:pPr>
            <a:r>
              <a:rPr lang="ro-RO" altLang="ro-RO">
                <a:solidFill>
                  <a:srgbClr val="000066"/>
                </a:solidFill>
              </a:rPr>
              <a:t>Partidul A a obținut  91 000 voturi </a:t>
            </a:r>
          </a:p>
          <a:p>
            <a:pPr algn="just" eaLnBrk="1" hangingPunct="1">
              <a:buFontTx/>
              <a:buNone/>
            </a:pPr>
            <a:r>
              <a:rPr lang="ro-RO" altLang="ro-RO">
                <a:solidFill>
                  <a:srgbClr val="000066"/>
                </a:solidFill>
              </a:rPr>
              <a:t>Partidul B a obținut 54 000 voturi </a:t>
            </a:r>
          </a:p>
          <a:p>
            <a:pPr algn="just" eaLnBrk="1" hangingPunct="1">
              <a:buFontTx/>
              <a:buNone/>
            </a:pPr>
            <a:r>
              <a:rPr lang="ro-RO" altLang="ro-RO">
                <a:solidFill>
                  <a:srgbClr val="000066"/>
                </a:solidFill>
              </a:rPr>
              <a:t>Partidul C a obținut 32 000 voturi </a:t>
            </a:r>
          </a:p>
          <a:p>
            <a:pPr eaLnBrk="1" hangingPunct="1">
              <a:buFontTx/>
              <a:buNone/>
            </a:pPr>
            <a:r>
              <a:rPr lang="ro-RO" altLang="ro-RO">
                <a:solidFill>
                  <a:srgbClr val="000066"/>
                </a:solidFill>
              </a:rPr>
              <a:t>Partidul D a obținut 25 000 voturi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00D7A1C3-AE0A-45E4-B71D-68F7612F2C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19289" y="457200"/>
            <a:ext cx="8353425" cy="599598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o-RO" altLang="ro-RO">
                <a:solidFill>
                  <a:srgbClr val="000066"/>
                </a:solidFill>
              </a:rPr>
              <a:t>Q = 202 000/10 deci </a:t>
            </a:r>
            <a:r>
              <a:rPr lang="ro-RO" altLang="ro-RO" b="1" u="sng">
                <a:solidFill>
                  <a:srgbClr val="000066"/>
                </a:solidFill>
              </a:rPr>
              <a:t>20 200</a:t>
            </a:r>
            <a:br>
              <a:rPr lang="ro-RO" altLang="ro-RO" b="1" u="sng">
                <a:solidFill>
                  <a:srgbClr val="000066"/>
                </a:solidFill>
              </a:rPr>
            </a:br>
            <a:r>
              <a:rPr lang="ro-RO" altLang="ro-RO">
                <a:solidFill>
                  <a:srgbClr val="000066"/>
                </a:solidFill>
              </a:rPr>
              <a:t>Repartiţia mandatelor: </a:t>
            </a:r>
          </a:p>
          <a:p>
            <a:pPr eaLnBrk="1" hangingPunct="1">
              <a:buFontTx/>
              <a:buNone/>
            </a:pPr>
            <a:r>
              <a:rPr lang="ro-RO" altLang="ro-RO">
                <a:solidFill>
                  <a:srgbClr val="000066"/>
                </a:solidFill>
              </a:rPr>
              <a:t>A = 91 000/20 200 = 4,5 (4 = 80 800 voturi). Restul : 91 000 – 80 800 = </a:t>
            </a:r>
            <a:r>
              <a:rPr lang="ro-RO" altLang="ro-RO" u="sng">
                <a:solidFill>
                  <a:srgbClr val="000066"/>
                </a:solidFill>
              </a:rPr>
              <a:t>10 200 </a:t>
            </a:r>
            <a:r>
              <a:rPr lang="ro-RO" altLang="ro-RO">
                <a:solidFill>
                  <a:srgbClr val="000066"/>
                </a:solidFill>
              </a:rPr>
              <a:t>voturi.</a:t>
            </a:r>
          </a:p>
          <a:p>
            <a:pPr algn="just" eaLnBrk="1" hangingPunct="1">
              <a:buFontTx/>
              <a:buNone/>
            </a:pPr>
            <a:r>
              <a:rPr lang="ro-RO" altLang="ro-RO">
                <a:solidFill>
                  <a:srgbClr val="000066"/>
                </a:solidFill>
              </a:rPr>
              <a:t>B = 54 000/20 200 = 2,6 (2 = 40 400 v voturi). Restul : 54 000 – 40 400 = </a:t>
            </a:r>
            <a:r>
              <a:rPr lang="ro-RO" altLang="ro-RO" u="sng">
                <a:solidFill>
                  <a:srgbClr val="000066"/>
                </a:solidFill>
              </a:rPr>
              <a:t>13 600 </a:t>
            </a:r>
            <a:r>
              <a:rPr lang="ro-RO" altLang="ro-RO">
                <a:solidFill>
                  <a:srgbClr val="000066"/>
                </a:solidFill>
              </a:rPr>
              <a:t>voturi.</a:t>
            </a:r>
          </a:p>
          <a:p>
            <a:pPr algn="just" eaLnBrk="1" hangingPunct="1">
              <a:buFontTx/>
              <a:buNone/>
            </a:pPr>
            <a:r>
              <a:rPr lang="ro-RO" altLang="ro-RO">
                <a:solidFill>
                  <a:srgbClr val="000066"/>
                </a:solidFill>
              </a:rPr>
              <a:t>C = 32 000/20 200 = 1,5 (1 = 20 200 voturi). Restul 32 000 – 20 200 = </a:t>
            </a:r>
            <a:r>
              <a:rPr lang="ro-RO" altLang="ro-RO" u="sng">
                <a:solidFill>
                  <a:srgbClr val="000066"/>
                </a:solidFill>
              </a:rPr>
              <a:t>11 800  </a:t>
            </a:r>
            <a:r>
              <a:rPr lang="ro-RO" altLang="ro-RO">
                <a:solidFill>
                  <a:srgbClr val="000066"/>
                </a:solidFill>
              </a:rPr>
              <a:t>voturi.</a:t>
            </a:r>
          </a:p>
          <a:p>
            <a:pPr algn="just" eaLnBrk="1" hangingPunct="1">
              <a:buFontTx/>
              <a:buNone/>
            </a:pPr>
            <a:r>
              <a:rPr lang="ro-RO" altLang="ro-RO">
                <a:solidFill>
                  <a:srgbClr val="000066"/>
                </a:solidFill>
              </a:rPr>
              <a:t>D = 25 000/20 200 = 1,2 (1 = 20 200 voturi). Restul 25 000 – 20 200 = </a:t>
            </a:r>
            <a:r>
              <a:rPr lang="ro-RO" altLang="ro-RO" u="sng">
                <a:solidFill>
                  <a:srgbClr val="000066"/>
                </a:solidFill>
              </a:rPr>
              <a:t>4 800 </a:t>
            </a:r>
            <a:r>
              <a:rPr lang="ro-RO" altLang="ro-RO">
                <a:solidFill>
                  <a:srgbClr val="000066"/>
                </a:solidFill>
              </a:rPr>
              <a:t>voturi.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D4E44628-F1D9-4FE8-A1D9-6B020E6A53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304800"/>
            <a:ext cx="7772400" cy="5867400"/>
          </a:xfrm>
        </p:spPr>
        <p:txBody>
          <a:bodyPr/>
          <a:lstStyle/>
          <a:p>
            <a:pPr eaLnBrk="1" hangingPunct="1"/>
            <a:endParaRPr lang="ro-RO" altLang="ro-RO"/>
          </a:p>
          <a:p>
            <a:pPr eaLnBrk="1" hangingPunct="1"/>
            <a:r>
              <a:rPr lang="ro-RO" altLang="ro-RO">
                <a:solidFill>
                  <a:srgbClr val="000066"/>
                </a:solidFill>
              </a:rPr>
              <a:t>A : (4) 10 200  voturi. =&gt; 4 (40%)</a:t>
            </a:r>
          </a:p>
          <a:p>
            <a:pPr eaLnBrk="1" hangingPunct="1"/>
            <a:r>
              <a:rPr lang="ro-RO" altLang="ro-RO">
                <a:solidFill>
                  <a:srgbClr val="000066"/>
                </a:solidFill>
              </a:rPr>
              <a:t>B : (2) </a:t>
            </a:r>
            <a:r>
              <a:rPr lang="ro-RO" altLang="ro-RO" b="1" u="sng">
                <a:solidFill>
                  <a:srgbClr val="000066"/>
                </a:solidFill>
              </a:rPr>
              <a:t>13 600  </a:t>
            </a:r>
            <a:r>
              <a:rPr lang="ro-RO" altLang="ro-RO">
                <a:solidFill>
                  <a:srgbClr val="000066"/>
                </a:solidFill>
              </a:rPr>
              <a:t>voturi</a:t>
            </a:r>
            <a:r>
              <a:rPr lang="ro-RO" altLang="ro-RO" b="1" u="sng">
                <a:solidFill>
                  <a:srgbClr val="000066"/>
                </a:solidFill>
              </a:rPr>
              <a:t> (1)</a:t>
            </a:r>
            <a:r>
              <a:rPr lang="ro-RO" altLang="ro-RO">
                <a:solidFill>
                  <a:srgbClr val="000066"/>
                </a:solidFill>
              </a:rPr>
              <a:t>. =&gt; 3 (30%)</a:t>
            </a:r>
          </a:p>
          <a:p>
            <a:pPr eaLnBrk="1" hangingPunct="1"/>
            <a:r>
              <a:rPr lang="ro-RO" altLang="ro-RO">
                <a:solidFill>
                  <a:srgbClr val="000066"/>
                </a:solidFill>
              </a:rPr>
              <a:t>C : (1) </a:t>
            </a:r>
            <a:r>
              <a:rPr lang="ro-RO" altLang="ro-RO" b="1" u="sng">
                <a:solidFill>
                  <a:srgbClr val="000066"/>
                </a:solidFill>
              </a:rPr>
              <a:t>11 800  </a:t>
            </a:r>
            <a:r>
              <a:rPr lang="ro-RO" altLang="ro-RO">
                <a:solidFill>
                  <a:srgbClr val="000066"/>
                </a:solidFill>
              </a:rPr>
              <a:t>voturi</a:t>
            </a:r>
            <a:r>
              <a:rPr lang="ro-RO" altLang="ro-RO" b="1" u="sng">
                <a:solidFill>
                  <a:srgbClr val="000066"/>
                </a:solidFill>
              </a:rPr>
              <a:t> (2</a:t>
            </a:r>
            <a:r>
              <a:rPr lang="ro-RO" altLang="ro-RO">
                <a:solidFill>
                  <a:srgbClr val="000066"/>
                </a:solidFill>
              </a:rPr>
              <a:t>). =&gt; 2 (20%)</a:t>
            </a:r>
          </a:p>
          <a:p>
            <a:pPr eaLnBrk="1" hangingPunct="1"/>
            <a:r>
              <a:rPr lang="ro-RO" altLang="ro-RO">
                <a:solidFill>
                  <a:srgbClr val="000066"/>
                </a:solidFill>
              </a:rPr>
              <a:t>D : (1) 4 800    voturi =&gt; 1 (10%)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0B5AF0B2-E730-4B88-A9F4-2E6A6BDC01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609600"/>
            <a:ext cx="8134350" cy="1143000"/>
          </a:xfrm>
        </p:spPr>
        <p:txBody>
          <a:bodyPr/>
          <a:lstStyle/>
          <a:p>
            <a:pPr eaLnBrk="1" hangingPunct="1"/>
            <a:r>
              <a:rPr lang="ro-RO" altLang="ro-RO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Coeficientul Hare și cea mai mare medie 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574A1B4-F130-4313-9E68-76FA5FE78C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o-RO" altLang="ro-RO">
                <a:solidFill>
                  <a:srgbClr val="000066"/>
                </a:solidFill>
              </a:rPr>
              <a:t>Etapele stabilirii coeficientului </a:t>
            </a:r>
          </a:p>
          <a:p>
            <a:pPr algn="just" eaLnBrk="1" hangingPunct="1">
              <a:buFontTx/>
              <a:buNone/>
            </a:pPr>
            <a:r>
              <a:rPr lang="ro-RO" altLang="ro-RO" i="1">
                <a:solidFill>
                  <a:srgbClr val="000066"/>
                </a:solidFill>
              </a:rPr>
              <a:t>Atribuirea unui al nouălea loc V/S+1</a:t>
            </a:r>
            <a:endParaRPr lang="ro-RO" altLang="ro-RO">
              <a:solidFill>
                <a:srgbClr val="000066"/>
              </a:solidFill>
            </a:endParaRPr>
          </a:p>
          <a:p>
            <a:pPr algn="just" eaLnBrk="1" hangingPunct="1"/>
            <a:r>
              <a:rPr lang="ro-RO" altLang="ro-RO">
                <a:solidFill>
                  <a:srgbClr val="0099FF"/>
                </a:solidFill>
              </a:rPr>
              <a:t>Lista A = 91 000/4+1 = </a:t>
            </a:r>
            <a:r>
              <a:rPr lang="ro-RO" altLang="ro-RO" b="1" u="sng">
                <a:solidFill>
                  <a:srgbClr val="0099FF"/>
                </a:solidFill>
              </a:rPr>
              <a:t>18 200</a:t>
            </a:r>
            <a:endParaRPr lang="ro-RO" altLang="ro-RO" u="sng">
              <a:solidFill>
                <a:srgbClr val="0099FF"/>
              </a:solidFill>
            </a:endParaRPr>
          </a:p>
          <a:p>
            <a:pPr algn="just" eaLnBrk="1" hangingPunct="1"/>
            <a:r>
              <a:rPr lang="ro-RO" altLang="ro-RO">
                <a:solidFill>
                  <a:srgbClr val="99CC00"/>
                </a:solidFill>
              </a:rPr>
              <a:t>Lista B = 54 000/2+1 = 18 000</a:t>
            </a:r>
          </a:p>
          <a:p>
            <a:pPr algn="just" eaLnBrk="1" hangingPunct="1"/>
            <a:r>
              <a:rPr lang="ro-RO" altLang="ro-RO">
                <a:solidFill>
                  <a:schemeClr val="hlink"/>
                </a:solidFill>
              </a:rPr>
              <a:t>Lista C = 32 000/1+1 = 16 000</a:t>
            </a:r>
          </a:p>
          <a:p>
            <a:pPr algn="just" eaLnBrk="1" hangingPunct="1"/>
            <a:r>
              <a:rPr lang="ro-RO" altLang="ro-RO">
                <a:solidFill>
                  <a:srgbClr val="FF9900"/>
                </a:solidFill>
              </a:rPr>
              <a:t>Lista D = 25 000/1+1 = 12 500</a:t>
            </a:r>
          </a:p>
          <a:p>
            <a:pPr eaLnBrk="1" hangingPunct="1"/>
            <a:endParaRPr lang="ro-RO" altLang="ro-RO">
              <a:solidFill>
                <a:srgbClr val="FF99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C23EB037-3661-47CB-A063-16E9524B24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533400"/>
            <a:ext cx="7772400" cy="5562600"/>
          </a:xfrm>
        </p:spPr>
        <p:txBody>
          <a:bodyPr/>
          <a:lstStyle/>
          <a:p>
            <a:pPr algn="just" eaLnBrk="1" hangingPunct="1"/>
            <a:r>
              <a:rPr lang="ro-RO" altLang="ro-RO" i="1"/>
              <a:t>Atribuirea celui de al zecelea loc V/S+1</a:t>
            </a:r>
          </a:p>
          <a:p>
            <a:pPr algn="just" eaLnBrk="1" hangingPunct="1"/>
            <a:endParaRPr lang="ro-RO" altLang="ro-RO"/>
          </a:p>
          <a:p>
            <a:pPr algn="just" eaLnBrk="1" hangingPunct="1"/>
            <a:r>
              <a:rPr lang="ro-RO" altLang="ro-RO" b="1">
                <a:solidFill>
                  <a:srgbClr val="0099FF"/>
                </a:solidFill>
              </a:rPr>
              <a:t>Lista A = 91 000/5+1 = 15 166</a:t>
            </a:r>
          </a:p>
          <a:p>
            <a:pPr algn="just" eaLnBrk="1" hangingPunct="1"/>
            <a:r>
              <a:rPr lang="ro-RO" altLang="ro-RO" b="1">
                <a:solidFill>
                  <a:schemeClr val="accent1"/>
                </a:solidFill>
              </a:rPr>
              <a:t>Lista B = 54 000/2+1 = </a:t>
            </a:r>
            <a:r>
              <a:rPr lang="ro-RO" altLang="ro-RO" b="1" u="sng">
                <a:solidFill>
                  <a:schemeClr val="accent1"/>
                </a:solidFill>
              </a:rPr>
              <a:t>18 000</a:t>
            </a:r>
          </a:p>
          <a:p>
            <a:pPr algn="just" eaLnBrk="1" hangingPunct="1"/>
            <a:r>
              <a:rPr lang="ro-RO" altLang="ro-RO" b="1">
                <a:solidFill>
                  <a:schemeClr val="hlink"/>
                </a:solidFill>
              </a:rPr>
              <a:t>Lista C = 32 000/1+1 = 16 000</a:t>
            </a:r>
          </a:p>
          <a:p>
            <a:pPr eaLnBrk="1" hangingPunct="1"/>
            <a:r>
              <a:rPr lang="ro-RO" altLang="ro-RO" b="1">
                <a:solidFill>
                  <a:srgbClr val="FF9900"/>
                </a:solidFill>
              </a:rPr>
              <a:t>Lista D = 25 000/1+1 = 12 500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78FD4CE5-027C-49CC-A5F9-EB73C7859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3439" y="4094164"/>
            <a:ext cx="3270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bg-BG" altLang="ro-RO">
              <a:solidFill>
                <a:srgbClr val="99CC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75BFE5ED-D4DD-4BE0-89A9-633B0ACAF7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381000"/>
            <a:ext cx="7772400" cy="5715000"/>
          </a:xfrm>
        </p:spPr>
        <p:txBody>
          <a:bodyPr/>
          <a:lstStyle/>
          <a:p>
            <a:pPr algn="just" eaLnBrk="1" hangingPunct="1"/>
            <a:endParaRPr lang="ro-RO" altLang="ro-RO"/>
          </a:p>
          <a:p>
            <a:pPr algn="just" eaLnBrk="1" hangingPunct="1"/>
            <a:r>
              <a:rPr lang="ro-RO" altLang="ro-RO">
                <a:solidFill>
                  <a:srgbClr val="000066"/>
                </a:solidFill>
              </a:rPr>
              <a:t>Lista A : 5 locuri	</a:t>
            </a:r>
            <a:r>
              <a:rPr lang="ro-RO" altLang="ro-RO">
                <a:solidFill>
                  <a:srgbClr val="000066"/>
                </a:solidFill>
                <a:sym typeface="Wingdings" panose="05000000000000000000" pitchFamily="2" charset="2"/>
              </a:rPr>
              <a:t></a:t>
            </a:r>
            <a:r>
              <a:rPr lang="ro-RO" altLang="ro-RO">
                <a:solidFill>
                  <a:srgbClr val="000066"/>
                </a:solidFill>
              </a:rPr>
              <a:t> 50% locuri</a:t>
            </a:r>
          </a:p>
          <a:p>
            <a:pPr algn="just" eaLnBrk="1" hangingPunct="1"/>
            <a:r>
              <a:rPr lang="ro-RO" altLang="ro-RO">
                <a:solidFill>
                  <a:srgbClr val="000066"/>
                </a:solidFill>
              </a:rPr>
              <a:t>Lista B : 3 locuri 	</a:t>
            </a:r>
            <a:r>
              <a:rPr lang="ro-RO" altLang="ro-RO">
                <a:solidFill>
                  <a:srgbClr val="000066"/>
                </a:solidFill>
                <a:sym typeface="Wingdings" panose="05000000000000000000" pitchFamily="2" charset="2"/>
              </a:rPr>
              <a:t></a:t>
            </a:r>
            <a:r>
              <a:rPr lang="ro-RO" altLang="ro-RO">
                <a:solidFill>
                  <a:srgbClr val="000066"/>
                </a:solidFill>
              </a:rPr>
              <a:t> 30% locuri</a:t>
            </a:r>
          </a:p>
          <a:p>
            <a:pPr algn="just" eaLnBrk="1" hangingPunct="1"/>
            <a:r>
              <a:rPr lang="ro-RO" altLang="ro-RO">
                <a:solidFill>
                  <a:srgbClr val="000066"/>
                </a:solidFill>
              </a:rPr>
              <a:t>Lista C : 1 loc 	</a:t>
            </a:r>
            <a:r>
              <a:rPr lang="ro-RO" altLang="ro-RO">
                <a:solidFill>
                  <a:srgbClr val="000066"/>
                </a:solidFill>
                <a:sym typeface="Wingdings" panose="05000000000000000000" pitchFamily="2" charset="2"/>
              </a:rPr>
              <a:t></a:t>
            </a:r>
            <a:r>
              <a:rPr lang="ro-RO" altLang="ro-RO">
                <a:solidFill>
                  <a:srgbClr val="000066"/>
                </a:solidFill>
              </a:rPr>
              <a:t> 10% locuri</a:t>
            </a:r>
          </a:p>
          <a:p>
            <a:pPr eaLnBrk="1" hangingPunct="1"/>
            <a:r>
              <a:rPr lang="ro-RO" altLang="ro-RO">
                <a:solidFill>
                  <a:srgbClr val="000066"/>
                </a:solidFill>
              </a:rPr>
              <a:t>Lista D : 1 loc 	</a:t>
            </a:r>
            <a:r>
              <a:rPr lang="ro-RO" altLang="ro-RO">
                <a:solidFill>
                  <a:srgbClr val="000066"/>
                </a:solidFill>
                <a:sym typeface="Wingdings" panose="05000000000000000000" pitchFamily="2" charset="2"/>
              </a:rPr>
              <a:t></a:t>
            </a:r>
            <a:r>
              <a:rPr lang="ro-RO" altLang="ro-RO">
                <a:solidFill>
                  <a:srgbClr val="000066"/>
                </a:solidFill>
              </a:rPr>
              <a:t> 10% locuri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8455E07A-87E2-47F8-9FE7-A9CB09B951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altLang="ro-RO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Importanţa magnitudinii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98F7FE44-E5BA-4BA2-B655-72B1395C4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o-RO" altLang="ro-RO" dirty="0">
                <a:solidFill>
                  <a:srgbClr val="000066"/>
                </a:solidFill>
              </a:rPr>
              <a:t>Același exemplu : 5 locuri</a:t>
            </a:r>
            <a:br>
              <a:rPr lang="ro-RO" altLang="ro-RO" dirty="0">
                <a:solidFill>
                  <a:srgbClr val="000066"/>
                </a:solidFill>
              </a:rPr>
            </a:br>
            <a:r>
              <a:rPr lang="ro-RO" altLang="ro-RO" dirty="0">
                <a:solidFill>
                  <a:srgbClr val="000066"/>
                </a:solidFill>
              </a:rPr>
              <a:t>coeficientul = 40.500</a:t>
            </a:r>
          </a:p>
          <a:p>
            <a:pPr algn="just" eaLnBrk="1" hangingPunct="1"/>
            <a:r>
              <a:rPr lang="ro-RO" altLang="ro-RO" dirty="0">
                <a:solidFill>
                  <a:srgbClr val="000066"/>
                </a:solidFill>
              </a:rPr>
              <a:t>Lista A = 91 000/40 500 = 2,2 =&gt; 2 locuri</a:t>
            </a:r>
            <a:br>
              <a:rPr lang="ro-RO" altLang="ro-RO" dirty="0">
                <a:solidFill>
                  <a:srgbClr val="000066"/>
                </a:solidFill>
              </a:rPr>
            </a:br>
            <a:r>
              <a:rPr lang="ro-RO" altLang="ro-RO" dirty="0">
                <a:solidFill>
                  <a:srgbClr val="000066"/>
                </a:solidFill>
              </a:rPr>
              <a:t>Lista B = 54 000/40 500 = 1,3 =&gt; 1 locuri</a:t>
            </a:r>
            <a:br>
              <a:rPr lang="ro-RO" altLang="ro-RO" dirty="0">
                <a:solidFill>
                  <a:srgbClr val="000066"/>
                </a:solidFill>
              </a:rPr>
            </a:br>
            <a:r>
              <a:rPr lang="ro-RO" altLang="ro-RO" dirty="0">
                <a:solidFill>
                  <a:srgbClr val="000066"/>
                </a:solidFill>
              </a:rPr>
              <a:t>Lista C = 32 000/40 500 = 0,0 =&gt; 0 locuri</a:t>
            </a:r>
            <a:br>
              <a:rPr lang="ro-RO" altLang="ro-RO" dirty="0">
                <a:solidFill>
                  <a:srgbClr val="000066"/>
                </a:solidFill>
              </a:rPr>
            </a:br>
            <a:r>
              <a:rPr lang="ro-RO" altLang="ro-RO" dirty="0">
                <a:solidFill>
                  <a:srgbClr val="000066"/>
                </a:solidFill>
              </a:rPr>
              <a:t>Lista D = 25 000/40 500 = 0,0 =&gt; 0 locuri</a:t>
            </a:r>
            <a:br>
              <a:rPr lang="ro-RO" altLang="ro-RO" dirty="0">
                <a:solidFill>
                  <a:srgbClr val="000066"/>
                </a:solidFill>
              </a:rPr>
            </a:br>
            <a:endParaRPr lang="ro-RO" altLang="ro-RO" dirty="0">
              <a:solidFill>
                <a:srgbClr val="00006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2D40CB0D-6675-4BAE-910B-14604103C5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533400"/>
            <a:ext cx="7772400" cy="5562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o-RO" altLang="ro-RO" dirty="0">
                <a:solidFill>
                  <a:srgbClr val="000066"/>
                </a:solidFill>
              </a:rPr>
              <a:t>Atribuirea celui de al patrulea loc:</a:t>
            </a:r>
            <a:br>
              <a:rPr lang="ro-RO" altLang="ro-RO" dirty="0">
                <a:solidFill>
                  <a:srgbClr val="000066"/>
                </a:solidFill>
              </a:rPr>
            </a:br>
            <a:r>
              <a:rPr lang="ro-RO" altLang="ro-RO" dirty="0">
                <a:solidFill>
                  <a:srgbClr val="000066"/>
                </a:solidFill>
              </a:rPr>
              <a:t>Lista A = 91 000/2+1= 30.333</a:t>
            </a:r>
            <a:br>
              <a:rPr lang="ro-RO" altLang="ro-RO" dirty="0">
                <a:solidFill>
                  <a:srgbClr val="000066"/>
                </a:solidFill>
              </a:rPr>
            </a:br>
            <a:r>
              <a:rPr lang="ro-RO" altLang="ro-RO" dirty="0">
                <a:solidFill>
                  <a:srgbClr val="000066"/>
                </a:solidFill>
              </a:rPr>
              <a:t>Lista B = 54 000/1+1= 27.000</a:t>
            </a:r>
            <a:br>
              <a:rPr lang="ro-RO" altLang="ro-RO" dirty="0">
                <a:solidFill>
                  <a:srgbClr val="000066"/>
                </a:solidFill>
              </a:rPr>
            </a:br>
            <a:r>
              <a:rPr lang="ro-RO" altLang="ro-RO" dirty="0">
                <a:solidFill>
                  <a:srgbClr val="000066"/>
                </a:solidFill>
              </a:rPr>
              <a:t>Lista C = 32 000/0+1= </a:t>
            </a:r>
            <a:r>
              <a:rPr lang="ro-RO" altLang="ro-RO" b="1" dirty="0">
                <a:solidFill>
                  <a:srgbClr val="000066"/>
                </a:solidFill>
              </a:rPr>
              <a:t>32.000</a:t>
            </a:r>
            <a:br>
              <a:rPr lang="ro-RO" altLang="ro-RO" b="1" dirty="0">
                <a:solidFill>
                  <a:srgbClr val="000066"/>
                </a:solidFill>
              </a:rPr>
            </a:br>
            <a:r>
              <a:rPr lang="ro-RO" altLang="ro-RO" dirty="0">
                <a:solidFill>
                  <a:srgbClr val="000066"/>
                </a:solidFill>
              </a:rPr>
              <a:t>Lista D = 25 000/0+1= 25.000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 dirty="0">
                <a:solidFill>
                  <a:srgbClr val="000066"/>
                </a:solidFill>
              </a:rPr>
              <a:t>Atribuirea celui de al cincilea loc</a:t>
            </a:r>
            <a:br>
              <a:rPr lang="ro-RO" altLang="ro-RO" dirty="0">
                <a:solidFill>
                  <a:srgbClr val="000066"/>
                </a:solidFill>
              </a:rPr>
            </a:br>
            <a:r>
              <a:rPr lang="ro-RO" altLang="ro-RO" dirty="0">
                <a:solidFill>
                  <a:srgbClr val="000066"/>
                </a:solidFill>
              </a:rPr>
              <a:t>Liste A = 91 000/2+1= </a:t>
            </a:r>
            <a:r>
              <a:rPr lang="ro-RO" altLang="ro-RO" b="1" dirty="0">
                <a:solidFill>
                  <a:srgbClr val="000066"/>
                </a:solidFill>
              </a:rPr>
              <a:t>30 333</a:t>
            </a:r>
            <a:br>
              <a:rPr lang="ro-RO" altLang="ro-RO" b="1" dirty="0">
                <a:solidFill>
                  <a:srgbClr val="000066"/>
                </a:solidFill>
              </a:rPr>
            </a:br>
            <a:r>
              <a:rPr lang="ro-RO" altLang="ro-RO" dirty="0">
                <a:solidFill>
                  <a:srgbClr val="000066"/>
                </a:solidFill>
              </a:rPr>
              <a:t>Liste B = 54 000/1+1= 27 000</a:t>
            </a:r>
            <a:br>
              <a:rPr lang="ro-RO" altLang="ro-RO" dirty="0">
                <a:solidFill>
                  <a:srgbClr val="000066"/>
                </a:solidFill>
              </a:rPr>
            </a:br>
            <a:r>
              <a:rPr lang="ro-RO" altLang="ro-RO" dirty="0">
                <a:solidFill>
                  <a:srgbClr val="000066"/>
                </a:solidFill>
              </a:rPr>
              <a:t>Liste C = 32 000/1+1= 16 000</a:t>
            </a:r>
            <a:br>
              <a:rPr lang="ro-RO" altLang="ro-RO" dirty="0">
                <a:solidFill>
                  <a:srgbClr val="000066"/>
                </a:solidFill>
              </a:rPr>
            </a:br>
            <a:r>
              <a:rPr lang="ro-RO" altLang="ro-RO" dirty="0">
                <a:solidFill>
                  <a:srgbClr val="000066"/>
                </a:solidFill>
              </a:rPr>
              <a:t>Liste D = 25 000/0+1= 25 000</a:t>
            </a:r>
            <a:br>
              <a:rPr lang="ro-RO" altLang="ro-RO" dirty="0"/>
            </a:br>
            <a:br>
              <a:rPr lang="ro-RO" altLang="ro-RO" dirty="0"/>
            </a:br>
            <a:br>
              <a:rPr lang="ro-RO" altLang="ro-RO" dirty="0"/>
            </a:br>
            <a:endParaRPr lang="ro-RO" altLang="ro-RO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4269CFAA-4D15-473A-82A1-BA87BD1DB8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457200"/>
            <a:ext cx="7772400" cy="5638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ro-RO" altLang="ro-RO" dirty="0">
                <a:solidFill>
                  <a:srgbClr val="000066"/>
                </a:solidFill>
              </a:rPr>
              <a:t>Lista A = 3 locuri	</a:t>
            </a:r>
            <a:r>
              <a:rPr lang="ro-RO" altLang="ro-RO" dirty="0">
                <a:solidFill>
                  <a:srgbClr val="000066"/>
                </a:solidFill>
                <a:sym typeface="Wingdings" panose="05000000000000000000" pitchFamily="2" charset="2"/>
              </a:rPr>
              <a:t></a:t>
            </a:r>
            <a:r>
              <a:rPr lang="ro-RO" altLang="ro-RO" dirty="0">
                <a:solidFill>
                  <a:srgbClr val="000066"/>
                </a:solidFill>
              </a:rPr>
              <a:t> 60% des locuri </a:t>
            </a:r>
          </a:p>
          <a:p>
            <a:pPr algn="just" eaLnBrk="1" hangingPunct="1">
              <a:lnSpc>
                <a:spcPct val="90000"/>
              </a:lnSpc>
            </a:pPr>
            <a:r>
              <a:rPr lang="ro-RO" altLang="ro-RO" dirty="0">
                <a:solidFill>
                  <a:srgbClr val="000066"/>
                </a:solidFill>
              </a:rPr>
              <a:t>Lista B = 1 locuri 	</a:t>
            </a:r>
            <a:r>
              <a:rPr lang="ro-RO" altLang="ro-RO" dirty="0">
                <a:solidFill>
                  <a:srgbClr val="000066"/>
                </a:solidFill>
                <a:sym typeface="Wingdings" panose="05000000000000000000" pitchFamily="2" charset="2"/>
              </a:rPr>
              <a:t></a:t>
            </a:r>
            <a:r>
              <a:rPr lang="ro-RO" altLang="ro-RO" dirty="0">
                <a:solidFill>
                  <a:srgbClr val="000066"/>
                </a:solidFill>
              </a:rPr>
              <a:t> 20% des locuri </a:t>
            </a:r>
          </a:p>
          <a:p>
            <a:pPr algn="just" eaLnBrk="1" hangingPunct="1">
              <a:lnSpc>
                <a:spcPct val="90000"/>
              </a:lnSpc>
            </a:pPr>
            <a:r>
              <a:rPr lang="ro-RO" altLang="ro-RO" dirty="0">
                <a:solidFill>
                  <a:srgbClr val="000066"/>
                </a:solidFill>
              </a:rPr>
              <a:t>Lista C = 1 locuri 	</a:t>
            </a:r>
            <a:r>
              <a:rPr lang="ro-RO" altLang="ro-RO" dirty="0">
                <a:solidFill>
                  <a:srgbClr val="000066"/>
                </a:solidFill>
                <a:sym typeface="Wingdings" panose="05000000000000000000" pitchFamily="2" charset="2"/>
              </a:rPr>
              <a:t></a:t>
            </a:r>
            <a:r>
              <a:rPr lang="ro-RO" altLang="ro-RO" dirty="0">
                <a:solidFill>
                  <a:srgbClr val="000066"/>
                </a:solidFill>
              </a:rPr>
              <a:t> 20% des locuri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 dirty="0">
                <a:solidFill>
                  <a:srgbClr val="000066"/>
                </a:solidFill>
              </a:rPr>
              <a:t>Lista D = 0 locuri 	</a:t>
            </a:r>
            <a:r>
              <a:rPr lang="ro-RO" altLang="ro-RO" dirty="0">
                <a:solidFill>
                  <a:srgbClr val="000066"/>
                </a:solidFill>
                <a:sym typeface="Wingdings" panose="05000000000000000000" pitchFamily="2" charset="2"/>
              </a:rPr>
              <a:t></a:t>
            </a:r>
            <a:r>
              <a:rPr lang="ro-RO" altLang="ro-RO" dirty="0">
                <a:solidFill>
                  <a:srgbClr val="000066"/>
                </a:solidFill>
              </a:rPr>
              <a:t> 00% des locuri </a:t>
            </a:r>
            <a:br>
              <a:rPr lang="ro-RO" altLang="ro-RO" dirty="0">
                <a:solidFill>
                  <a:srgbClr val="000066"/>
                </a:solidFill>
              </a:rPr>
            </a:br>
            <a:br>
              <a:rPr lang="ro-RO" altLang="ro-RO" dirty="0">
                <a:solidFill>
                  <a:srgbClr val="000066"/>
                </a:solidFill>
              </a:rPr>
            </a:br>
            <a:r>
              <a:rPr lang="ro-RO" altLang="ro-RO" dirty="0">
                <a:solidFill>
                  <a:srgbClr val="000066"/>
                </a:solidFill>
              </a:rPr>
              <a:t>Dacă ar fi fost de distribuit 20 de locuri situația s-ar fi prezentat astfel: </a:t>
            </a:r>
            <a:br>
              <a:rPr lang="ro-RO" altLang="ro-RO" dirty="0">
                <a:solidFill>
                  <a:srgbClr val="000066"/>
                </a:solidFill>
              </a:rPr>
            </a:br>
            <a:r>
              <a:rPr lang="ro-RO" altLang="ro-RO" dirty="0">
                <a:solidFill>
                  <a:srgbClr val="000066"/>
                </a:solidFill>
              </a:rPr>
              <a:t>Lista A : 10 locuri 	</a:t>
            </a:r>
            <a:r>
              <a:rPr lang="ro-RO" altLang="ro-RO" dirty="0">
                <a:solidFill>
                  <a:srgbClr val="000066"/>
                </a:solidFill>
                <a:sym typeface="Wingdings" panose="05000000000000000000" pitchFamily="2" charset="2"/>
              </a:rPr>
              <a:t></a:t>
            </a:r>
            <a:r>
              <a:rPr lang="ro-RO" altLang="ro-RO" dirty="0">
                <a:solidFill>
                  <a:srgbClr val="000066"/>
                </a:solidFill>
              </a:rPr>
              <a:t> 50% locuri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o-RO" altLang="ro-RO" dirty="0">
                <a:solidFill>
                  <a:srgbClr val="000066"/>
                </a:solidFill>
              </a:rPr>
              <a:t>	Lista B : 5 locuri 	</a:t>
            </a:r>
            <a:r>
              <a:rPr lang="ro-RO" altLang="ro-RO" dirty="0">
                <a:solidFill>
                  <a:srgbClr val="000066"/>
                </a:solidFill>
                <a:sym typeface="Wingdings" panose="05000000000000000000" pitchFamily="2" charset="2"/>
              </a:rPr>
              <a:t></a:t>
            </a:r>
            <a:r>
              <a:rPr lang="ro-RO" altLang="ro-RO" dirty="0">
                <a:solidFill>
                  <a:srgbClr val="000066"/>
                </a:solidFill>
              </a:rPr>
              <a:t> 25% locuri </a:t>
            </a:r>
            <a:br>
              <a:rPr lang="ro-RO" altLang="ro-RO" dirty="0">
                <a:solidFill>
                  <a:srgbClr val="000066"/>
                </a:solidFill>
              </a:rPr>
            </a:br>
            <a:r>
              <a:rPr lang="ro-RO" altLang="ro-RO" dirty="0">
                <a:solidFill>
                  <a:srgbClr val="000066"/>
                </a:solidFill>
              </a:rPr>
              <a:t>Lista C : 3 locuri 	</a:t>
            </a:r>
            <a:r>
              <a:rPr lang="ro-RO" altLang="ro-RO" dirty="0">
                <a:solidFill>
                  <a:srgbClr val="000066"/>
                </a:solidFill>
                <a:sym typeface="Wingdings" panose="05000000000000000000" pitchFamily="2" charset="2"/>
              </a:rPr>
              <a:t></a:t>
            </a:r>
            <a:r>
              <a:rPr lang="ro-RO" altLang="ro-RO" dirty="0">
                <a:solidFill>
                  <a:srgbClr val="000066"/>
                </a:solidFill>
              </a:rPr>
              <a:t> 15% locuri </a:t>
            </a:r>
            <a:br>
              <a:rPr lang="ro-RO" altLang="ro-RO" dirty="0">
                <a:solidFill>
                  <a:srgbClr val="000066"/>
                </a:solidFill>
              </a:rPr>
            </a:br>
            <a:r>
              <a:rPr lang="ro-RO" altLang="ro-RO" dirty="0">
                <a:solidFill>
                  <a:srgbClr val="000066"/>
                </a:solidFill>
              </a:rPr>
              <a:t>Lista D : 2 locuri 	</a:t>
            </a:r>
            <a:r>
              <a:rPr lang="ro-RO" altLang="ro-RO" dirty="0">
                <a:solidFill>
                  <a:srgbClr val="000066"/>
                </a:solidFill>
                <a:sym typeface="Wingdings" panose="05000000000000000000" pitchFamily="2" charset="2"/>
              </a:rPr>
              <a:t></a:t>
            </a:r>
            <a:r>
              <a:rPr lang="ro-RO" altLang="ro-RO" dirty="0">
                <a:solidFill>
                  <a:srgbClr val="000066"/>
                </a:solidFill>
              </a:rPr>
              <a:t> 10% locuri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271D352A-58C5-41E7-B490-AA1CE7FBC9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altLang="ro-RO" sz="3600" b="1" dirty="0"/>
              <a:t>Metode de repartizare a mandatelor prin divizori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4641E6F-3718-465B-B31C-56FEC679A0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ro-RO" altLang="ro-RO" dirty="0"/>
          </a:p>
          <a:p>
            <a:pPr eaLnBrk="1" hangingPunct="1"/>
            <a:r>
              <a:rPr lang="ro-RO" altLang="ro-RO" sz="3600" dirty="0">
                <a:solidFill>
                  <a:srgbClr val="0099FF"/>
                </a:solidFill>
              </a:rPr>
              <a:t>D'Hondt : 		1, 2, 3, n</a:t>
            </a:r>
          </a:p>
          <a:p>
            <a:pPr eaLnBrk="1" hangingPunct="1"/>
            <a:r>
              <a:rPr lang="ro-RO" altLang="ro-RO" sz="3600" dirty="0"/>
              <a:t>Sainte-Lägue : 	1, 3, 5, 7, n</a:t>
            </a:r>
          </a:p>
          <a:p>
            <a:pPr eaLnBrk="1" hangingPunct="1"/>
            <a:r>
              <a:rPr lang="ro-RO" altLang="ro-RO" sz="3600" dirty="0">
                <a:solidFill>
                  <a:srgbClr val="FF9900"/>
                </a:solidFill>
              </a:rPr>
              <a:t>Imperiali : 		2, 3, 4, 5, 6, 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C76A27C7-9B1D-4E07-A186-B3E0DB8960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9650" y="333376"/>
            <a:ext cx="7772400" cy="658813"/>
          </a:xfrm>
        </p:spPr>
        <p:txBody>
          <a:bodyPr/>
          <a:lstStyle/>
          <a:p>
            <a:pPr eaLnBrk="1" hangingPunct="1"/>
            <a:r>
              <a:rPr lang="ro-RO" altLang="ro-RO" sz="3600" b="1" dirty="0"/>
              <a:t>Metoda d’Hondt</a:t>
            </a:r>
          </a:p>
        </p:txBody>
      </p:sp>
      <p:graphicFrame>
        <p:nvGraphicFramePr>
          <p:cNvPr id="44035" name="Group 3">
            <a:extLst>
              <a:ext uri="{FF2B5EF4-FFF2-40B4-BE49-F238E27FC236}">
                <a16:creationId xmlns:a16="http://schemas.microsoft.com/office/drawing/2014/main" id="{29F7BA0B-99F6-43B7-90E7-62A58A8EF58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19289" y="1125538"/>
          <a:ext cx="8497887" cy="5391150"/>
        </p:xfrm>
        <a:graphic>
          <a:graphicData uri="http://schemas.openxmlformats.org/drawingml/2006/table">
            <a:tbl>
              <a:tblPr/>
              <a:tblGrid>
                <a:gridCol w="130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5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4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56000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(1) </a:t>
                      </a: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56000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(2) </a:t>
                      </a: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(4</a:t>
                      </a: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 26000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(7) </a:t>
                      </a: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(3) </a:t>
                      </a: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(6) </a:t>
                      </a: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16500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7500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(5) </a:t>
                      </a: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18667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8667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(8) </a:t>
                      </a: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8250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6500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3750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11200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6600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5200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9333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5500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4333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4714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3714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2143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4125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3250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1875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2442B4A6-B4BE-456F-BCEA-EA9CBCB003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9650" y="260351"/>
            <a:ext cx="7772400" cy="936625"/>
          </a:xfrm>
        </p:spPr>
        <p:txBody>
          <a:bodyPr/>
          <a:lstStyle/>
          <a:p>
            <a:pPr eaLnBrk="1" hangingPunct="1"/>
            <a:r>
              <a:rPr lang="ro-RO" altLang="ro-RO" sz="3600" b="1" dirty="0"/>
              <a:t>Metoda Saint-Lägue</a:t>
            </a:r>
          </a:p>
        </p:txBody>
      </p:sp>
      <p:graphicFrame>
        <p:nvGraphicFramePr>
          <p:cNvPr id="45059" name="Group 3">
            <a:extLst>
              <a:ext uri="{FF2B5EF4-FFF2-40B4-BE49-F238E27FC236}">
                <a16:creationId xmlns:a16="http://schemas.microsoft.com/office/drawing/2014/main" id="{E57699C9-1CD5-4E0C-B368-C4B96EFA45B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19289" y="1412875"/>
          <a:ext cx="8353425" cy="5181600"/>
        </p:xfrm>
        <a:graphic>
          <a:graphicData uri="http://schemas.openxmlformats.org/drawingml/2006/table">
            <a:tbl>
              <a:tblPr/>
              <a:tblGrid>
                <a:gridCol w="127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7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3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4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78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56000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(1) </a:t>
                      </a: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56000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(2) </a:t>
                      </a: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(3) </a:t>
                      </a: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(5) </a:t>
                      </a: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(4) </a:t>
                      </a: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18667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(7) </a:t>
                      </a: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(8) </a:t>
                      </a: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8667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(6)</a:t>
                      </a: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11200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6600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5200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4714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3714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2143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6222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3667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2889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1667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5091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2364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1364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4308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2538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1154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3733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1733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DFA9D199-EB59-4059-BCB5-2F9FD0B131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3" y="0"/>
            <a:ext cx="7772400" cy="1143000"/>
          </a:xfrm>
        </p:spPr>
        <p:txBody>
          <a:bodyPr/>
          <a:lstStyle/>
          <a:p>
            <a:pPr eaLnBrk="1" hangingPunct="1"/>
            <a:r>
              <a:rPr lang="ro-RO" altLang="ro-RO" sz="3600" b="1" dirty="0"/>
              <a:t>Metoda Imperiali</a:t>
            </a:r>
          </a:p>
        </p:txBody>
      </p:sp>
      <p:graphicFrame>
        <p:nvGraphicFramePr>
          <p:cNvPr id="46083" name="Group 3">
            <a:extLst>
              <a:ext uri="{FF2B5EF4-FFF2-40B4-BE49-F238E27FC236}">
                <a16:creationId xmlns:a16="http://schemas.microsoft.com/office/drawing/2014/main" id="{1C79DE1F-1970-475D-9908-7011110B4E7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63750" y="981075"/>
          <a:ext cx="8280400" cy="5657850"/>
        </p:xfrm>
        <a:graphic>
          <a:graphicData uri="http://schemas.openxmlformats.org/drawingml/2006/table">
            <a:tbl>
              <a:tblPr/>
              <a:tblGrid>
                <a:gridCol w="1347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9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4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5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bg-B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56000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33000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26000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15000</a:t>
                      </a:r>
                      <a:endParaRPr kumimoji="0" lang="fr-FR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bg-B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bg-BG" sz="2800" b="0" i="0" u="none" strike="noStrike" cap="none" normalizeH="0" baseline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bg-BG" sz="2800" b="0" i="0" u="none" strike="noStrike" cap="none" normalizeH="0" baseline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bg-BG" sz="2800" b="0" i="0" u="none" strike="noStrike" cap="none" normalizeH="0" baseline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bg-BG" sz="28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14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(1) 28000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(3) 16500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(5) 13000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7500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7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(2) 18666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(7) 11000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8666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55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(4) 14000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8250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6500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3750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55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(6) 11200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6600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5200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55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(8) 9333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5500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4333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555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4714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3714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2142,9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555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7000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4125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3250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1875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555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6222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CC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3666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99CC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2888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1666</a:t>
                      </a:r>
                      <a:endParaRPr kumimoji="0" lang="fr-F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DA5248D1-A374-4A62-84C4-09E008EB24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o-RO" altLang="ro-RO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Efectele scrutinului proporțional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5026B3A9-134C-4BF5-B15E-B895D8C028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o-RO" altLang="ro-RO" sz="2400" b="1" dirty="0"/>
              <a:t>Creşte proporţionalitatea reprezentării mai ales dacă magnitudinea este ridicată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22CC816A-D52B-4A0E-B5D8-D733C46524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altLang="ro-RO" sz="3600" b="1" dirty="0"/>
              <a:t>Avantaje</a:t>
            </a:r>
            <a:r>
              <a:rPr lang="ro-RO" altLang="ro-RO" dirty="0"/>
              <a:t> 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864B71B6-DF7E-435C-97D6-4A37AD4E2F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628775"/>
            <a:ext cx="7772400" cy="4895850"/>
          </a:xfrm>
        </p:spPr>
        <p:txBody>
          <a:bodyPr/>
          <a:lstStyle/>
          <a:p>
            <a:pPr eaLnBrk="1" hangingPunct="1"/>
            <a:r>
              <a:rPr lang="ro-RO" altLang="ro-RO" b="1" dirty="0">
                <a:solidFill>
                  <a:srgbClr val="000066"/>
                </a:solidFill>
              </a:rPr>
              <a:t>Asigură o mai bună reprezentare a nuanţelor și conflictelor de opinie.</a:t>
            </a:r>
          </a:p>
          <a:p>
            <a:pPr eaLnBrk="1" hangingPunct="1"/>
            <a:r>
              <a:rPr lang="ro-RO" altLang="ro-RO" b="1" dirty="0">
                <a:solidFill>
                  <a:srgbClr val="000066"/>
                </a:solidFill>
              </a:rPr>
              <a:t>Permite manifestarea politică și parlamentară a noilor idei și curente </a:t>
            </a:r>
          </a:p>
          <a:p>
            <a:pPr eaLnBrk="1" hangingPunct="1"/>
            <a:r>
              <a:rPr lang="ro-RO" altLang="ro-RO" b="1" dirty="0">
                <a:solidFill>
                  <a:srgbClr val="000066"/>
                </a:solidFill>
              </a:rPr>
              <a:t>Aleşii au interese și competenţe generale, nu doar locale</a:t>
            </a:r>
          </a:p>
          <a:p>
            <a:pPr eaLnBrk="1" hangingPunct="1"/>
            <a:r>
              <a:rPr lang="ro-RO" altLang="ro-RO" b="1" dirty="0">
                <a:solidFill>
                  <a:srgbClr val="000066"/>
                </a:solidFill>
              </a:rPr>
              <a:t>Guvernele sunt cel mai adesea majoritare în voturi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E06AC31D-01F4-4176-AD21-C5FE3CC321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9650" y="333375"/>
            <a:ext cx="7772400" cy="1143000"/>
          </a:xfrm>
        </p:spPr>
        <p:txBody>
          <a:bodyPr/>
          <a:lstStyle/>
          <a:p>
            <a:pPr eaLnBrk="1" hangingPunct="1"/>
            <a:r>
              <a:rPr lang="ro-RO" altLang="ro-RO" sz="3600" b="1" dirty="0"/>
              <a:t>Dezavantaje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D0306EF9-9066-4DD3-8423-E28C45092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1" y="1981200"/>
            <a:ext cx="8062913" cy="4114800"/>
          </a:xfrm>
        </p:spPr>
        <p:txBody>
          <a:bodyPr/>
          <a:lstStyle/>
          <a:p>
            <a:pPr eaLnBrk="1" hangingPunct="1"/>
            <a:r>
              <a:rPr lang="ro-RO" altLang="ro-RO" b="1" dirty="0">
                <a:solidFill>
                  <a:srgbClr val="000066"/>
                </a:solidFill>
              </a:rPr>
              <a:t>Alegătorul nu ştie ce tip de guvern votează </a:t>
            </a:r>
          </a:p>
          <a:p>
            <a:pPr eaLnBrk="1" hangingPunct="1"/>
            <a:r>
              <a:rPr lang="ro-RO" altLang="ro-RO" b="1" dirty="0">
                <a:solidFill>
                  <a:srgbClr val="000066"/>
                </a:solidFill>
              </a:rPr>
              <a:t>Poate antrena fragmentarea politică </a:t>
            </a:r>
          </a:p>
          <a:p>
            <a:pPr eaLnBrk="1" hangingPunct="1"/>
            <a:r>
              <a:rPr lang="ro-RO" altLang="ro-RO" b="1" dirty="0">
                <a:solidFill>
                  <a:srgbClr val="000066"/>
                </a:solidFill>
              </a:rPr>
              <a:t>Raportul aleșilor cu cetăţenii va fi intermitent și slab</a:t>
            </a:r>
            <a:endParaRPr lang="ro-RO" altLang="ro-RO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4095D48A-7930-4EAB-8483-D8B54458B3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o-RO" altLang="ro-RO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Posibile </a:t>
            </a:r>
            <a:r>
              <a:rPr lang="ro-RO" altLang="ro-RO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îmbunătăţiri</a:t>
            </a:r>
            <a:endParaRPr lang="ro-RO" altLang="ro-RO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71F5AF46-8736-4ABC-838B-6650BB01E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484314"/>
            <a:ext cx="7772400" cy="4611687"/>
          </a:xfrm>
        </p:spPr>
        <p:txBody>
          <a:bodyPr/>
          <a:lstStyle/>
          <a:p>
            <a:pPr eaLnBrk="1" hangingPunct="1"/>
            <a:endParaRPr lang="ro-RO" altLang="ro-RO" sz="1800" b="1" dirty="0"/>
          </a:p>
          <a:p>
            <a:pPr eaLnBrk="1" hangingPunct="1"/>
            <a:r>
              <a:rPr lang="ro-RO" altLang="ro-RO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Introducerea pagului electoral </a:t>
            </a:r>
          </a:p>
          <a:p>
            <a:pPr eaLnBrk="1" hangingPunct="1"/>
            <a:r>
              <a:rPr lang="ro-RO" altLang="ro-RO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Panaşajul (formarea unei lise proprii din candidații mai multor partide)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 autoUpdateAnimBg="0"/>
    </p:bldLst>
  </p:timing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1276</Words>
  <Application>Microsoft Office PowerPoint</Application>
  <PresentationFormat>Ecran lat</PresentationFormat>
  <Paragraphs>308</Paragraphs>
  <Slides>21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4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Temă Office</vt:lpstr>
      <vt:lpstr>Scrutinul proporțional </vt:lpstr>
      <vt:lpstr>Scrutinul proporțional este, de regulă, scrutin de liste</vt:lpstr>
      <vt:lpstr>Alegerile federale belgiene din mai 2019</vt:lpstr>
      <vt:lpstr>Repartizarea mandatelor prin metoda coeficientului</vt:lpstr>
      <vt:lpstr>Coeficientul Hare și cel mai mare rest </vt:lpstr>
      <vt:lpstr>Prezentare PowerPoint</vt:lpstr>
      <vt:lpstr>Prezentare PowerPoint</vt:lpstr>
      <vt:lpstr>Coeficientul Hare și cea mai mare medie </vt:lpstr>
      <vt:lpstr>Prezentare PowerPoint</vt:lpstr>
      <vt:lpstr>Prezentare PowerPoint</vt:lpstr>
      <vt:lpstr>Importanţa magnitudinii</vt:lpstr>
      <vt:lpstr>Prezentare PowerPoint</vt:lpstr>
      <vt:lpstr>Prezentare PowerPoint</vt:lpstr>
      <vt:lpstr>Metode de repartizare a mandatelor prin divizori</vt:lpstr>
      <vt:lpstr>Metoda d’Hondt</vt:lpstr>
      <vt:lpstr>Metoda Saint-Lägue</vt:lpstr>
      <vt:lpstr>Metoda Imperiali</vt:lpstr>
      <vt:lpstr>Efectele scrutinului proporțional</vt:lpstr>
      <vt:lpstr>Avantaje </vt:lpstr>
      <vt:lpstr>Dezavantaje</vt:lpstr>
      <vt:lpstr>Posibile îmbunătăţiri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Scrutinul proporțional </dc:title>
  <dc:creator>Daniela</dc:creator>
  <cp:lastModifiedBy>Daniela</cp:lastModifiedBy>
  <cp:revision>9</cp:revision>
  <dcterms:created xsi:type="dcterms:W3CDTF">2020-04-27T10:59:01Z</dcterms:created>
  <dcterms:modified xsi:type="dcterms:W3CDTF">2020-05-04T11:00:23Z</dcterms:modified>
</cp:coreProperties>
</file>